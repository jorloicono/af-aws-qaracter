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3" roundtripDataSignature="AMtx7mjVOs69pH629Be8ooRG95rx4/zB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7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" type="body"/>
          </p:nvPr>
        </p:nvSpPr>
        <p:spPr>
          <a:xfrm>
            <a:off x="584200" y="1435497"/>
            <a:ext cx="1101852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147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1272">
          <p15:clr>
            <a:srgbClr val="5ACBF0"/>
          </p15:clr>
        </p15:guide>
        <p15:guide id="2" orient="horz" pos="288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crosoft logo, gray text version" id="16" name="Google Shape;1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4200" y="585788"/>
            <a:ext cx="136644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2"/>
          <p:cNvSpPr txBox="1"/>
          <p:nvPr>
            <p:ph type="title"/>
          </p:nvPr>
        </p:nvSpPr>
        <p:spPr>
          <a:xfrm>
            <a:off x="584200" y="2979778"/>
            <a:ext cx="4572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" type="body"/>
          </p:nvPr>
        </p:nvSpPr>
        <p:spPr>
          <a:xfrm>
            <a:off x="584200" y="396240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758" y="800100"/>
            <a:ext cx="502448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quare photo">
  <p:cSld name="Title square photo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" name="Google Shape;22;p23"/>
          <p:cNvSpPr txBox="1"/>
          <p:nvPr>
            <p:ph type="title"/>
          </p:nvPr>
        </p:nvSpPr>
        <p:spPr>
          <a:xfrm>
            <a:off x="588263" y="2425541"/>
            <a:ext cx="4167887" cy="11079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582042" y="3962400"/>
            <a:ext cx="41645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Microsoft logo, gray text version" id="24" name="Google Shape;2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4200" y="585788"/>
            <a:ext cx="1366440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758" y="800100"/>
            <a:ext cx="502448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496">
          <p15:clr>
            <a:srgbClr val="5ACBF0"/>
          </p15:clr>
        </p15:guide>
        <p15:guide id="2" pos="335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29">
          <p15:clr>
            <a:srgbClr val="5ACBF0"/>
          </p15:clr>
        </p15:guide>
        <p15:guide id="5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quare photo 2">
  <p:cSld name="Title square photo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crosoft logo, gray text version" id="27" name="Google Shape;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4200" y="585788"/>
            <a:ext cx="136644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4"/>
          <p:cNvSpPr txBox="1"/>
          <p:nvPr>
            <p:ph type="title"/>
          </p:nvPr>
        </p:nvSpPr>
        <p:spPr>
          <a:xfrm>
            <a:off x="588263" y="2425541"/>
            <a:ext cx="4167887" cy="11079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582042" y="3962400"/>
            <a:ext cx="41645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4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40D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" name="Google Shape;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758" y="800100"/>
            <a:ext cx="502448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496">
          <p15:clr>
            <a:srgbClr val="5ACBF0"/>
          </p15:clr>
        </p15:guide>
        <p15:guide id="2" pos="336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29">
          <p15:clr>
            <a:srgbClr val="5ACBF0"/>
          </p15:clr>
        </p15:guide>
        <p15:guide id="5" pos="2996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crosoft logo, gray text version" id="33" name="Google Shape;3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4200" y="585788"/>
            <a:ext cx="136644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5"/>
          <p:cNvSpPr txBox="1"/>
          <p:nvPr>
            <p:ph type="title"/>
          </p:nvPr>
        </p:nvSpPr>
        <p:spPr>
          <a:xfrm>
            <a:off x="584200" y="2979778"/>
            <a:ext cx="914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584200" y="3962400"/>
            <a:ext cx="914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Non-bulleted text">
  <p:cSld name="Title &amp; Non-bulleted 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586390" y="1434370"/>
            <a:ext cx="1101852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Non-bulleted text">
  <p:cSld name="Two Column Non-bulleted 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" type="body"/>
          </p:nvPr>
        </p:nvSpPr>
        <p:spPr>
          <a:xfrm>
            <a:off x="584200" y="1435100"/>
            <a:ext cx="5212080" cy="16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None/>
              <a:defRPr b="0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sz="20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  <a:defRPr b="0"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  <a:defRPr b="0"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  <a:defRPr b="0"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2" type="body"/>
          </p:nvPr>
        </p:nvSpPr>
        <p:spPr>
          <a:xfrm>
            <a:off x="6397171" y="1435100"/>
            <a:ext cx="5212080" cy="16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None/>
              <a:defRPr b="0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sz="20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  <a:defRPr b="0"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  <a:defRPr b="0"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  <a:defRPr b="0"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Bullet text">
  <p:cSld name="Two Column Bullet 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" type="body"/>
          </p:nvPr>
        </p:nvSpPr>
        <p:spPr>
          <a:xfrm>
            <a:off x="584200" y="1437481"/>
            <a:ext cx="5212080" cy="16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8620" lvl="0" marL="457200" algn="l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·"/>
              <a:defRPr b="0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·"/>
              <a:defRPr b="0" sz="2000"/>
            </a:lvl2pPr>
            <a:lvl3pPr indent="-320039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·"/>
              <a:defRPr b="0" sz="1600"/>
            </a:lvl3pPr>
            <a:lvl4pPr indent="-30861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·"/>
              <a:defRPr b="0" sz="1400"/>
            </a:lvl4pPr>
            <a:lvl5pPr indent="-30861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·"/>
              <a:defRPr b="0"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2" type="body"/>
          </p:nvPr>
        </p:nvSpPr>
        <p:spPr>
          <a:xfrm>
            <a:off x="6389914" y="1437481"/>
            <a:ext cx="5212080" cy="16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8620" lvl="0" marL="457200" algn="l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·"/>
              <a:defRPr b="0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·"/>
              <a:defRPr b="0" sz="2000"/>
            </a:lvl2pPr>
            <a:lvl3pPr indent="-320039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·"/>
              <a:defRPr b="0" sz="1600"/>
            </a:lvl3pPr>
            <a:lvl4pPr indent="-30861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·"/>
              <a:defRPr b="0" sz="1400"/>
            </a:lvl4pPr>
            <a:lvl5pPr indent="-30861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·"/>
              <a:defRPr b="0"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900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grid">
  <p:cSld name="Title Only with grid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pos="779">
          <p15:clr>
            <a:srgbClr val="A4A3A4"/>
          </p15:clr>
        </p15:guide>
        <p15:guide id="2" pos="962">
          <p15:clr>
            <a:srgbClr val="A4A3A4"/>
          </p15:clr>
        </p15:guide>
        <p15:guide id="3" pos="1373">
          <p15:clr>
            <a:srgbClr val="A4A3A4"/>
          </p15:clr>
        </p15:guide>
        <p15:guide id="4" pos="1556">
          <p15:clr>
            <a:srgbClr val="A4A3A4"/>
          </p15:clr>
        </p15:guide>
        <p15:guide id="5" pos="1967">
          <p15:clr>
            <a:srgbClr val="A4A3A4"/>
          </p15:clr>
        </p15:guide>
        <p15:guide id="6" pos="2150">
          <p15:clr>
            <a:srgbClr val="A4A3A4"/>
          </p15:clr>
        </p15:guide>
        <p15:guide id="7" pos="2561">
          <p15:clr>
            <a:srgbClr val="A4A3A4"/>
          </p15:clr>
        </p15:guide>
        <p15:guide id="8" pos="2744">
          <p15:clr>
            <a:srgbClr val="A4A3A4"/>
          </p15:clr>
        </p15:guide>
        <p15:guide id="9" pos="3155">
          <p15:clr>
            <a:srgbClr val="A4A3A4"/>
          </p15:clr>
        </p15:guide>
        <p15:guide id="10" pos="3338">
          <p15:clr>
            <a:srgbClr val="A4A3A4"/>
          </p15:clr>
        </p15:guide>
        <p15:guide id="11" pos="3749">
          <p15:clr>
            <a:srgbClr val="A4A3A4"/>
          </p15:clr>
        </p15:guide>
        <p15:guide id="12" pos="3932">
          <p15:clr>
            <a:srgbClr val="A4A3A4"/>
          </p15:clr>
        </p15:guide>
        <p15:guide id="13" pos="4343">
          <p15:clr>
            <a:srgbClr val="A4A3A4"/>
          </p15:clr>
        </p15:guide>
        <p15:guide id="14" pos="4526">
          <p15:clr>
            <a:srgbClr val="A4A3A4"/>
          </p15:clr>
        </p15:guide>
        <p15:guide id="15" pos="4937">
          <p15:clr>
            <a:srgbClr val="A4A3A4"/>
          </p15:clr>
        </p15:guide>
        <p15:guide id="16" pos="5120">
          <p15:clr>
            <a:srgbClr val="A4A3A4"/>
          </p15:clr>
        </p15:guide>
        <p15:guide id="17" pos="5529">
          <p15:clr>
            <a:srgbClr val="A4A3A4"/>
          </p15:clr>
        </p15:guide>
        <p15:guide id="18" pos="5714">
          <p15:clr>
            <a:srgbClr val="A4A3A4"/>
          </p15:clr>
        </p15:guide>
        <p15:guide id="19" pos="6123">
          <p15:clr>
            <a:srgbClr val="A4A3A4"/>
          </p15:clr>
        </p15:guide>
        <p15:guide id="20" pos="6308">
          <p15:clr>
            <a:srgbClr val="A4A3A4"/>
          </p15:clr>
        </p15:guide>
        <p15:guide id="21" pos="6717">
          <p15:clr>
            <a:srgbClr val="A4A3A4"/>
          </p15:clr>
        </p15:guide>
        <p15:guide id="22" pos="6900">
          <p15:clr>
            <a:srgbClr val="A4A3A4"/>
          </p15:clr>
        </p15:guide>
        <p15:guide id="23" orient="horz" pos="905">
          <p15:clr>
            <a:srgbClr val="5ACBF0"/>
          </p15:clr>
        </p15:guide>
        <p15:guide id="24" orient="horz" pos="1271">
          <p15:clr>
            <a:srgbClr val="5ACBF0"/>
          </p15:clr>
        </p15:guide>
        <p15:guide id="25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- half page">
  <p:cSld name="Small title - half pag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>
            <p:ph type="title"/>
          </p:nvPr>
        </p:nvSpPr>
        <p:spPr>
          <a:xfrm>
            <a:off x="584200" y="457200"/>
            <a:ext cx="5508419" cy="37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0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pos="779">
          <p15:clr>
            <a:srgbClr val="A4A3A4"/>
          </p15:clr>
        </p15:guide>
        <p15:guide id="2" pos="962">
          <p15:clr>
            <a:srgbClr val="A4A3A4"/>
          </p15:clr>
        </p15:guide>
        <p15:guide id="3" pos="1373">
          <p15:clr>
            <a:srgbClr val="A4A3A4"/>
          </p15:clr>
        </p15:guide>
        <p15:guide id="4" pos="1556">
          <p15:clr>
            <a:srgbClr val="A4A3A4"/>
          </p15:clr>
        </p15:guide>
        <p15:guide id="5" pos="1967">
          <p15:clr>
            <a:srgbClr val="A4A3A4"/>
          </p15:clr>
        </p15:guide>
        <p15:guide id="6" pos="2150">
          <p15:clr>
            <a:srgbClr val="A4A3A4"/>
          </p15:clr>
        </p15:guide>
        <p15:guide id="7" pos="2561">
          <p15:clr>
            <a:srgbClr val="A4A3A4"/>
          </p15:clr>
        </p15:guide>
        <p15:guide id="8" pos="2744">
          <p15:clr>
            <a:srgbClr val="A4A3A4"/>
          </p15:clr>
        </p15:guide>
        <p15:guide id="9" pos="3155">
          <p15:clr>
            <a:srgbClr val="A4A3A4"/>
          </p15:clr>
        </p15:guide>
        <p15:guide id="10" pos="3338">
          <p15:clr>
            <a:srgbClr val="A4A3A4"/>
          </p15:clr>
        </p15:guide>
        <p15:guide id="11" pos="3749">
          <p15:clr>
            <a:srgbClr val="A4A3A4"/>
          </p15:clr>
        </p15:guide>
        <p15:guide id="12" pos="3932">
          <p15:clr>
            <a:srgbClr val="A4A3A4"/>
          </p15:clr>
        </p15:guide>
        <p15:guide id="13" pos="4343">
          <p15:clr>
            <a:srgbClr val="A4A3A4"/>
          </p15:clr>
        </p15:guide>
        <p15:guide id="14" pos="4526">
          <p15:clr>
            <a:srgbClr val="A4A3A4"/>
          </p15:clr>
        </p15:guide>
        <p15:guide id="15" pos="4937">
          <p15:clr>
            <a:srgbClr val="A4A3A4"/>
          </p15:clr>
        </p15:guide>
        <p15:guide id="16" pos="5120">
          <p15:clr>
            <a:srgbClr val="A4A3A4"/>
          </p15:clr>
        </p15:guide>
        <p15:guide id="17" pos="5529">
          <p15:clr>
            <a:srgbClr val="A4A3A4"/>
          </p15:clr>
        </p15:guide>
        <p15:guide id="18" pos="5714">
          <p15:clr>
            <a:srgbClr val="A4A3A4"/>
          </p15:clr>
        </p15:guide>
        <p15:guide id="19" pos="6123">
          <p15:clr>
            <a:srgbClr val="A4A3A4"/>
          </p15:clr>
        </p15:guide>
        <p15:guide id="20" pos="6308">
          <p15:clr>
            <a:srgbClr val="A4A3A4"/>
          </p15:clr>
        </p15:guide>
        <p15:guide id="21" pos="6717">
          <p15:clr>
            <a:srgbClr val="A4A3A4"/>
          </p15:clr>
        </p15:guide>
        <p15:guide id="22" pos="6900">
          <p15:clr>
            <a:srgbClr val="A4A3A4"/>
          </p15:clr>
        </p15:guide>
        <p15:guide id="23" orient="horz" pos="905">
          <p15:clr>
            <a:srgbClr val="5ACBF0"/>
          </p15:clr>
        </p15:guide>
        <p15:guide id="24" orient="horz" pos="1271">
          <p15:clr>
            <a:srgbClr val="5ACBF0"/>
          </p15:clr>
        </p15:guide>
        <p15:guide id="25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">
  <p:cSld name="Demo slide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585216" y="3033223"/>
            <a:ext cx="91440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sz="360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" type="body"/>
          </p:nvPr>
        </p:nvSpPr>
        <p:spPr>
          <a:xfrm>
            <a:off x="585216" y="3977319"/>
            <a:ext cx="914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6" name="Google Shape;5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4025" y="3898483"/>
            <a:ext cx="2265363" cy="2370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2">
  <p:cSld name="Demo slide 2">
    <p:bg>
      <p:bgPr>
        <a:solidFill>
          <a:schemeClr val="l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type="title"/>
          </p:nvPr>
        </p:nvSpPr>
        <p:spPr>
          <a:xfrm>
            <a:off x="585216" y="3033223"/>
            <a:ext cx="91440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sz="360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585216" y="3977319"/>
            <a:ext cx="914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slide">
  <p:cSld name="Video slide">
    <p:bg>
      <p:bgPr>
        <a:solidFill>
          <a:schemeClr val="lt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/>
          <p:nvPr>
            <p:ph type="title"/>
          </p:nvPr>
        </p:nvSpPr>
        <p:spPr>
          <a:xfrm>
            <a:off x="585216" y="3035808"/>
            <a:ext cx="91440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sz="360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4025" y="3898483"/>
            <a:ext cx="2265363" cy="2370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slide 2">
  <p:cSld name="Video slide 2">
    <p:bg>
      <p:bgPr>
        <a:solidFill>
          <a:schemeClr val="l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585216" y="3035808"/>
            <a:ext cx="91440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sz="360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585216" y="3035808"/>
            <a:ext cx="91440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sz="360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7" name="Google Shape;6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4025" y="3898483"/>
            <a:ext cx="2265363" cy="2370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2">
  <p:cSld name="Section Title 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585216" y="3035808"/>
            <a:ext cx="91440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sz="360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extLst>
    <p:ext uri="{DCECCB84-F9BA-43D5-87BE-67443E8EF086}">
      <p15:sldGuideLst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extLst>
    <p:ext uri="{DCECCB84-F9BA-43D5-87BE-67443E8EF086}">
      <p15:sldGuideLst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eloper Code Layout">
  <p:cSld name="Developer Code Layou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>
            <a:off x="588263" y="1436688"/>
            <a:ext cx="11018520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logo slide">
  <p:cSld name="Closing logo slide">
    <p:bg>
      <p:bgPr>
        <a:solidFill>
          <a:schemeClr val="lt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1"/>
          <p:cNvSpPr txBox="1"/>
          <p:nvPr/>
        </p:nvSpPr>
        <p:spPr>
          <a:xfrm>
            <a:off x="584200" y="6161316"/>
            <a:ext cx="4482124" cy="1077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Microsoft Corporation. All rights reserved. </a:t>
            </a:r>
            <a:endParaRPr/>
          </a:p>
        </p:txBody>
      </p:sp>
      <p:pic>
        <p:nvPicPr>
          <p:cNvPr descr="Microsoft logo, gray text version" id="77" name="Google Shape;7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4200" y="585788"/>
            <a:ext cx="1366440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 Notes slide Layout">
  <p:cSld name="Black Notes slide Layout"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b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>
            <a:off x="584200" y="1436688"/>
            <a:ext cx="11018838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34340" lvl="0" marL="4572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240"/>
              <a:buChar char="·"/>
              <a:defRPr sz="36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8619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520"/>
              <a:buChar char="·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6576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60"/>
              <a:buChar char="·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·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620"/>
              <a:buChar char="·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2" type="body"/>
          </p:nvPr>
        </p:nvSpPr>
        <p:spPr>
          <a:xfrm>
            <a:off x="1" y="6269038"/>
            <a:ext cx="12192000" cy="58896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b" bIns="45700" lIns="155450" spcFirstLastPara="1" rIns="155450" wrap="square" tIns="7772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3330"/>
              <a:buFont typeface="Arial"/>
              <a:buNone/>
              <a:defRPr sz="37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620"/>
              <a:buChar char="·"/>
              <a:defRPr/>
            </a:lvl2pPr>
            <a:lvl3pPr indent="-33146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620"/>
              <a:buChar char="·"/>
              <a:defRPr/>
            </a:lvl3pPr>
            <a:lvl4pPr indent="-331469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620"/>
              <a:buChar char="·"/>
              <a:defRPr/>
            </a:lvl4pPr>
            <a:lvl5pPr indent="-33147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620"/>
              <a:buChar char="·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862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·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·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·"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·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·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68">
          <p15:clr>
            <a:srgbClr val="C35EA4"/>
          </p15:clr>
        </p15:guide>
        <p15:guide id="2" pos="7313">
          <p15:clr>
            <a:srgbClr val="C35EA4"/>
          </p15:clr>
        </p15:guide>
        <p15:guide id="3" orient="horz" pos="369">
          <p15:clr>
            <a:srgbClr val="C35EA4"/>
          </p15:clr>
        </p15:guide>
        <p15:guide id="4" orient="horz" pos="3949">
          <p15:clr>
            <a:srgbClr val="C35EA4"/>
          </p15:clr>
        </p15:guide>
        <p15:guide id="5" orient="horz" pos="184">
          <p15:clr>
            <a:srgbClr val="A4A3A4"/>
          </p15:clr>
        </p15:guide>
        <p15:guide id="6" pos="185">
          <p15:clr>
            <a:srgbClr val="A4A3A4"/>
          </p15:clr>
        </p15:guide>
        <p15:guide id="7" orient="horz" pos="4135">
          <p15:clr>
            <a:srgbClr val="A4A3A4"/>
          </p15:clr>
        </p15:guide>
        <p15:guide id="8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820" y="262759"/>
            <a:ext cx="15906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AWS - Almeritek.com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285875"/>
            <a:ext cx="5715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</a:t>
            </a:r>
            <a:r>
              <a:rPr b="1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SOLUTIONS ARCHITECT ASSOCIATE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556579" y="2576928"/>
            <a:ext cx="527666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Module 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 Balancing, Amazon CloudWatch &amp; Auto Scaling</a:t>
            </a:r>
            <a:endParaRPr b="1"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Module Overview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584200" y="1135943"/>
            <a:ext cx="11018520" cy="188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Elastic Load Balancing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Amazon CloudWatch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Auto Scaling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000">
            <a:alpha val="49803"/>
          </a:srgbClr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585216" y="3035808"/>
            <a:ext cx="1076465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Lesson 01: Elastic Load Balancing</a:t>
            </a:r>
            <a:endParaRPr/>
          </a:p>
        </p:txBody>
      </p:sp>
      <p:pic>
        <p:nvPicPr>
          <p:cNvPr descr="AWS (Amazon Web Services): El Cloud Computing del presente ...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807" y="4541774"/>
            <a:ext cx="48768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Elastic Load Balancing</a:t>
            </a:r>
            <a:endParaRPr/>
          </a:p>
        </p:txBody>
      </p:sp>
      <p:pic>
        <p:nvPicPr>
          <p:cNvPr descr="Funcionamiento de Elastic Load Balancing - Elastic Load Balanci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229" y="1226707"/>
            <a:ext cx="5296772" cy="4850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4"/>
          <p:cNvGrpSpPr/>
          <p:nvPr/>
        </p:nvGrpSpPr>
        <p:grpSpPr>
          <a:xfrm>
            <a:off x="1082718" y="2708796"/>
            <a:ext cx="2655279" cy="2194470"/>
            <a:chOff x="1116585" y="2369110"/>
            <a:chExt cx="2655279" cy="2194470"/>
          </a:xfrm>
        </p:grpSpPr>
        <p:pic>
          <p:nvPicPr>
            <p:cNvPr id="110" name="Google Shape;11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07704" y="2369110"/>
              <a:ext cx="1642533" cy="18866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4"/>
            <p:cNvSpPr txBox="1"/>
            <p:nvPr/>
          </p:nvSpPr>
          <p:spPr>
            <a:xfrm>
              <a:off x="1116585" y="4255803"/>
              <a:ext cx="26552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Elastic Load Balancing</a:t>
              </a:r>
              <a:endParaRPr/>
            </a:p>
          </p:txBody>
        </p:sp>
      </p:grpSp>
      <p:sp>
        <p:nvSpPr>
          <p:cNvPr id="112" name="Google Shape;112;p4"/>
          <p:cNvSpPr txBox="1"/>
          <p:nvPr/>
        </p:nvSpPr>
        <p:spPr>
          <a:xfrm>
            <a:off x="622129" y="1343818"/>
            <a:ext cx="5961549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Used to distribute traffic across a group of Amazon EC2 instances in one or more Availability Zones to achieve greater levels of fault tolerance for your applications.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850435" y="3652142"/>
            <a:ext cx="1106729" cy="307777"/>
          </a:xfrm>
          <a:prstGeom prst="rightArrow">
            <a:avLst>
              <a:gd fmla="val 100000" name="adj1"/>
              <a:gd fmla="val 50000" name="adj2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5"/>
          <p:cNvGrpSpPr/>
          <p:nvPr/>
        </p:nvGrpSpPr>
        <p:grpSpPr>
          <a:xfrm>
            <a:off x="5028186" y="4299677"/>
            <a:ext cx="2547877" cy="2101123"/>
            <a:chOff x="5028186" y="4299677"/>
            <a:chExt cx="2547877" cy="2101123"/>
          </a:xfrm>
        </p:grpSpPr>
        <p:pic>
          <p:nvPicPr>
            <p:cNvPr id="119" name="Google Shape;11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67866" y="4299677"/>
              <a:ext cx="1793346" cy="17933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5"/>
            <p:cNvSpPr txBox="1"/>
            <p:nvPr/>
          </p:nvSpPr>
          <p:spPr>
            <a:xfrm>
              <a:off x="5028186" y="6093023"/>
              <a:ext cx="254787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Classic Load Balancer</a:t>
              </a:r>
              <a:endParaRPr b="1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21" name="Google Shape;121;p5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Elastic Load Balancing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584201" y="1350621"/>
            <a:ext cx="7905776" cy="4838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Type of Load Balancers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Internet-Facing Load Balancers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Internal Load Balancers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HTTPS Load Balancers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Listeners &amp; Protocols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HTTP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HTTPS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TCP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SSL</a:t>
            </a:r>
            <a:endParaRPr/>
          </a:p>
        </p:txBody>
      </p:sp>
      <p:grpSp>
        <p:nvGrpSpPr>
          <p:cNvPr id="123" name="Google Shape;123;p5"/>
          <p:cNvGrpSpPr/>
          <p:nvPr/>
        </p:nvGrpSpPr>
        <p:grpSpPr>
          <a:xfrm>
            <a:off x="8618051" y="1879063"/>
            <a:ext cx="2655279" cy="2194470"/>
            <a:chOff x="1116585" y="2369110"/>
            <a:chExt cx="2655279" cy="2194470"/>
          </a:xfrm>
        </p:grpSpPr>
        <p:pic>
          <p:nvPicPr>
            <p:cNvPr id="124" name="Google Shape;12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07704" y="2369110"/>
              <a:ext cx="1642533" cy="18866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5"/>
            <p:cNvSpPr txBox="1"/>
            <p:nvPr/>
          </p:nvSpPr>
          <p:spPr>
            <a:xfrm>
              <a:off x="1116585" y="4255803"/>
              <a:ext cx="26552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Elastic Load Balancing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000">
            <a:alpha val="49803"/>
          </a:srgbClr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585216" y="3035808"/>
            <a:ext cx="1076465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Lesson 02: Amazon CloudWatch</a:t>
            </a:r>
            <a:endParaRPr/>
          </a:p>
        </p:txBody>
      </p:sp>
      <p:pic>
        <p:nvPicPr>
          <p:cNvPr descr="AWS (Amazon Web Services): El Cloud Computing del presente ...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807" y="4541774"/>
            <a:ext cx="48768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Amazon CloudWatch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descr="Funcionamiento de Amazon CloudWatch - Amazon CloudWatch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7873" y="2075614"/>
            <a:ext cx="6688704" cy="4263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8"/>
          <p:cNvGrpSpPr/>
          <p:nvPr/>
        </p:nvGrpSpPr>
        <p:grpSpPr>
          <a:xfrm>
            <a:off x="995423" y="2751197"/>
            <a:ext cx="2526269" cy="2018500"/>
            <a:chOff x="995423" y="2579359"/>
            <a:chExt cx="2526269" cy="2018500"/>
          </a:xfrm>
        </p:grpSpPr>
        <p:pic>
          <p:nvPicPr>
            <p:cNvPr id="139" name="Google Shape;139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1448" y="2579359"/>
              <a:ext cx="1493309" cy="16992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8"/>
            <p:cNvSpPr txBox="1"/>
            <p:nvPr/>
          </p:nvSpPr>
          <p:spPr>
            <a:xfrm>
              <a:off x="995423" y="4290082"/>
              <a:ext cx="25262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Amazon CloudWatch</a:t>
              </a:r>
              <a:endParaRPr/>
            </a:p>
          </p:txBody>
        </p:sp>
      </p:grpSp>
      <p:sp>
        <p:nvSpPr>
          <p:cNvPr id="141" name="Google Shape;141;p8"/>
          <p:cNvSpPr txBox="1"/>
          <p:nvPr/>
        </p:nvSpPr>
        <p:spPr>
          <a:xfrm>
            <a:off x="588263" y="1111756"/>
            <a:ext cx="5367867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 resources and applications. Amazon CloudWatch is used to collect and track metrics, create alarms that send notifications, and make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changes to resources being monitored based on rules you define.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194338" y="3558505"/>
            <a:ext cx="1106729" cy="307777"/>
          </a:xfrm>
          <a:prstGeom prst="rightArrow">
            <a:avLst>
              <a:gd fmla="val 100000" name="adj1"/>
              <a:gd fmla="val 50000" name="adj2"/>
            </a:avLst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Amazon CloudWatch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584201" y="1350621"/>
            <a:ext cx="7905776" cy="4690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Amazon CloudWatch Monitoring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Auto Scaling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CloudFront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CloudSearch</a:t>
            </a:r>
            <a:endParaRPr sz="2800"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DynamoDB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EC2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EC2 Container Service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ElastiCache</a:t>
            </a:r>
            <a:endParaRPr sz="2800"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EBS</a:t>
            </a:r>
            <a:endParaRPr/>
          </a:p>
        </p:txBody>
      </p:sp>
      <p:grpSp>
        <p:nvGrpSpPr>
          <p:cNvPr id="149" name="Google Shape;149;p9"/>
          <p:cNvGrpSpPr/>
          <p:nvPr/>
        </p:nvGrpSpPr>
        <p:grpSpPr>
          <a:xfrm>
            <a:off x="8666223" y="2122159"/>
            <a:ext cx="2526269" cy="2018500"/>
            <a:chOff x="995423" y="2579359"/>
            <a:chExt cx="2526269" cy="2018500"/>
          </a:xfrm>
        </p:grpSpPr>
        <p:pic>
          <p:nvPicPr>
            <p:cNvPr id="150" name="Google Shape;15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1448" y="2579359"/>
              <a:ext cx="1493309" cy="16992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9"/>
            <p:cNvSpPr txBox="1"/>
            <p:nvPr/>
          </p:nvSpPr>
          <p:spPr>
            <a:xfrm>
              <a:off x="995423" y="4290082"/>
              <a:ext cx="25262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Amazon CloudWatch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Amazon CloudWatch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584201" y="1350621"/>
            <a:ext cx="7905776" cy="4690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Amazon CloudWatch Monitoring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Elastic Load Balancing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Elastic MapReduce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Elasticsearch Service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Kinesis Streams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Kinesis Firehose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AWS Lambda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Amazon Machine Learning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AWS OpsWorks</a:t>
            </a:r>
            <a:endParaRPr sz="2800"/>
          </a:p>
        </p:txBody>
      </p:sp>
      <p:grpSp>
        <p:nvGrpSpPr>
          <p:cNvPr id="158" name="Google Shape;158;p10"/>
          <p:cNvGrpSpPr/>
          <p:nvPr/>
        </p:nvGrpSpPr>
        <p:grpSpPr>
          <a:xfrm>
            <a:off x="8666223" y="2122159"/>
            <a:ext cx="2526269" cy="2018500"/>
            <a:chOff x="995423" y="2579359"/>
            <a:chExt cx="2526269" cy="2018500"/>
          </a:xfrm>
        </p:grpSpPr>
        <p:pic>
          <p:nvPicPr>
            <p:cNvPr id="159" name="Google Shape;15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1448" y="2579359"/>
              <a:ext cx="1493309" cy="16992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0"/>
            <p:cNvSpPr txBox="1"/>
            <p:nvPr/>
          </p:nvSpPr>
          <p:spPr>
            <a:xfrm>
              <a:off x="995423" y="4290082"/>
              <a:ext cx="25262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Amazon CloudWatch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000">
            <a:alpha val="49803"/>
          </a:srgbClr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585216" y="3035808"/>
            <a:ext cx="1076465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Lesson 3: Auto Scaling</a:t>
            </a:r>
            <a:endParaRPr/>
          </a:p>
        </p:txBody>
      </p:sp>
      <p:pic>
        <p:nvPicPr>
          <p:cNvPr descr="AWS (Amazon Web Services): El Cloud Computing del presente ..."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807" y="4541774"/>
            <a:ext cx="48768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Auto Scaling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588263" y="1111756"/>
            <a:ext cx="1052000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Allows you to automatically scale your Amazon EC2 capacity out and in using criteria that you define.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703" y="2108663"/>
            <a:ext cx="7184496" cy="4182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Auto Scaling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79" name="Google Shape;179;p14"/>
          <p:cNvSpPr txBox="1"/>
          <p:nvPr>
            <p:ph idx="1" type="body"/>
          </p:nvPr>
        </p:nvSpPr>
        <p:spPr>
          <a:xfrm>
            <a:off x="584201" y="1350621"/>
            <a:ext cx="7905776" cy="4838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Auto Scaling Plans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Maintain Current Instance Levels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Manual Scaling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Scheduled Scaling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Dynamic Scaling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40"/>
              <a:buChar char="·"/>
            </a:pPr>
            <a:r>
              <a:rPr lang="en-US" sz="3600"/>
              <a:t>Auto Scaling Components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Launch Configuration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Auto Scaling Group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Char char="·"/>
            </a:pPr>
            <a:r>
              <a:rPr lang="en-US" sz="2800"/>
              <a:t>Scaling Policy</a:t>
            </a:r>
            <a:endParaRPr/>
          </a:p>
        </p:txBody>
      </p:sp>
      <p:grpSp>
        <p:nvGrpSpPr>
          <p:cNvPr id="180" name="Google Shape;180;p14"/>
          <p:cNvGrpSpPr/>
          <p:nvPr/>
        </p:nvGrpSpPr>
        <p:grpSpPr>
          <a:xfrm>
            <a:off x="8365678" y="2592122"/>
            <a:ext cx="2016573" cy="1930733"/>
            <a:chOff x="8365678" y="2592122"/>
            <a:chExt cx="2016573" cy="1930733"/>
          </a:xfrm>
        </p:grpSpPr>
        <p:pic>
          <p:nvPicPr>
            <p:cNvPr id="181" name="Google Shape;18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65678" y="2592122"/>
              <a:ext cx="2016573" cy="1673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4"/>
            <p:cNvSpPr txBox="1"/>
            <p:nvPr/>
          </p:nvSpPr>
          <p:spPr>
            <a:xfrm>
              <a:off x="8672796" y="4215078"/>
              <a:ext cx="15266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Auto Scaling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000">
            <a:alpha val="49803"/>
          </a:srgbClr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585216" y="3035808"/>
            <a:ext cx="1076465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Lab Module 5</a:t>
            </a:r>
            <a:endParaRPr/>
          </a:p>
        </p:txBody>
      </p:sp>
      <p:pic>
        <p:nvPicPr>
          <p:cNvPr descr="AWS (Amazon Web Services): El Cloud Computing del presente ...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807" y="4541774"/>
            <a:ext cx="48768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Quattrocento Sans"/>
              <a:buNone/>
            </a:pPr>
            <a:r>
              <a:rPr lang="en-US">
                <a:solidFill>
                  <a:srgbClr val="FFC000"/>
                </a:solidFill>
              </a:rPr>
              <a:t>Auto Scaling Workflow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185858" y="3178457"/>
            <a:ext cx="7242379" cy="2956218"/>
          </a:xfrm>
          <a:prstGeom prst="roundRect">
            <a:avLst>
              <a:gd fmla="val 3774" name="adj"/>
            </a:avLst>
          </a:prstGeom>
          <a:solidFill>
            <a:srgbClr val="FFE07D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182875" spcFirstLastPara="1" rIns="182875" wrap="square" tIns="146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95" name="Google Shape;195;p19"/>
          <p:cNvGrpSpPr/>
          <p:nvPr/>
        </p:nvGrpSpPr>
        <p:grpSpPr>
          <a:xfrm>
            <a:off x="2744122" y="2909931"/>
            <a:ext cx="848803" cy="704506"/>
            <a:chOff x="5671598" y="1332085"/>
            <a:chExt cx="848803" cy="704506"/>
          </a:xfrm>
        </p:grpSpPr>
        <p:pic>
          <p:nvPicPr>
            <p:cNvPr id="196" name="Google Shape;19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71598" y="1332085"/>
              <a:ext cx="848803" cy="70450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7" name="Google Shape;197;p19"/>
            <p:cNvSpPr txBox="1"/>
            <p:nvPr/>
          </p:nvSpPr>
          <p:spPr>
            <a:xfrm>
              <a:off x="5811181" y="1908089"/>
              <a:ext cx="612347" cy="123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Auto Scaling</a:t>
              </a:r>
              <a:endParaRPr/>
            </a:p>
          </p:txBody>
        </p:sp>
      </p:grpSp>
      <p:grpSp>
        <p:nvGrpSpPr>
          <p:cNvPr id="198" name="Google Shape;198;p19"/>
          <p:cNvGrpSpPr/>
          <p:nvPr/>
        </p:nvGrpSpPr>
        <p:grpSpPr>
          <a:xfrm>
            <a:off x="3683412" y="3344397"/>
            <a:ext cx="3087540" cy="2627977"/>
            <a:chOff x="3683412" y="3440649"/>
            <a:chExt cx="3087540" cy="2627977"/>
          </a:xfrm>
        </p:grpSpPr>
        <p:sp>
          <p:nvSpPr>
            <p:cNvPr id="199" name="Google Shape;199;p19"/>
            <p:cNvSpPr/>
            <p:nvPr/>
          </p:nvSpPr>
          <p:spPr>
            <a:xfrm>
              <a:off x="3683412" y="3440649"/>
              <a:ext cx="3087540" cy="2534282"/>
            </a:xfrm>
            <a:prstGeom prst="roundRect">
              <a:avLst>
                <a:gd fmla="val 3774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4605858" y="5760849"/>
              <a:ext cx="1242648" cy="307777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us-west-2a</a:t>
              </a:r>
              <a:endParaRPr/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3800053" y="5433385"/>
              <a:ext cx="1104470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VPC01-PubSNet01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10.0.0.0/24</a:t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5235715" y="5433385"/>
              <a:ext cx="1104470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VPC01-PubSNet01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10.0.3.0/24</a:t>
              </a:r>
              <a:endParaRPr/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6912773" y="3344397"/>
            <a:ext cx="3000576" cy="2616253"/>
            <a:chOff x="6912773" y="3440649"/>
            <a:chExt cx="3000576" cy="2616253"/>
          </a:xfrm>
        </p:grpSpPr>
        <p:sp>
          <p:nvSpPr>
            <p:cNvPr id="204" name="Google Shape;204;p19"/>
            <p:cNvSpPr/>
            <p:nvPr/>
          </p:nvSpPr>
          <p:spPr>
            <a:xfrm>
              <a:off x="6912773" y="3440649"/>
              <a:ext cx="3000576" cy="2534282"/>
            </a:xfrm>
            <a:prstGeom prst="roundRect">
              <a:avLst>
                <a:gd fmla="val 3774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7795079" y="5749125"/>
              <a:ext cx="1263487" cy="307777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us-west-2b</a:t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7460446" y="5420505"/>
              <a:ext cx="873637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VPC01-SNet01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10.0.1.0/24</a:t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8881757" y="5420505"/>
              <a:ext cx="873637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VPC01-SNet01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10.0.2.0/24</a:t>
              </a:r>
              <a:endParaRPr/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3926743" y="3761743"/>
            <a:ext cx="5688418" cy="1490094"/>
            <a:chOff x="3926743" y="3857995"/>
            <a:chExt cx="5688418" cy="1490094"/>
          </a:xfrm>
        </p:grpSpPr>
        <p:grpSp>
          <p:nvGrpSpPr>
            <p:cNvPr id="209" name="Google Shape;209;p19"/>
            <p:cNvGrpSpPr/>
            <p:nvPr/>
          </p:nvGrpSpPr>
          <p:grpSpPr>
            <a:xfrm>
              <a:off x="3926743" y="3857995"/>
              <a:ext cx="5688418" cy="1391125"/>
              <a:chOff x="6228230" y="927556"/>
              <a:chExt cx="3319807" cy="822984"/>
            </a:xfrm>
          </p:grpSpPr>
          <p:sp>
            <p:nvSpPr>
              <p:cNvPr id="210" name="Google Shape;210;p19"/>
              <p:cNvSpPr/>
              <p:nvPr/>
            </p:nvSpPr>
            <p:spPr>
              <a:xfrm>
                <a:off x="6228230" y="927556"/>
                <a:ext cx="3319807" cy="822984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46300" lIns="182875" spcFirstLastPara="1" rIns="182875" wrap="square" tIns="1463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211" name="Google Shape;211;p19"/>
              <p:cNvGrpSpPr/>
              <p:nvPr/>
            </p:nvGrpSpPr>
            <p:grpSpPr>
              <a:xfrm>
                <a:off x="6505670" y="1064606"/>
                <a:ext cx="2810392" cy="528936"/>
                <a:chOff x="1134099" y="3862311"/>
                <a:chExt cx="1969502" cy="538964"/>
              </a:xfrm>
            </p:grpSpPr>
            <p:pic>
              <p:nvPicPr>
                <p:cNvPr descr="Ordenador" id="212" name="Google Shape;212;p1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564637" y="3862311"/>
                  <a:ext cx="538964" cy="5389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Ordenador" id="213" name="Google Shape;213;p1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1849368" y="3862311"/>
                  <a:ext cx="538964" cy="5389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Ordenador" id="214" name="Google Shape;214;p19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1134099" y="3862311"/>
                  <a:ext cx="538964" cy="5389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215" name="Google Shape;215;p19"/>
            <p:cNvSpPr txBox="1"/>
            <p:nvPr/>
          </p:nvSpPr>
          <p:spPr>
            <a:xfrm>
              <a:off x="6190639" y="5040312"/>
              <a:ext cx="1315875" cy="3077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Instances</a:t>
              </a:r>
              <a:endPara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16" name="Google Shape;216;p19"/>
          <p:cNvGrpSpPr/>
          <p:nvPr/>
        </p:nvGrpSpPr>
        <p:grpSpPr>
          <a:xfrm>
            <a:off x="776897" y="3800787"/>
            <a:ext cx="2197427" cy="712381"/>
            <a:chOff x="776897" y="3800787"/>
            <a:chExt cx="2197427" cy="712381"/>
          </a:xfrm>
        </p:grpSpPr>
        <p:sp>
          <p:nvSpPr>
            <p:cNvPr id="217" name="Google Shape;217;p19"/>
            <p:cNvSpPr/>
            <p:nvPr/>
          </p:nvSpPr>
          <p:spPr>
            <a:xfrm>
              <a:off x="776897" y="3800787"/>
              <a:ext cx="1276188" cy="712381"/>
            </a:xfrm>
            <a:prstGeom prst="flowChartDocument">
              <a:avLst/>
            </a:prstGeom>
            <a:solidFill>
              <a:srgbClr val="D26A0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Launch</a:t>
              </a:r>
              <a:endParaRPr b="1" sz="10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Configuration</a:t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2330073" y="3955843"/>
              <a:ext cx="644251" cy="31202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19" name="Google Shape;219;p19"/>
          <p:cNvGrpSpPr/>
          <p:nvPr/>
        </p:nvGrpSpPr>
        <p:grpSpPr>
          <a:xfrm>
            <a:off x="5848506" y="1586159"/>
            <a:ext cx="1946574" cy="1497827"/>
            <a:chOff x="5848506" y="1586159"/>
            <a:chExt cx="1946574" cy="1497827"/>
          </a:xfrm>
        </p:grpSpPr>
        <p:grpSp>
          <p:nvGrpSpPr>
            <p:cNvPr id="220" name="Google Shape;220;p19"/>
            <p:cNvGrpSpPr/>
            <p:nvPr/>
          </p:nvGrpSpPr>
          <p:grpSpPr>
            <a:xfrm>
              <a:off x="5848506" y="1586159"/>
              <a:ext cx="1946574" cy="836758"/>
              <a:chOff x="6336596" y="1806112"/>
              <a:chExt cx="1946574" cy="836758"/>
            </a:xfrm>
          </p:grpSpPr>
          <p:pic>
            <p:nvPicPr>
              <p:cNvPr id="221" name="Google Shape;221;p1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336596" y="1806112"/>
                <a:ext cx="868711" cy="836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19"/>
              <p:cNvSpPr txBox="1"/>
              <p:nvPr/>
            </p:nvSpPr>
            <p:spPr>
              <a:xfrm>
                <a:off x="7227070" y="2065257"/>
                <a:ext cx="1056100" cy="43088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Elastic LB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WEBLB02</a:t>
                </a:r>
                <a:endParaRPr/>
              </a:p>
            </p:txBody>
          </p:sp>
        </p:grpSp>
        <p:sp>
          <p:nvSpPr>
            <p:cNvPr id="223" name="Google Shape;223;p19"/>
            <p:cNvSpPr/>
            <p:nvPr/>
          </p:nvSpPr>
          <p:spPr>
            <a:xfrm rot="-5400000">
              <a:off x="6484920" y="2605846"/>
              <a:ext cx="644251" cy="31202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24" name="Google Shape;224;p19"/>
          <p:cNvSpPr txBox="1"/>
          <p:nvPr/>
        </p:nvSpPr>
        <p:spPr>
          <a:xfrm>
            <a:off x="6274845" y="3212092"/>
            <a:ext cx="1064403" cy="4924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VPC01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10.0.0.0/16</a:t>
            </a: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846594" y="4582033"/>
            <a:ext cx="1093248" cy="1818767"/>
            <a:chOff x="846594" y="4582033"/>
            <a:chExt cx="1093248" cy="1818767"/>
          </a:xfrm>
        </p:grpSpPr>
        <p:grpSp>
          <p:nvGrpSpPr>
            <p:cNvPr id="226" name="Google Shape;226;p19"/>
            <p:cNvGrpSpPr/>
            <p:nvPr/>
          </p:nvGrpSpPr>
          <p:grpSpPr>
            <a:xfrm>
              <a:off x="846594" y="5312600"/>
              <a:ext cx="1093248" cy="1088200"/>
              <a:chOff x="868367" y="4886731"/>
              <a:chExt cx="1093248" cy="1088200"/>
            </a:xfrm>
          </p:grpSpPr>
          <p:pic>
            <p:nvPicPr>
              <p:cNvPr id="227" name="Google Shape;227;p1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84592" y="4886731"/>
                <a:ext cx="818653" cy="8698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19"/>
              <p:cNvSpPr txBox="1"/>
              <p:nvPr/>
            </p:nvSpPr>
            <p:spPr>
              <a:xfrm>
                <a:off x="868367" y="5790265"/>
                <a:ext cx="109324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Win2019Image</a:t>
                </a:r>
                <a:endParaRPr/>
              </a:p>
            </p:txBody>
          </p:sp>
        </p:grpSp>
        <p:sp>
          <p:nvSpPr>
            <p:cNvPr id="229" name="Google Shape;229;p19"/>
            <p:cNvSpPr/>
            <p:nvPr/>
          </p:nvSpPr>
          <p:spPr>
            <a:xfrm rot="-5400000">
              <a:off x="1071093" y="4748144"/>
              <a:ext cx="644251" cy="31202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2019-10-14T12:29:36Z</dcterms:created>
</cp:coreProperties>
</file>