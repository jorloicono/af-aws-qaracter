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0" r:id="rId1"/>
  </p:sldMasterIdLst>
  <p:notesMasterIdLst>
    <p:notesMasterId r:id="rId21"/>
  </p:notesMasterIdLst>
  <p:sldIdLst>
    <p:sldId id="2237" r:id="rId2"/>
    <p:sldId id="2021" r:id="rId3"/>
    <p:sldId id="2253" r:id="rId4"/>
    <p:sldId id="2240" r:id="rId5"/>
    <p:sldId id="2243" r:id="rId6"/>
    <p:sldId id="2244" r:id="rId7"/>
    <p:sldId id="2254" r:id="rId8"/>
    <p:sldId id="2241" r:id="rId9"/>
    <p:sldId id="2238" r:id="rId10"/>
    <p:sldId id="2242" r:id="rId11"/>
    <p:sldId id="2245" r:id="rId12"/>
    <p:sldId id="2248" r:id="rId13"/>
    <p:sldId id="2247" r:id="rId14"/>
    <p:sldId id="2246" r:id="rId15"/>
    <p:sldId id="2249" r:id="rId16"/>
    <p:sldId id="2250" r:id="rId17"/>
    <p:sldId id="2251" r:id="rId18"/>
    <p:sldId id="2252" r:id="rId19"/>
    <p:sldId id="2239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15" autoAdjust="0"/>
    <p:restoredTop sz="82657" autoAdjust="0"/>
  </p:normalViewPr>
  <p:slideViewPr>
    <p:cSldViewPr snapToGrid="0">
      <p:cViewPr varScale="1">
        <p:scale>
          <a:sx n="61" d="100"/>
          <a:sy n="61" d="100"/>
        </p:scale>
        <p:origin x="88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CF66F0-0810-43B6-89CA-8A60532D42CE}" type="datetimeFigureOut">
              <a:rPr lang="en-US" smtClean="0"/>
              <a:t>5/4/2020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07DC7E-BC41-4478-BA30-CBCC3A644F0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079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07DC7E-BC41-4478-BA30-CBCC3A644F0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3486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D3453B0B-33DE-4ED0-A610-D76D0E610F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79778"/>
            <a:ext cx="4572000" cy="553998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3600" spc="-50" baseline="0"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4572000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0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9F328AE-26F0-42B9-988D-535B1145C96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50758" y="800100"/>
            <a:ext cx="5024485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2842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quare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2270E26-89BA-4369-9EF4-1B9EBAA3D00B}"/>
              </a:ext>
            </a:extLst>
          </p:cNvPr>
          <p:cNvSpPr/>
          <p:nvPr userDrawn="1"/>
        </p:nvSpPr>
        <p:spPr bwMode="auto">
          <a:xfrm>
            <a:off x="5334000" y="0"/>
            <a:ext cx="6858000" cy="6858000"/>
          </a:xfrm>
          <a:prstGeom prst="rect">
            <a:avLst/>
          </a:prstGeom>
          <a:solidFill>
            <a:srgbClr val="D2D2D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D0408F-4A76-4E13-B20C-89E0FD40DC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425541"/>
            <a:ext cx="4167887" cy="1107996"/>
          </a:xfrm>
        </p:spPr>
        <p:txBody>
          <a:bodyPr anchor="b" anchorCtr="0">
            <a:spAutoFit/>
          </a:bodyPr>
          <a:lstStyle>
            <a:lvl1pPr>
              <a:defRPr/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2042" y="3962400"/>
            <a:ext cx="4164583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0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</a:t>
            </a:r>
          </a:p>
        </p:txBody>
      </p:sp>
      <p:pic>
        <p:nvPicPr>
          <p:cNvPr id="9" name="MS logo gray - EMF" descr="Microsoft logo, gray text version">
            <a:extLst>
              <a:ext uri="{FF2B5EF4-FFF2-40B4-BE49-F238E27FC236}">
                <a16:creationId xmlns:a16="http://schemas.microsoft.com/office/drawing/2014/main" id="{D03FE64B-525F-4B73-8C45-B4BC3BAD6A2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5964678-FE6C-4226-A11B-8D452DA7808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50758" y="800100"/>
            <a:ext cx="5024485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2856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355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2996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quar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S logo gray - EMF" descr="Microsoft logo, gray text version">
            <a:extLst>
              <a:ext uri="{FF2B5EF4-FFF2-40B4-BE49-F238E27FC236}">
                <a16:creationId xmlns:a16="http://schemas.microsoft.com/office/drawing/2014/main" id="{DDC08157-A48C-4ACA-A5BB-EE2A866E103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5D0408F-4A76-4E13-B20C-89E0FD40DC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425541"/>
            <a:ext cx="4167887" cy="1107996"/>
          </a:xfrm>
        </p:spPr>
        <p:txBody>
          <a:bodyPr anchor="b" anchorCtr="0">
            <a:spAutoFit/>
          </a:bodyPr>
          <a:lstStyle>
            <a:lvl1pPr>
              <a:defRPr/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2042" y="3962400"/>
            <a:ext cx="4164583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0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026004-6E63-4034-A1B0-34BE8CEF3D76}"/>
              </a:ext>
            </a:extLst>
          </p:cNvPr>
          <p:cNvSpPr/>
          <p:nvPr userDrawn="1"/>
        </p:nvSpPr>
        <p:spPr bwMode="auto">
          <a:xfrm>
            <a:off x="5334000" y="0"/>
            <a:ext cx="6858000" cy="6858000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00240D"/>
              </a:soli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FC1A9B4-AD16-4E53-919C-38204BAF9E3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50758" y="800100"/>
            <a:ext cx="5024485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139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360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2996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D3453B0B-33DE-4ED0-A610-D76D0E610F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7977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3600" spc="-50" baseline="0"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9144000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0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</p:spTree>
    <p:extLst>
      <p:ext uri="{BB962C8B-B14F-4D97-AF65-F5344CB8AC3E}">
        <p14:creationId xmlns:p14="http://schemas.microsoft.com/office/powerpoint/2010/main" val="29548813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2308324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656831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584200" y="1435497"/>
            <a:ext cx="11018520" cy="230832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881082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4200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E9CDCB4-03E1-4763-B83E-A1334BCDB0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97171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897977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904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4200" y="1437481"/>
            <a:ext cx="5212080" cy="1649682"/>
          </a:xfrm>
        </p:spPr>
        <p:txBody>
          <a:bodyPr wrap="square">
            <a:spAutoFit/>
          </a:bodyPr>
          <a:lstStyle>
            <a:lvl1pPr marL="231775" indent="-231775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Char char=""/>
              <a:defRPr sz="2800" b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27038" indent="-171450">
              <a:buFont typeface="Wingdings" panose="05000000000000000000" pitchFamily="2" charset="2"/>
              <a:buChar char=""/>
              <a:defRPr sz="2000" b="0"/>
            </a:lvl2pPr>
            <a:lvl3pPr marL="639763" indent="-188913">
              <a:buFont typeface="Wingdings" panose="05000000000000000000" pitchFamily="2" charset="2"/>
              <a:buChar char=""/>
              <a:tabLst/>
              <a:defRPr sz="1600" b="0"/>
            </a:lvl3pPr>
            <a:lvl4pPr marL="828675" indent="-176213">
              <a:buFont typeface="Wingdings" panose="05000000000000000000" pitchFamily="2" charset="2"/>
              <a:buChar char=""/>
              <a:defRPr sz="1400" b="0"/>
            </a:lvl4pPr>
            <a:lvl5pPr marL="1023938" indent="-169863">
              <a:buFont typeface="Wingdings" panose="05000000000000000000" pitchFamily="2" charset="2"/>
              <a:buChar char=""/>
              <a:tabLst/>
              <a:defRPr sz="1400" b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5278796-7B84-4D67-88CD-BF78BB06D21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89914" y="1437481"/>
            <a:ext cx="5212080" cy="1649682"/>
          </a:xfrm>
        </p:spPr>
        <p:txBody>
          <a:bodyPr wrap="square">
            <a:spAutoFit/>
          </a:bodyPr>
          <a:lstStyle>
            <a:lvl1pPr marL="231775" indent="-231775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Char char=""/>
              <a:defRPr sz="2800" b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27038" indent="-171450">
              <a:buFont typeface="Wingdings" panose="05000000000000000000" pitchFamily="2" charset="2"/>
              <a:buChar char=""/>
              <a:defRPr sz="2000" b="0"/>
            </a:lvl2pPr>
            <a:lvl3pPr marL="639763" indent="-188913">
              <a:buFont typeface="Wingdings" panose="05000000000000000000" pitchFamily="2" charset="2"/>
              <a:buChar char=""/>
              <a:tabLst/>
              <a:defRPr sz="1600" b="0"/>
            </a:lvl3pPr>
            <a:lvl4pPr marL="828675" indent="-176213">
              <a:buFont typeface="Wingdings" panose="05000000000000000000" pitchFamily="2" charset="2"/>
              <a:buChar char=""/>
              <a:defRPr sz="1400" b="0"/>
            </a:lvl4pPr>
            <a:lvl5pPr marL="1023938" indent="-169863">
              <a:buFont typeface="Wingdings" panose="05000000000000000000" pitchFamily="2" charset="2"/>
              <a:buChar char=""/>
              <a:tabLst/>
              <a:defRPr sz="1400" b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904618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6">
          <p15:clr>
            <a:srgbClr val="5ACBF0"/>
          </p15:clr>
        </p15:guide>
        <p15:guide id="3" orient="horz" pos="904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754DF-CB0E-46F9-AA3C-00BC673EB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8493600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0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with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D31026A-4A74-439D-A8F5-DB82A03E7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4287971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B2500C4-B436-4E3A-8A91-A02448A77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457200"/>
            <a:ext cx="5508419" cy="372410"/>
          </a:xfrm>
        </p:spPr>
        <p:txBody>
          <a:bodyPr tIns="64008"/>
          <a:lstStyle>
            <a:lvl1pPr>
              <a:defRPr sz="2000" spc="0"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129979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033223"/>
            <a:ext cx="9144000" cy="4985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9144000" cy="307777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spc="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631573B-58F8-43B4-8E3E-6F895442CB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44025" y="3898483"/>
            <a:ext cx="2265363" cy="2370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3759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033223"/>
            <a:ext cx="9144000" cy="4985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9144000" cy="307777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spc="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3029030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035808"/>
            <a:ext cx="9144000" cy="4985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Video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81C0FB-0396-463F-9527-BACCE968684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44025" y="3898483"/>
            <a:ext cx="2265363" cy="2370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7674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1">
          <p15:clr>
            <a:srgbClr val="5ACBF0"/>
          </p15:clr>
        </p15:guide>
        <p15:guide id="3" orient="horz" pos="1914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035808"/>
            <a:ext cx="9144000" cy="4985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Video</a:t>
            </a:r>
          </a:p>
        </p:txBody>
      </p:sp>
    </p:spTree>
    <p:extLst>
      <p:ext uri="{BB962C8B-B14F-4D97-AF65-F5344CB8AC3E}">
        <p14:creationId xmlns:p14="http://schemas.microsoft.com/office/powerpoint/2010/main" val="36873693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1">
          <p15:clr>
            <a:srgbClr val="5ACBF0"/>
          </p15:clr>
        </p15:guide>
        <p15:guide id="3" orient="horz" pos="1914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035808"/>
            <a:ext cx="9144000" cy="4985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9F059F-BD0F-4211-86F6-E960C3EC183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44025" y="3898483"/>
            <a:ext cx="2265363" cy="2370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699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035808"/>
            <a:ext cx="9144000" cy="4985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530237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86346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272">
          <p15:clr>
            <a:srgbClr val="5ACBF0"/>
          </p15:clr>
        </p15:guide>
        <p15:guide id="2" orient="horz" pos="904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909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904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D0DF2A6-26A8-4810-95DF-F65F123C66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Software code slide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1436688"/>
            <a:ext cx="11018520" cy="1908215"/>
          </a:xfrm>
        </p:spPr>
        <p:txBody>
          <a:bodyPr/>
          <a:lstStyle>
            <a:lvl1pPr marL="0" indent="0">
              <a:buNone/>
              <a:defRPr sz="280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 sz="240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 sz="200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 sz="180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 sz="180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545225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272">
          <p15:clr>
            <a:srgbClr val="5ACBF0"/>
          </p15:clr>
        </p15:guide>
        <p15:guide id="2" orient="horz" pos="905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584200" y="6161316"/>
            <a:ext cx="4482124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Copyright Microsoft Corporation. All rights reserved. </a:t>
            </a:r>
          </a:p>
        </p:txBody>
      </p:sp>
      <p:pic>
        <p:nvPicPr>
          <p:cNvPr id="4" name="MS logo gray - EMF" descr="Microsoft logo, gray text version">
            <a:extLst>
              <a:ext uri="{FF2B5EF4-FFF2-40B4-BE49-F238E27FC236}">
                <a16:creationId xmlns:a16="http://schemas.microsoft.com/office/drawing/2014/main" id="{59104CAE-91B8-4A7E-9F8E-214C5F8809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1183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 b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6606D-2DF9-48CD-BBE9-B751BF55CD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white">
          <a:xfrm>
            <a:off x="584200" y="1436688"/>
            <a:ext cx="11018838" cy="2215991"/>
          </a:xfrm>
        </p:spPr>
        <p:txBody>
          <a:bodyPr>
            <a:spAutoFit/>
          </a:bodyPr>
          <a:lstStyle>
            <a:lvl1pPr>
              <a:defRPr sz="36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1800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Next slide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269038"/>
            <a:ext cx="12192001" cy="588963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45720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</p:spTree>
    <p:extLst>
      <p:ext uri="{BB962C8B-B14F-4D97-AF65-F5344CB8AC3E}">
        <p14:creationId xmlns:p14="http://schemas.microsoft.com/office/powerpoint/2010/main" val="20966924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904">
          <p15:clr>
            <a:srgbClr val="5ACBF0"/>
          </p15:clr>
        </p15:guide>
        <p15:guide id="2" orient="horz" pos="288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 userDrawn="1">
            <p:ph type="body" idx="1"/>
          </p:nvPr>
        </p:nvSpPr>
        <p:spPr>
          <a:xfrm>
            <a:off x="584200" y="1435503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 userDrawn="1"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 userDrawn="1"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4581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</p:sldLayoutIdLst>
  <p:transition>
    <p:fade/>
  </p:transition>
  <p:hf sldNum="0" hdr="0" ft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3600" b="0" kern="1200" cap="none" spc="-50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Segoe UI Semilight" panose="020B0402040204020203" pitchFamily="34" charset="0"/>
          <a:ea typeface="+mn-ea"/>
          <a:cs typeface="Segoe UI Semilight" panose="020B04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6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ws.amazon.com/cli/latest/index.html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19164622-9367-4AED-975E-4749F29AC5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820" y="262759"/>
            <a:ext cx="1590675" cy="1066800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B0CB6A12-09E9-4287-84AC-2544D6629667}"/>
              </a:ext>
            </a:extLst>
          </p:cNvPr>
          <p:cNvSpPr/>
          <p:nvPr/>
        </p:nvSpPr>
        <p:spPr bwMode="auto">
          <a:xfrm>
            <a:off x="5833240" y="0"/>
            <a:ext cx="6358759" cy="6858000"/>
          </a:xfrm>
          <a:prstGeom prst="rect">
            <a:avLst/>
          </a:prstGeom>
          <a:solidFill>
            <a:srgbClr val="FFC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s-E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026" name="Picture 2" descr="AWS - Almeritek.com">
            <a:extLst>
              <a:ext uri="{FF2B5EF4-FFF2-40B4-BE49-F238E27FC236}">
                <a16:creationId xmlns:a16="http://schemas.microsoft.com/office/drawing/2014/main" id="{381E3D9A-2903-4E08-8F5D-B2F634485D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285875"/>
            <a:ext cx="5715000" cy="428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A5D5D5B0-D2DF-4A15-8185-0FEEAB8C60B7}"/>
              </a:ext>
            </a:extLst>
          </p:cNvPr>
          <p:cNvSpPr/>
          <p:nvPr/>
        </p:nvSpPr>
        <p:spPr>
          <a:xfrm>
            <a:off x="556578" y="1715079"/>
            <a:ext cx="4977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600" b="1" dirty="0">
                <a:latin typeface="+mj-lt"/>
              </a:rPr>
              <a:t>AWS</a:t>
            </a:r>
            <a:r>
              <a:rPr lang="es-ES" b="1" dirty="0">
                <a:latin typeface="+mj-lt"/>
              </a:rPr>
              <a:t> SOLUTIONS ARCHITECT ASSOCIATE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2878CDE-ECC2-4813-836F-4CAC5E6BA312}"/>
              </a:ext>
            </a:extLst>
          </p:cNvPr>
          <p:cNvSpPr/>
          <p:nvPr/>
        </p:nvSpPr>
        <p:spPr>
          <a:xfrm>
            <a:off x="556578" y="2576928"/>
            <a:ext cx="4479047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600" b="1" dirty="0">
                <a:latin typeface="+mj-lt"/>
              </a:rPr>
              <a:t>Module 1:</a:t>
            </a:r>
          </a:p>
          <a:p>
            <a:r>
              <a:rPr lang="es-ES" sz="3600" b="1" dirty="0" err="1">
                <a:latin typeface="+mj-lt"/>
              </a:rPr>
              <a:t>Introduction</a:t>
            </a:r>
            <a:r>
              <a:rPr lang="es-ES" sz="3600" b="1" dirty="0">
                <a:latin typeface="+mj-lt"/>
              </a:rPr>
              <a:t> to AWS</a:t>
            </a:r>
            <a:endParaRPr lang="es-ES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97134412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Module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2D3DB3-B59D-4E6F-98E4-F1169ABE03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1135943"/>
            <a:ext cx="11018520" cy="1883593"/>
          </a:xfrm>
        </p:spPr>
        <p:txBody>
          <a:bodyPr/>
          <a:lstStyle/>
          <a:p>
            <a:r>
              <a:rPr lang="en-US" sz="3600" dirty="0"/>
              <a:t>What is Cloud Computing?</a:t>
            </a:r>
          </a:p>
          <a:p>
            <a:r>
              <a:rPr lang="en-US" sz="3600" dirty="0"/>
              <a:t>AWS Fundamentals</a:t>
            </a:r>
          </a:p>
          <a:p>
            <a:r>
              <a:rPr lang="en-US" sz="3600" dirty="0"/>
              <a:t>AWS Cloud Computing Platform</a:t>
            </a:r>
          </a:p>
        </p:txBody>
      </p:sp>
    </p:spTree>
    <p:extLst>
      <p:ext uri="{BB962C8B-B14F-4D97-AF65-F5344CB8AC3E}">
        <p14:creationId xmlns:p14="http://schemas.microsoft.com/office/powerpoint/2010/main" val="53258594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863AA4-A22B-4817-B977-60BCCF6C9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16" y="3035808"/>
            <a:ext cx="10764656" cy="553998"/>
          </a:xfrm>
        </p:spPr>
        <p:txBody>
          <a:bodyPr/>
          <a:lstStyle/>
          <a:p>
            <a:r>
              <a:rPr lang="en-US" dirty="0"/>
              <a:t>Lesson 01: What is Cloud Computing</a:t>
            </a:r>
          </a:p>
        </p:txBody>
      </p:sp>
      <p:pic>
        <p:nvPicPr>
          <p:cNvPr id="2052" name="Picture 4" descr="AWS (Amazon Web Services): El Cloud Computing del presente ...">
            <a:extLst>
              <a:ext uri="{FF2B5EF4-FFF2-40B4-BE49-F238E27FC236}">
                <a16:creationId xmlns:a16="http://schemas.microsoft.com/office/drawing/2014/main" id="{57E1B657-D466-432E-9C07-8E4351E76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5807" y="4541774"/>
            <a:ext cx="4876800" cy="178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328699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What is Cloud Computing?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2D3DB3-B59D-4E6F-98E4-F1169ABE03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1135943"/>
            <a:ext cx="11018520" cy="553998"/>
          </a:xfrm>
        </p:spPr>
        <p:txBody>
          <a:bodyPr/>
          <a:lstStyle/>
          <a:p>
            <a:pPr marL="0" indent="0">
              <a:buNone/>
            </a:pPr>
            <a:r>
              <a:rPr lang="en-US" sz="3600" dirty="0"/>
              <a:t>Advantages of Cloud Computing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FD26AE3-1CC7-40EE-8BE0-49926F350F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3460" y="2065282"/>
            <a:ext cx="5382399" cy="3164724"/>
          </a:xfrm>
          <a:prstGeom prst="rect">
            <a:avLst/>
          </a:prstGeom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5E5BEED7-1F75-44C3-AD09-EB58E93FC4C8}"/>
              </a:ext>
            </a:extLst>
          </p:cNvPr>
          <p:cNvSpPr txBox="1">
            <a:spLocks/>
          </p:cNvSpPr>
          <p:nvPr/>
        </p:nvSpPr>
        <p:spPr>
          <a:xfrm>
            <a:off x="584200" y="1873949"/>
            <a:ext cx="11018520" cy="3016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Variable vs. Capital Expense</a:t>
            </a:r>
          </a:p>
          <a:p>
            <a:r>
              <a:rPr lang="en-US" dirty="0"/>
              <a:t>Economies of Scale</a:t>
            </a:r>
          </a:p>
          <a:p>
            <a:r>
              <a:rPr lang="en-US" dirty="0"/>
              <a:t>Stop Guessing Capacity</a:t>
            </a:r>
          </a:p>
          <a:p>
            <a:r>
              <a:rPr lang="en-US" dirty="0"/>
              <a:t>Increase Speed and Agility</a:t>
            </a:r>
          </a:p>
          <a:p>
            <a:r>
              <a:rPr lang="en-US" dirty="0"/>
              <a:t>Focus on Business Differentiators</a:t>
            </a:r>
          </a:p>
          <a:p>
            <a:r>
              <a:rPr lang="en-US" dirty="0"/>
              <a:t>Go Global in Minutes</a:t>
            </a:r>
          </a:p>
        </p:txBody>
      </p:sp>
    </p:spTree>
    <p:extLst>
      <p:ext uri="{BB962C8B-B14F-4D97-AF65-F5344CB8AC3E}">
        <p14:creationId xmlns:p14="http://schemas.microsoft.com/office/powerpoint/2010/main" val="3305463565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What is Cloud Computing?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2D3DB3-B59D-4E6F-98E4-F1169ABE03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1135943"/>
            <a:ext cx="11018520" cy="553998"/>
          </a:xfrm>
        </p:spPr>
        <p:txBody>
          <a:bodyPr/>
          <a:lstStyle/>
          <a:p>
            <a:pPr marL="0" indent="0">
              <a:buNone/>
            </a:pPr>
            <a:r>
              <a:rPr lang="en-US" sz="3600" dirty="0"/>
              <a:t>Cloud Computing Deployment Models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641D0B5-F661-4075-8F28-CB4EE94528F0}"/>
              </a:ext>
            </a:extLst>
          </p:cNvPr>
          <p:cNvSpPr/>
          <p:nvPr/>
        </p:nvSpPr>
        <p:spPr>
          <a:xfrm>
            <a:off x="2118977" y="4714714"/>
            <a:ext cx="85311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2000" dirty="0"/>
              <a:t>Cloud</a:t>
            </a:r>
            <a:endParaRPr lang="es-ES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FDB3F91-9B84-4444-BE77-3553F0D61B7A}"/>
              </a:ext>
            </a:extLst>
          </p:cNvPr>
          <p:cNvSpPr/>
          <p:nvPr/>
        </p:nvSpPr>
        <p:spPr>
          <a:xfrm>
            <a:off x="5580058" y="4714714"/>
            <a:ext cx="94448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000" dirty="0"/>
              <a:t>Hybrid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4697F84-C18F-4E63-BAD3-A419DBC85911}"/>
              </a:ext>
            </a:extLst>
          </p:cNvPr>
          <p:cNvSpPr/>
          <p:nvPr/>
        </p:nvSpPr>
        <p:spPr>
          <a:xfrm>
            <a:off x="8394407" y="4714714"/>
            <a:ext cx="163519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000" dirty="0"/>
              <a:t>On-</a:t>
            </a:r>
            <a:r>
              <a:rPr lang="es-ES" sz="2000" dirty="0" err="1"/>
              <a:t>premises</a:t>
            </a:r>
            <a:endParaRPr lang="es-ES" sz="2000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692A34D-9D05-4AA6-948E-36C14F4689D8}"/>
              </a:ext>
            </a:extLst>
          </p:cNvPr>
          <p:cNvSpPr/>
          <p:nvPr/>
        </p:nvSpPr>
        <p:spPr>
          <a:xfrm>
            <a:off x="6456359" y="5536005"/>
            <a:ext cx="22557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000" dirty="0"/>
              <a:t>Hybrid</a:t>
            </a:r>
            <a:r>
              <a:rPr lang="es-ES" dirty="0"/>
              <a:t> Deployment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15923A6-8A1C-46C2-A331-790A8CAC3D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0933" y="3429000"/>
            <a:ext cx="2247900" cy="105727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5C7DA7A-122D-481D-87F7-C48433D669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4482" y="3429000"/>
            <a:ext cx="2400300" cy="104775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459646B5-48F2-4A64-A016-1C951DD8E5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6080" y="3438849"/>
            <a:ext cx="2343150" cy="1114425"/>
          </a:xfrm>
          <a:prstGeom prst="rect">
            <a:avLst/>
          </a:prstGeom>
        </p:spPr>
      </p:pic>
      <p:sp>
        <p:nvSpPr>
          <p:cNvPr id="11" name="Abrir corchete 10">
            <a:extLst>
              <a:ext uri="{FF2B5EF4-FFF2-40B4-BE49-F238E27FC236}">
                <a16:creationId xmlns:a16="http://schemas.microsoft.com/office/drawing/2014/main" id="{D1BBC7D9-A556-4F72-9316-3475D13826D3}"/>
              </a:ext>
            </a:extLst>
          </p:cNvPr>
          <p:cNvSpPr/>
          <p:nvPr/>
        </p:nvSpPr>
        <p:spPr>
          <a:xfrm rot="16200000">
            <a:off x="7488948" y="3852540"/>
            <a:ext cx="183278" cy="2969170"/>
          </a:xfrm>
          <a:prstGeom prst="leftBracket">
            <a:avLst/>
          </a:prstGeom>
          <a:ln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C61F43A5-C597-486C-95E3-7D5AA051A720}"/>
              </a:ext>
            </a:extLst>
          </p:cNvPr>
          <p:cNvSpPr txBox="1">
            <a:spLocks/>
          </p:cNvSpPr>
          <p:nvPr/>
        </p:nvSpPr>
        <p:spPr>
          <a:xfrm>
            <a:off x="584200" y="1873949"/>
            <a:ext cx="11018520" cy="9479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All-in Cloud-based Application</a:t>
            </a:r>
          </a:p>
          <a:p>
            <a:r>
              <a:rPr lang="en-US" dirty="0"/>
              <a:t>Hybrid Deployment</a:t>
            </a:r>
          </a:p>
        </p:txBody>
      </p:sp>
    </p:spTree>
    <p:extLst>
      <p:ext uri="{BB962C8B-B14F-4D97-AF65-F5344CB8AC3E}">
        <p14:creationId xmlns:p14="http://schemas.microsoft.com/office/powerpoint/2010/main" val="3381042673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What is Cloud Computing?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2D3DB3-B59D-4E6F-98E4-F1169ABE03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1135943"/>
            <a:ext cx="11018520" cy="553998"/>
          </a:xfrm>
        </p:spPr>
        <p:txBody>
          <a:bodyPr/>
          <a:lstStyle/>
          <a:p>
            <a:pPr marL="0" indent="0">
              <a:buNone/>
            </a:pPr>
            <a:r>
              <a:rPr lang="en-US" sz="3600" dirty="0"/>
              <a:t>Cloud Computing Models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A88A700-F4AF-4FE9-B405-12781B633EF1}"/>
              </a:ext>
            </a:extLst>
          </p:cNvPr>
          <p:cNvSpPr/>
          <p:nvPr/>
        </p:nvSpPr>
        <p:spPr>
          <a:xfrm>
            <a:off x="587123" y="4454993"/>
            <a:ext cx="378225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2000" dirty="0"/>
              <a:t>Infrastructure as a Service (IaaS)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3AB84F9-E06D-4253-AC79-86FE6B2971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775" y="3111225"/>
            <a:ext cx="2266950" cy="1133475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746CA3D5-E9D7-4CEA-A21D-B0D057FC6DA1}"/>
              </a:ext>
            </a:extLst>
          </p:cNvPr>
          <p:cNvSpPr/>
          <p:nvPr/>
        </p:nvSpPr>
        <p:spPr>
          <a:xfrm>
            <a:off x="4770663" y="4454993"/>
            <a:ext cx="329596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000" dirty="0"/>
              <a:t>Platform as a Service (PaaS)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F3B0D73-BCB3-42DD-925B-ACACA60DA36C}"/>
              </a:ext>
            </a:extLst>
          </p:cNvPr>
          <p:cNvSpPr/>
          <p:nvPr/>
        </p:nvSpPr>
        <p:spPr>
          <a:xfrm>
            <a:off x="8387278" y="4454993"/>
            <a:ext cx="332219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Software as a Service (SaaS)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221466A4-6BA9-4154-B961-3BA77DD752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6789" y="3120750"/>
            <a:ext cx="2371725" cy="112395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43706F1-8215-4BFA-939C-79C0523C59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6831" y="3101699"/>
            <a:ext cx="2228850" cy="115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270550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863AA4-A22B-4817-B977-60BCCF6C9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16" y="3035808"/>
            <a:ext cx="10764656" cy="553998"/>
          </a:xfrm>
        </p:spPr>
        <p:txBody>
          <a:bodyPr/>
          <a:lstStyle/>
          <a:p>
            <a:r>
              <a:rPr lang="en-US" dirty="0"/>
              <a:t>Lesson 02: AWS Fundamentals</a:t>
            </a:r>
          </a:p>
        </p:txBody>
      </p:sp>
      <p:pic>
        <p:nvPicPr>
          <p:cNvPr id="2052" name="Picture 4" descr="AWS (Amazon Web Services): El Cloud Computing del presente ...">
            <a:extLst>
              <a:ext uri="{FF2B5EF4-FFF2-40B4-BE49-F238E27FC236}">
                <a16:creationId xmlns:a16="http://schemas.microsoft.com/office/drawing/2014/main" id="{57E1B657-D466-432E-9C07-8E4351E76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5807" y="4541774"/>
            <a:ext cx="4876800" cy="178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2291695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AWS Fundamentals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BD5213AD-8ED6-442D-99F9-F288EDBDEA73}"/>
              </a:ext>
            </a:extLst>
          </p:cNvPr>
          <p:cNvSpPr txBox="1">
            <a:spLocks/>
          </p:cNvSpPr>
          <p:nvPr/>
        </p:nvSpPr>
        <p:spPr>
          <a:xfrm>
            <a:off x="584200" y="1124511"/>
            <a:ext cx="11018520" cy="3127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4000" dirty="0"/>
              <a:t>Global Infrastructure</a:t>
            </a:r>
          </a:p>
          <a:p>
            <a:pPr lvl="1"/>
            <a:r>
              <a:rPr lang="en-US" sz="4000" dirty="0"/>
              <a:t>Security and Compliance</a:t>
            </a:r>
          </a:p>
          <a:p>
            <a:pPr lvl="2"/>
            <a:r>
              <a:rPr lang="en-US" sz="3200" dirty="0"/>
              <a:t>Security</a:t>
            </a:r>
          </a:p>
          <a:p>
            <a:pPr lvl="2"/>
            <a:r>
              <a:rPr lang="en-US" sz="3200" dirty="0"/>
              <a:t>Compliance</a:t>
            </a:r>
          </a:p>
          <a:p>
            <a:pPr lvl="2"/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1401260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863AA4-A22B-4817-B977-60BCCF6C9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16" y="3035808"/>
            <a:ext cx="10764656" cy="553998"/>
          </a:xfrm>
        </p:spPr>
        <p:txBody>
          <a:bodyPr/>
          <a:lstStyle/>
          <a:p>
            <a:r>
              <a:rPr lang="en-US" dirty="0"/>
              <a:t>Lesson 03: AWS Cloud Computing Platform</a:t>
            </a:r>
          </a:p>
        </p:txBody>
      </p:sp>
      <p:pic>
        <p:nvPicPr>
          <p:cNvPr id="2052" name="Picture 4" descr="AWS (Amazon Web Services): El Cloud Computing del presente ...">
            <a:extLst>
              <a:ext uri="{FF2B5EF4-FFF2-40B4-BE49-F238E27FC236}">
                <a16:creationId xmlns:a16="http://schemas.microsoft.com/office/drawing/2014/main" id="{57E1B657-D466-432E-9C07-8E4351E76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5807" y="4541774"/>
            <a:ext cx="4876800" cy="178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105935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AWS Cloud Computing Platform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8E5AD44-1A1F-4CE9-BE70-175D1A9653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6456" y="1065316"/>
            <a:ext cx="8339958" cy="5482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400703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AWS Cloud Computing Platform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2D3DB3-B59D-4E6F-98E4-F1169ABE03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1135943"/>
            <a:ext cx="11018520" cy="553998"/>
          </a:xfrm>
        </p:spPr>
        <p:txBody>
          <a:bodyPr/>
          <a:lstStyle/>
          <a:p>
            <a:pPr marL="0" indent="0">
              <a:buNone/>
            </a:pPr>
            <a:r>
              <a:rPr lang="en-US" sz="36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Accessing the Platform - </a:t>
            </a:r>
            <a:r>
              <a:rPr lang="en-US" sz="3600" dirty="0"/>
              <a:t>AWS Management Console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9172D976-0714-47DC-BE7F-5E1E48ED31F8}"/>
              </a:ext>
            </a:extLst>
          </p:cNvPr>
          <p:cNvGrpSpPr/>
          <p:nvPr/>
        </p:nvGrpSpPr>
        <p:grpSpPr>
          <a:xfrm>
            <a:off x="1117094" y="1889095"/>
            <a:ext cx="9855706" cy="4511705"/>
            <a:chOff x="1119634" y="1173147"/>
            <a:chExt cx="9952732" cy="4511705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E51EAC88-7E5E-4B34-B77E-CE5492AD68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19634" y="1173147"/>
              <a:ext cx="9952732" cy="4511705"/>
            </a:xfrm>
            <a:prstGeom prst="rect">
              <a:avLst/>
            </a:prstGeom>
            <a:solidFill>
              <a:srgbClr val="232F3E"/>
            </a:solidFill>
          </p:spPr>
        </p:pic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4B002D8F-529B-49E8-8FB5-0D187B5E3661}"/>
                </a:ext>
              </a:extLst>
            </p:cNvPr>
            <p:cNvSpPr/>
            <p:nvPr/>
          </p:nvSpPr>
          <p:spPr>
            <a:xfrm>
              <a:off x="8615966" y="1211784"/>
              <a:ext cx="824248" cy="212501"/>
            </a:xfrm>
            <a:prstGeom prst="rect">
              <a:avLst/>
            </a:prstGeom>
            <a:solidFill>
              <a:srgbClr val="232F3E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415500764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AWS Cloud Computing Platform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2D3DB3-B59D-4E6F-98E4-F1169ABE03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1135943"/>
            <a:ext cx="11018520" cy="1107996"/>
          </a:xfrm>
        </p:spPr>
        <p:txBody>
          <a:bodyPr/>
          <a:lstStyle/>
          <a:p>
            <a:pPr marL="0" indent="0">
              <a:buNone/>
            </a:pPr>
            <a:r>
              <a:rPr lang="en-US" sz="36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Accessing the Platform - </a:t>
            </a:r>
            <a:r>
              <a:rPr lang="en-US" sz="3600" dirty="0"/>
              <a:t>AWS Command Line Interface (CLI)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19ADA68-4134-463C-81BA-49F061104C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200" y="3159616"/>
            <a:ext cx="11018520" cy="21605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932742">
              <a:spcBef>
                <a:spcPct val="20000"/>
              </a:spcBef>
              <a:buSzPct val="90000"/>
              <a:buFont typeface="Wingdings" panose="05000000000000000000" pitchFamily="2" charset="2"/>
              <a:buNone/>
            </a:pPr>
            <a:r>
              <a:rPr lang="es-ES" altLang="es-ES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rPr>
              <a:t>The AWS Command Line Interface (AWS CLI) uses a </a:t>
            </a:r>
            <a:r>
              <a:rPr lang="es-ES" altLang="es-ES" dirty="0" err="1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rPr>
              <a:t>multipart</a:t>
            </a:r>
            <a:r>
              <a:rPr lang="es-ES" altLang="es-ES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es-ES" altLang="es-ES" dirty="0" err="1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rPr>
              <a:t>structure</a:t>
            </a:r>
            <a:r>
              <a:rPr lang="es-ES" altLang="es-ES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rPr>
              <a:t> on the </a:t>
            </a:r>
            <a:r>
              <a:rPr lang="es-ES" altLang="es-ES" dirty="0" err="1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rPr>
              <a:t>command</a:t>
            </a:r>
            <a:r>
              <a:rPr lang="es-ES" altLang="es-ES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rPr>
              <a:t> line </a:t>
            </a:r>
            <a:r>
              <a:rPr lang="es-ES" altLang="es-ES" dirty="0" err="1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rPr>
              <a:t>that</a:t>
            </a:r>
            <a:r>
              <a:rPr lang="es-ES" altLang="es-ES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es-ES" altLang="es-ES" dirty="0" err="1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rPr>
              <a:t>must</a:t>
            </a:r>
            <a:r>
              <a:rPr lang="es-ES" altLang="es-ES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rPr>
              <a:t> be </a:t>
            </a:r>
            <a:r>
              <a:rPr lang="es-ES" altLang="es-ES" dirty="0" err="1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rPr>
              <a:t>specified</a:t>
            </a:r>
            <a:r>
              <a:rPr lang="es-ES" altLang="es-ES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rPr>
              <a:t> in this </a:t>
            </a:r>
            <a:r>
              <a:rPr lang="es-ES" altLang="es-ES" dirty="0" err="1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rPr>
              <a:t>order</a:t>
            </a:r>
            <a:r>
              <a:rPr lang="es-ES" altLang="es-ES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rPr>
              <a:t>:</a:t>
            </a:r>
          </a:p>
          <a:p>
            <a:pPr marL="342900" indent="-342900" defTabSz="932742">
              <a:spcBef>
                <a:spcPct val="20000"/>
              </a:spcBef>
              <a:buSzPct val="90000"/>
              <a:buFont typeface="+mj-lt"/>
              <a:buAutoNum type="arabicPeriod"/>
            </a:pPr>
            <a:r>
              <a:rPr lang="es-ES" altLang="es-ES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rPr>
              <a:t>The base </a:t>
            </a:r>
            <a:r>
              <a:rPr lang="es-ES" altLang="es-ES" dirty="0" err="1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rPr>
              <a:t>call</a:t>
            </a:r>
            <a:r>
              <a:rPr lang="es-ES" altLang="es-ES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rPr>
              <a:t> to the </a:t>
            </a:r>
            <a:r>
              <a:rPr lang="es-ES" altLang="es-ES" dirty="0" err="1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rPr>
              <a:t>aws</a:t>
            </a:r>
            <a:r>
              <a:rPr lang="es-ES" altLang="es-ES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rPr>
              <a:t> </a:t>
            </a:r>
            <a:r>
              <a:rPr lang="es-ES" altLang="es-ES" dirty="0" err="1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rPr>
              <a:t>program</a:t>
            </a:r>
            <a:r>
              <a:rPr lang="es-ES" altLang="es-ES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rPr>
              <a:t>.</a:t>
            </a:r>
          </a:p>
          <a:p>
            <a:pPr marL="342900" indent="-342900" defTabSz="932742">
              <a:spcBef>
                <a:spcPct val="20000"/>
              </a:spcBef>
              <a:buSzPct val="90000"/>
              <a:buFont typeface="+mj-lt"/>
              <a:buAutoNum type="arabicPeriod"/>
            </a:pPr>
            <a:r>
              <a:rPr lang="es-ES" altLang="es-ES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rPr>
              <a:t>The top-</a:t>
            </a:r>
            <a:r>
              <a:rPr lang="es-ES" altLang="es-ES" dirty="0" err="1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rPr>
              <a:t>level</a:t>
            </a:r>
            <a:r>
              <a:rPr lang="es-ES" altLang="es-ES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rPr>
              <a:t> </a:t>
            </a:r>
            <a:r>
              <a:rPr lang="es-ES" altLang="es-ES" dirty="0" err="1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rPr>
              <a:t>command</a:t>
            </a:r>
            <a:r>
              <a:rPr lang="es-ES" altLang="es-ES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rPr>
              <a:t>, </a:t>
            </a:r>
            <a:r>
              <a:rPr lang="es-ES" altLang="es-ES" dirty="0" err="1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rPr>
              <a:t>which</a:t>
            </a:r>
            <a:r>
              <a:rPr lang="es-ES" altLang="es-ES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es-ES" altLang="es-ES" dirty="0" err="1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rPr>
              <a:t>typically</a:t>
            </a:r>
            <a:r>
              <a:rPr lang="es-ES" altLang="es-ES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es-ES" altLang="es-ES" dirty="0" err="1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rPr>
              <a:t>corresponds</a:t>
            </a:r>
            <a:r>
              <a:rPr lang="es-ES" altLang="es-ES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rPr>
              <a:t> to </a:t>
            </a:r>
            <a:r>
              <a:rPr lang="es-ES" altLang="es-ES" dirty="0" err="1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rPr>
              <a:t>an</a:t>
            </a:r>
            <a:r>
              <a:rPr lang="es-ES" altLang="es-ES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rPr>
              <a:t> AWS </a:t>
            </a:r>
            <a:r>
              <a:rPr lang="es-ES" altLang="es-ES" dirty="0" err="1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rPr>
              <a:t>service</a:t>
            </a:r>
            <a:r>
              <a:rPr lang="es-ES" altLang="es-ES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es-ES" altLang="es-ES" dirty="0" err="1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rPr>
              <a:t>supported</a:t>
            </a:r>
            <a:r>
              <a:rPr lang="es-ES" altLang="es-ES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es-ES" altLang="es-ES" dirty="0" err="1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rPr>
              <a:t>by</a:t>
            </a:r>
            <a:r>
              <a:rPr lang="es-ES" altLang="es-ES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rPr>
              <a:t> the AWS CLI.</a:t>
            </a:r>
          </a:p>
          <a:p>
            <a:pPr marL="342900" indent="-342900" defTabSz="932742">
              <a:spcBef>
                <a:spcPct val="20000"/>
              </a:spcBef>
              <a:buSzPct val="90000"/>
              <a:buFont typeface="+mj-lt"/>
              <a:buAutoNum type="arabicPeriod"/>
            </a:pPr>
            <a:r>
              <a:rPr lang="es-ES" altLang="es-ES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rPr>
              <a:t>The </a:t>
            </a:r>
            <a:r>
              <a:rPr lang="es-ES" altLang="es-ES" dirty="0" err="1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rPr>
              <a:t>subcommand</a:t>
            </a:r>
            <a:r>
              <a:rPr lang="es-ES" altLang="es-ES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rPr>
              <a:t> </a:t>
            </a:r>
            <a:r>
              <a:rPr lang="es-ES" altLang="es-ES" dirty="0" err="1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rPr>
              <a:t>that</a:t>
            </a:r>
            <a:r>
              <a:rPr lang="es-ES" altLang="es-ES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es-ES" altLang="es-ES" dirty="0" err="1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rPr>
              <a:t>specifies</a:t>
            </a:r>
            <a:r>
              <a:rPr lang="es-ES" altLang="es-ES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es-ES" altLang="es-ES" dirty="0" err="1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rPr>
              <a:t>which</a:t>
            </a:r>
            <a:r>
              <a:rPr lang="es-ES" altLang="es-ES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es-ES" altLang="es-ES" dirty="0" err="1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rPr>
              <a:t>operation</a:t>
            </a:r>
            <a:r>
              <a:rPr lang="es-ES" altLang="es-ES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rPr>
              <a:t> to </a:t>
            </a:r>
            <a:r>
              <a:rPr lang="es-ES" altLang="es-ES" dirty="0" err="1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rPr>
              <a:t>perform</a:t>
            </a:r>
            <a:r>
              <a:rPr lang="es-ES" altLang="es-ES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rPr>
              <a:t>.</a:t>
            </a:r>
          </a:p>
          <a:p>
            <a:pPr marL="342900" indent="-342900" defTabSz="932742">
              <a:spcBef>
                <a:spcPct val="20000"/>
              </a:spcBef>
              <a:buSzPct val="90000"/>
              <a:buFont typeface="+mj-lt"/>
              <a:buAutoNum type="arabicPeriod"/>
            </a:pPr>
            <a:r>
              <a:rPr lang="es-ES" altLang="es-ES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rPr>
              <a:t>General CLI </a:t>
            </a:r>
            <a:r>
              <a:rPr lang="es-ES" altLang="es-ES" dirty="0" err="1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rPr>
              <a:t>options</a:t>
            </a:r>
            <a:r>
              <a:rPr lang="es-ES" altLang="es-ES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es-ES" altLang="es-ES" dirty="0" err="1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rPr>
              <a:t>or</a:t>
            </a:r>
            <a:r>
              <a:rPr lang="es-ES" altLang="es-ES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es-ES" altLang="es-ES" dirty="0" err="1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rPr>
              <a:t>parameters</a:t>
            </a:r>
            <a:r>
              <a:rPr lang="es-ES" altLang="es-ES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rPr>
              <a:t> required </a:t>
            </a:r>
            <a:r>
              <a:rPr lang="es-ES" altLang="es-ES" dirty="0" err="1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rPr>
              <a:t>by</a:t>
            </a:r>
            <a:r>
              <a:rPr lang="es-ES" altLang="es-ES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rPr>
              <a:t> the </a:t>
            </a:r>
            <a:r>
              <a:rPr lang="es-ES" altLang="es-ES" dirty="0" err="1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rPr>
              <a:t>operation</a:t>
            </a:r>
            <a:r>
              <a:rPr lang="es-ES" altLang="es-ES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rPr>
              <a:t>. You can </a:t>
            </a:r>
            <a:r>
              <a:rPr lang="es-ES" altLang="es-ES" dirty="0" err="1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rPr>
              <a:t>specify</a:t>
            </a:r>
            <a:r>
              <a:rPr lang="es-ES" altLang="es-ES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es-ES" altLang="es-ES" dirty="0" err="1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rPr>
              <a:t>these</a:t>
            </a:r>
            <a:r>
              <a:rPr lang="es-ES" altLang="es-ES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rPr>
              <a:t> in </a:t>
            </a:r>
            <a:r>
              <a:rPr lang="es-ES" altLang="es-ES" dirty="0" err="1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rPr>
              <a:t>any</a:t>
            </a:r>
            <a:r>
              <a:rPr lang="es-ES" altLang="es-ES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es-ES" altLang="es-ES" dirty="0" err="1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rPr>
              <a:t>order</a:t>
            </a:r>
            <a:r>
              <a:rPr lang="es-ES" altLang="es-ES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rPr>
              <a:t> as </a:t>
            </a:r>
            <a:r>
              <a:rPr lang="es-ES" altLang="es-ES" dirty="0" err="1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rPr>
              <a:t>long</a:t>
            </a:r>
            <a:r>
              <a:rPr lang="es-ES" altLang="es-ES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rPr>
              <a:t> as </a:t>
            </a:r>
            <a:r>
              <a:rPr lang="es-ES" altLang="es-ES" dirty="0" err="1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rPr>
              <a:t>they</a:t>
            </a:r>
            <a:r>
              <a:rPr lang="es-ES" altLang="es-ES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es-ES" altLang="es-ES" dirty="0" err="1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rPr>
              <a:t>follow</a:t>
            </a:r>
            <a:r>
              <a:rPr lang="es-ES" altLang="es-ES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rPr>
              <a:t> the </a:t>
            </a:r>
            <a:r>
              <a:rPr lang="es-ES" altLang="es-ES" dirty="0" err="1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rPr>
              <a:t>first</a:t>
            </a:r>
            <a:r>
              <a:rPr lang="es-ES" altLang="es-ES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es-ES" altLang="es-ES" dirty="0" err="1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rPr>
              <a:t>three</a:t>
            </a:r>
            <a:r>
              <a:rPr lang="es-ES" altLang="es-ES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rPr>
              <a:t> </a:t>
            </a:r>
            <a:r>
              <a:rPr lang="es-ES" altLang="es-ES" dirty="0" err="1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rPr>
              <a:t>parts</a:t>
            </a:r>
            <a:r>
              <a:rPr lang="es-ES" altLang="es-ES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cs typeface="Segoe UI Semilight" panose="020B0402040204020203" pitchFamily="34" charset="0"/>
              </a:rPr>
              <a:t>. 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7719CF9-FA0C-4D98-BFA8-80B126AD6E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7219" y="5429740"/>
            <a:ext cx="6864795" cy="494625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AE55DA8-7C3E-40A0-A874-9C7EDB0CC6C1}"/>
              </a:ext>
            </a:extLst>
          </p:cNvPr>
          <p:cNvSpPr txBox="1">
            <a:spLocks/>
          </p:cNvSpPr>
          <p:nvPr/>
        </p:nvSpPr>
        <p:spPr>
          <a:xfrm>
            <a:off x="584200" y="5998072"/>
            <a:ext cx="11018520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2000" i="1" dirty="0"/>
              <a:t>Open this link </a:t>
            </a:r>
            <a:r>
              <a:rPr lang="es-ES" sz="2000" i="1" dirty="0">
                <a:hlinkClick r:id="rId3"/>
              </a:rPr>
              <a:t>https://docs.aws.amazon.com/cli/latest/index.html</a:t>
            </a:r>
            <a:r>
              <a:rPr lang="es-ES" sz="2000" i="1" dirty="0"/>
              <a:t> </a:t>
            </a:r>
            <a:r>
              <a:rPr lang="en-US" sz="2000" i="1" dirty="0"/>
              <a:t>to get furthermore information regarding AWS CLI 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84A4DB8-52EE-4120-93EA-592D982EF8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6210" y="2199893"/>
            <a:ext cx="9334500" cy="84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323449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AWS Cloud Computing Platform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2D3DB3-B59D-4E6F-98E4-F1169ABE03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1135943"/>
            <a:ext cx="11018520" cy="553998"/>
          </a:xfrm>
        </p:spPr>
        <p:txBody>
          <a:bodyPr/>
          <a:lstStyle/>
          <a:p>
            <a:pPr marL="0" indent="0">
              <a:buNone/>
            </a:pPr>
            <a:r>
              <a:rPr lang="en-US" sz="36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Compute and Networking Services</a:t>
            </a:r>
          </a:p>
        </p:txBody>
      </p:sp>
      <p:pic>
        <p:nvPicPr>
          <p:cNvPr id="2050" name="Picture 2" descr="FIGURE 1.3 Auto scaling capacity">
            <a:extLst>
              <a:ext uri="{FF2B5EF4-FFF2-40B4-BE49-F238E27FC236}">
                <a16:creationId xmlns:a16="http://schemas.microsoft.com/office/drawing/2014/main" id="{5E464C71-5ED7-42A3-83FB-80FF51295A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3460" y="2845796"/>
            <a:ext cx="5171091" cy="3248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B58CD2E9-2CEE-4A25-A686-F06CB553FB88}"/>
              </a:ext>
            </a:extLst>
          </p:cNvPr>
          <p:cNvSpPr txBox="1">
            <a:spLocks/>
          </p:cNvSpPr>
          <p:nvPr/>
        </p:nvSpPr>
        <p:spPr>
          <a:xfrm>
            <a:off x="568434" y="1919260"/>
            <a:ext cx="11018520" cy="4050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2800" dirty="0"/>
              <a:t>Amazon Elastic Compute Cloud (Amazon EC2)</a:t>
            </a:r>
          </a:p>
          <a:p>
            <a:pPr lvl="1"/>
            <a:r>
              <a:rPr lang="en-US" sz="2800" dirty="0"/>
              <a:t>AWS Lambda</a:t>
            </a:r>
          </a:p>
          <a:p>
            <a:pPr lvl="1"/>
            <a:r>
              <a:rPr lang="en-US" sz="2800" dirty="0"/>
              <a:t>Auto Scaling</a:t>
            </a:r>
          </a:p>
          <a:p>
            <a:pPr lvl="1"/>
            <a:r>
              <a:rPr lang="en-US" sz="2800" dirty="0"/>
              <a:t>Elastic Load Balancing</a:t>
            </a:r>
          </a:p>
          <a:p>
            <a:pPr lvl="1"/>
            <a:r>
              <a:rPr lang="en-US" sz="2800" dirty="0"/>
              <a:t>AWS Elastic Beanstalk</a:t>
            </a:r>
          </a:p>
          <a:p>
            <a:pPr lvl="1"/>
            <a:r>
              <a:rPr lang="pt-BR" sz="2800" dirty="0" err="1"/>
              <a:t>Amazon</a:t>
            </a:r>
            <a:r>
              <a:rPr lang="pt-BR" sz="2800" dirty="0"/>
              <a:t> Virtual Private Cloud</a:t>
            </a:r>
          </a:p>
          <a:p>
            <a:pPr lvl="1"/>
            <a:r>
              <a:rPr lang="en-US" sz="2800" dirty="0"/>
              <a:t>AWS Direct Connect</a:t>
            </a:r>
          </a:p>
          <a:p>
            <a:pPr lvl="1"/>
            <a:r>
              <a:rPr lang="en-US" sz="2800" dirty="0"/>
              <a:t>Amazon Route 53</a:t>
            </a:r>
          </a:p>
        </p:txBody>
      </p:sp>
    </p:spTree>
    <p:extLst>
      <p:ext uri="{BB962C8B-B14F-4D97-AF65-F5344CB8AC3E}">
        <p14:creationId xmlns:p14="http://schemas.microsoft.com/office/powerpoint/2010/main" val="3638009118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AWS Cloud Computing Platform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2D3DB3-B59D-4E6F-98E4-F1169ABE03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1135943"/>
            <a:ext cx="11018520" cy="553998"/>
          </a:xfrm>
        </p:spPr>
        <p:txBody>
          <a:bodyPr/>
          <a:lstStyle/>
          <a:p>
            <a:pPr marL="0" indent="0">
              <a:buNone/>
            </a:pPr>
            <a:r>
              <a:rPr lang="en-US" sz="3600" dirty="0"/>
              <a:t>Storage and Content Delivery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97EEA82-F380-45E9-AF6B-8C8676FF6D7F}"/>
              </a:ext>
            </a:extLst>
          </p:cNvPr>
          <p:cNvSpPr txBox="1">
            <a:spLocks/>
          </p:cNvSpPr>
          <p:nvPr/>
        </p:nvSpPr>
        <p:spPr>
          <a:xfrm>
            <a:off x="783896" y="1959850"/>
            <a:ext cx="11018520" cy="24991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Amazon Simple Storage Service (Amazon S3)</a:t>
            </a:r>
          </a:p>
          <a:p>
            <a:r>
              <a:rPr lang="en-US" dirty="0"/>
              <a:t>Amazon Glacier</a:t>
            </a:r>
          </a:p>
          <a:p>
            <a:r>
              <a:rPr lang="sv-SE" dirty="0"/>
              <a:t>Amazon Elastic Block Store (Amazon EBS)</a:t>
            </a:r>
          </a:p>
          <a:p>
            <a:r>
              <a:rPr lang="en-US" dirty="0"/>
              <a:t>AWS Storage Gateway</a:t>
            </a:r>
          </a:p>
          <a:p>
            <a:r>
              <a:rPr lang="en-US" dirty="0"/>
              <a:t>Amazon CloudFront</a:t>
            </a:r>
          </a:p>
        </p:txBody>
      </p:sp>
    </p:spTree>
    <p:extLst>
      <p:ext uri="{BB962C8B-B14F-4D97-AF65-F5344CB8AC3E}">
        <p14:creationId xmlns:p14="http://schemas.microsoft.com/office/powerpoint/2010/main" val="2213010477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AWS Cloud Computing Platform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2D3DB3-B59D-4E6F-98E4-F1169ABE03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1135943"/>
            <a:ext cx="11018520" cy="553998"/>
          </a:xfrm>
        </p:spPr>
        <p:txBody>
          <a:bodyPr/>
          <a:lstStyle/>
          <a:p>
            <a:pPr marL="0" indent="0">
              <a:buNone/>
            </a:pPr>
            <a:r>
              <a:rPr lang="en-US" sz="3600" dirty="0"/>
              <a:t>Database Services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97EEA82-F380-45E9-AF6B-8C8676FF6D7F}"/>
              </a:ext>
            </a:extLst>
          </p:cNvPr>
          <p:cNvSpPr txBox="1">
            <a:spLocks/>
          </p:cNvSpPr>
          <p:nvPr/>
        </p:nvSpPr>
        <p:spPr>
          <a:xfrm>
            <a:off x="783896" y="1959850"/>
            <a:ext cx="11018520" cy="24991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Amazon Relational Database Service (Amazon RDS)</a:t>
            </a:r>
          </a:p>
          <a:p>
            <a:r>
              <a:rPr lang="en-US" dirty="0"/>
              <a:t>Amazon DynamoDB</a:t>
            </a:r>
          </a:p>
          <a:p>
            <a:r>
              <a:rPr lang="sv-SE" dirty="0"/>
              <a:t>Amazon Redshift</a:t>
            </a:r>
          </a:p>
          <a:p>
            <a:r>
              <a:rPr lang="en-US" dirty="0"/>
              <a:t>Amazon </a:t>
            </a:r>
            <a:r>
              <a:rPr lang="en-US" dirty="0" err="1"/>
              <a:t>ElastiCache</a:t>
            </a:r>
            <a:endParaRPr lang="en-US" dirty="0"/>
          </a:p>
          <a:p>
            <a:r>
              <a:rPr lang="en-US" dirty="0"/>
              <a:t>Amazon CloudFront</a:t>
            </a:r>
          </a:p>
        </p:txBody>
      </p:sp>
    </p:spTree>
    <p:extLst>
      <p:ext uri="{BB962C8B-B14F-4D97-AF65-F5344CB8AC3E}">
        <p14:creationId xmlns:p14="http://schemas.microsoft.com/office/powerpoint/2010/main" val="1274948137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AWS Cloud Computing Platform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2D3DB3-B59D-4E6F-98E4-F1169ABE03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1135943"/>
            <a:ext cx="11018520" cy="553998"/>
          </a:xfrm>
        </p:spPr>
        <p:txBody>
          <a:bodyPr/>
          <a:lstStyle/>
          <a:p>
            <a:pPr marL="0" indent="0">
              <a:buNone/>
            </a:pPr>
            <a:r>
              <a:rPr lang="en-US" sz="3600" dirty="0"/>
              <a:t>Management Tools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97EEA82-F380-45E9-AF6B-8C8676FF6D7F}"/>
              </a:ext>
            </a:extLst>
          </p:cNvPr>
          <p:cNvSpPr txBox="1">
            <a:spLocks/>
          </p:cNvSpPr>
          <p:nvPr/>
        </p:nvSpPr>
        <p:spPr>
          <a:xfrm>
            <a:off x="783896" y="1959850"/>
            <a:ext cx="11018520" cy="19820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Amazon CloudWatch</a:t>
            </a:r>
          </a:p>
          <a:p>
            <a:r>
              <a:rPr lang="en-US" dirty="0"/>
              <a:t>AWS CloudFormation</a:t>
            </a:r>
          </a:p>
          <a:p>
            <a:r>
              <a:rPr lang="sv-SE" dirty="0"/>
              <a:t>AWS CloudTrail</a:t>
            </a:r>
          </a:p>
          <a:p>
            <a:r>
              <a:rPr lang="en-US" dirty="0"/>
              <a:t>AWS Config</a:t>
            </a:r>
          </a:p>
        </p:txBody>
      </p:sp>
      <p:pic>
        <p:nvPicPr>
          <p:cNvPr id="4098" name="Picture 2" descr="FIGURE 1.4 AWS CloudFormation workflow summary">
            <a:extLst>
              <a:ext uri="{FF2B5EF4-FFF2-40B4-BE49-F238E27FC236}">
                <a16:creationId xmlns:a16="http://schemas.microsoft.com/office/drawing/2014/main" id="{BC9AF223-CA24-479F-BD76-060E6518C5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2037" y="3254795"/>
            <a:ext cx="7053011" cy="2467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0947515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AWS Cloud Computing Platform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2D3DB3-B59D-4E6F-98E4-F1169ABE03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1135943"/>
            <a:ext cx="11018520" cy="553998"/>
          </a:xfrm>
        </p:spPr>
        <p:txBody>
          <a:bodyPr/>
          <a:lstStyle/>
          <a:p>
            <a:pPr marL="0" indent="0">
              <a:buNone/>
            </a:pPr>
            <a:r>
              <a:rPr lang="en-US" sz="3600" dirty="0"/>
              <a:t>Security and Identity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97EEA82-F380-45E9-AF6B-8C8676FF6D7F}"/>
              </a:ext>
            </a:extLst>
          </p:cNvPr>
          <p:cNvSpPr txBox="1">
            <a:spLocks/>
          </p:cNvSpPr>
          <p:nvPr/>
        </p:nvSpPr>
        <p:spPr>
          <a:xfrm>
            <a:off x="783896" y="1959850"/>
            <a:ext cx="11018520" cy="24991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AWS Identity and Access Management (IAM)</a:t>
            </a:r>
          </a:p>
          <a:p>
            <a:r>
              <a:rPr lang="en-US" dirty="0"/>
              <a:t>AWS Key Management Service (KMS)</a:t>
            </a:r>
          </a:p>
          <a:p>
            <a:r>
              <a:rPr lang="sv-SE" dirty="0"/>
              <a:t>AWS Directory Service</a:t>
            </a:r>
          </a:p>
          <a:p>
            <a:r>
              <a:rPr lang="en-US" dirty="0"/>
              <a:t>AWS Certificate Manager</a:t>
            </a:r>
          </a:p>
          <a:p>
            <a:r>
              <a:rPr lang="en-US" dirty="0"/>
              <a:t>AWS Web Application Firewall (WAF)</a:t>
            </a:r>
          </a:p>
        </p:txBody>
      </p:sp>
    </p:spTree>
    <p:extLst>
      <p:ext uri="{BB962C8B-B14F-4D97-AF65-F5344CB8AC3E}">
        <p14:creationId xmlns:p14="http://schemas.microsoft.com/office/powerpoint/2010/main" val="2434284296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AWS Cloud Computing Platform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2D3DB3-B59D-4E6F-98E4-F1169ABE03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1135943"/>
            <a:ext cx="11018520" cy="553998"/>
          </a:xfrm>
        </p:spPr>
        <p:txBody>
          <a:bodyPr/>
          <a:lstStyle/>
          <a:p>
            <a:pPr marL="0" indent="0">
              <a:buNone/>
            </a:pPr>
            <a:r>
              <a:rPr lang="en-US" sz="3600" dirty="0"/>
              <a:t>Application Services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97EEA82-F380-45E9-AF6B-8C8676FF6D7F}"/>
              </a:ext>
            </a:extLst>
          </p:cNvPr>
          <p:cNvSpPr txBox="1">
            <a:spLocks/>
          </p:cNvSpPr>
          <p:nvPr/>
        </p:nvSpPr>
        <p:spPr>
          <a:xfrm>
            <a:off x="783896" y="1959850"/>
            <a:ext cx="11018520" cy="3016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Amazon API Gateway</a:t>
            </a:r>
          </a:p>
          <a:p>
            <a:r>
              <a:rPr lang="en-US" dirty="0"/>
              <a:t>Amazon Elastic Transcoder</a:t>
            </a:r>
          </a:p>
          <a:p>
            <a:r>
              <a:rPr lang="sv-SE" dirty="0"/>
              <a:t>Amazon Simple Notification Service (Amazon SNS)</a:t>
            </a:r>
          </a:p>
          <a:p>
            <a:r>
              <a:rPr lang="fr-FR" dirty="0"/>
              <a:t>Amazon Simple Email Service (Amazon SES)</a:t>
            </a:r>
            <a:endParaRPr lang="en-US" dirty="0"/>
          </a:p>
          <a:p>
            <a:r>
              <a:rPr lang="en-US" dirty="0"/>
              <a:t>Amazon Simple Workflow Service (Amazon SWF)</a:t>
            </a:r>
          </a:p>
          <a:p>
            <a:r>
              <a:rPr lang="en-US" dirty="0"/>
              <a:t>Amazon Simple Queue Service (Amazon SQS)</a:t>
            </a:r>
          </a:p>
        </p:txBody>
      </p:sp>
    </p:spTree>
    <p:extLst>
      <p:ext uri="{BB962C8B-B14F-4D97-AF65-F5344CB8AC3E}">
        <p14:creationId xmlns:p14="http://schemas.microsoft.com/office/powerpoint/2010/main" val="1680753951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863AA4-A22B-4817-B977-60BCCF6C9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16" y="3035808"/>
            <a:ext cx="10764656" cy="553998"/>
          </a:xfrm>
        </p:spPr>
        <p:txBody>
          <a:bodyPr/>
          <a:lstStyle/>
          <a:p>
            <a:r>
              <a:rPr lang="en-US" dirty="0"/>
              <a:t>Lab Module 1</a:t>
            </a:r>
          </a:p>
        </p:txBody>
      </p:sp>
      <p:pic>
        <p:nvPicPr>
          <p:cNvPr id="2052" name="Picture 4" descr="AWS (Amazon Web Services): El Cloud Computing del presente ...">
            <a:extLst>
              <a:ext uri="{FF2B5EF4-FFF2-40B4-BE49-F238E27FC236}">
                <a16:creationId xmlns:a16="http://schemas.microsoft.com/office/drawing/2014/main" id="{57E1B657-D466-432E-9C07-8E4351E76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5807" y="4541774"/>
            <a:ext cx="4876800" cy="178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7561226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WHITE TEMPLATE">
  <a:themeElements>
    <a:clrScheme name="ST_Illustration_White_Blue">
      <a:dk1>
        <a:srgbClr val="1A1A1A"/>
      </a:dk1>
      <a:lt1>
        <a:srgbClr val="FFFFFF"/>
      </a:lt1>
      <a:dk2>
        <a:srgbClr val="0D0D0D"/>
      </a:dk2>
      <a:lt2>
        <a:srgbClr val="D2D2D2"/>
      </a:lt2>
      <a:accent1>
        <a:srgbClr val="0078D4"/>
      </a:accent1>
      <a:accent2>
        <a:srgbClr val="002050"/>
      </a:accent2>
      <a:accent3>
        <a:srgbClr val="107C10"/>
      </a:accent3>
      <a:accent4>
        <a:srgbClr val="D73B01"/>
      </a:accent4>
      <a:accent5>
        <a:srgbClr val="737373"/>
      </a:accent5>
      <a:accent6>
        <a:srgbClr val="E6E6E6"/>
      </a:accent6>
      <a:hlink>
        <a:srgbClr val="0078D4"/>
      </a:hlink>
      <a:folHlink>
        <a:srgbClr val="0078D4"/>
      </a:folHlink>
    </a:clrScheme>
    <a:fontScheme name="Segoe UI Semibold - Segoe UI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16-9_Illustration_2018_Cloud_011.potx" id="{762B47AA-A827-4F63-8EDD-1F6B4767BB62}" vid="{53DB83EF-4F78-4F48-A301-01610C79C1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460</Words>
  <Application>Microsoft Office PowerPoint</Application>
  <PresentationFormat>Panorámica</PresentationFormat>
  <Paragraphs>94</Paragraphs>
  <Slides>19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7" baseType="lpstr">
      <vt:lpstr>Arial</vt:lpstr>
      <vt:lpstr>Calibri</vt:lpstr>
      <vt:lpstr>Consolas</vt:lpstr>
      <vt:lpstr>Segoe UI</vt:lpstr>
      <vt:lpstr>Segoe UI Semibold</vt:lpstr>
      <vt:lpstr>Segoe UI Semilight</vt:lpstr>
      <vt:lpstr>Wingdings</vt:lpstr>
      <vt:lpstr>WHITE TEMPLATE</vt:lpstr>
      <vt:lpstr>Presentación de PowerPoint</vt:lpstr>
      <vt:lpstr>Module Overview</vt:lpstr>
      <vt:lpstr>Lesson 01: What is Cloud Computing</vt:lpstr>
      <vt:lpstr>What is Cloud Computing?</vt:lpstr>
      <vt:lpstr>What is Cloud Computing?</vt:lpstr>
      <vt:lpstr>What is Cloud Computing?</vt:lpstr>
      <vt:lpstr>Lesson 02: AWS Fundamentals</vt:lpstr>
      <vt:lpstr>AWS Fundamentals</vt:lpstr>
      <vt:lpstr>Lesson 03: AWS Cloud Computing Platform</vt:lpstr>
      <vt:lpstr>AWS Cloud Computing Platform</vt:lpstr>
      <vt:lpstr>AWS Cloud Computing Platform</vt:lpstr>
      <vt:lpstr>AWS Cloud Computing Platform</vt:lpstr>
      <vt:lpstr>AWS Cloud Computing Platform</vt:lpstr>
      <vt:lpstr>AWS Cloud Computing Platform</vt:lpstr>
      <vt:lpstr>AWS Cloud Computing Platform</vt:lpstr>
      <vt:lpstr>AWS Cloud Computing Platform</vt:lpstr>
      <vt:lpstr>AWS Cloud Computing Platform</vt:lpstr>
      <vt:lpstr>AWS Cloud Computing Platform</vt:lpstr>
      <vt:lpstr>Lab Module 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2019-10-14T12:29:36Z</dcterms:created>
  <dcterms:modified xsi:type="dcterms:W3CDTF">2020-05-04T16:56:42Z</dcterms:modified>
</cp:coreProperties>
</file>