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4"/>
  </p:notesMasterIdLst>
  <p:sldIdLst>
    <p:sldId id="2237" r:id="rId2"/>
    <p:sldId id="2021" r:id="rId3"/>
    <p:sldId id="2253" r:id="rId4"/>
    <p:sldId id="2263" r:id="rId5"/>
    <p:sldId id="2268" r:id="rId6"/>
    <p:sldId id="2267" r:id="rId7"/>
    <p:sldId id="2261" r:id="rId8"/>
    <p:sldId id="2255" r:id="rId9"/>
    <p:sldId id="2262" r:id="rId10"/>
    <p:sldId id="2258" r:id="rId11"/>
    <p:sldId id="2259" r:id="rId12"/>
    <p:sldId id="2269" r:id="rId13"/>
    <p:sldId id="2270" r:id="rId14"/>
    <p:sldId id="2264" r:id="rId15"/>
    <p:sldId id="2260" r:id="rId16"/>
    <p:sldId id="2271" r:id="rId17"/>
    <p:sldId id="2274" r:id="rId18"/>
    <p:sldId id="2265" r:id="rId19"/>
    <p:sldId id="2266" r:id="rId20"/>
    <p:sldId id="2273" r:id="rId21"/>
    <p:sldId id="2272" r:id="rId22"/>
    <p:sldId id="223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72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9/25/2021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mazonS3/latest/dev/BucketRestrictions.html#bucketnamingrule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general/latest/gr/rande.html#s3_regi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8" y="2576928"/>
            <a:ext cx="364401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Module 2:</a:t>
            </a:r>
          </a:p>
          <a:p>
            <a:r>
              <a:rPr lang="es-ES" sz="3600" b="1" dirty="0">
                <a:latin typeface="+mj-lt"/>
              </a:rPr>
              <a:t>Amazon Storage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3213187"/>
          </a:xfrm>
        </p:spPr>
        <p:txBody>
          <a:bodyPr/>
          <a:lstStyle/>
          <a:p>
            <a:r>
              <a:rPr lang="en-US" sz="3600" dirty="0"/>
              <a:t>Object Storage, Traditional Block and File Storage</a:t>
            </a:r>
          </a:p>
          <a:p>
            <a:r>
              <a:rPr lang="en-US" sz="3600" dirty="0"/>
              <a:t>Storage Services Core</a:t>
            </a:r>
          </a:p>
          <a:p>
            <a:r>
              <a:rPr lang="en-US" sz="3600" dirty="0"/>
              <a:t>Amazon Simple Storage Service (Amazon S3)</a:t>
            </a:r>
          </a:p>
          <a:p>
            <a:r>
              <a:rPr lang="en-US" sz="3600" dirty="0"/>
              <a:t>Buckets</a:t>
            </a:r>
          </a:p>
          <a:p>
            <a:r>
              <a:rPr lang="en-US" sz="3600" dirty="0"/>
              <a:t>Amazon Glacier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01: Object Storage, Traditional Block and File Storage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Storage, Traditional Block and File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5072158"/>
          </a:xfrm>
        </p:spPr>
        <p:txBody>
          <a:bodyPr/>
          <a:lstStyle/>
          <a:p>
            <a:r>
              <a:rPr lang="en-US" sz="3200" dirty="0"/>
              <a:t>Object Storage</a:t>
            </a:r>
          </a:p>
          <a:p>
            <a:pPr lvl="1"/>
            <a:r>
              <a:rPr lang="en-US" sz="2400" dirty="0"/>
              <a:t>Objects reside in containers called Buckets</a:t>
            </a:r>
          </a:p>
          <a:p>
            <a:pPr lvl="1"/>
            <a:r>
              <a:rPr lang="en-US" sz="2400" dirty="0"/>
              <a:t>Objects are independent of a server and is accessed over the Internet</a:t>
            </a:r>
          </a:p>
          <a:p>
            <a:pPr lvl="1"/>
            <a:r>
              <a:rPr lang="en-US" sz="2400" dirty="0"/>
              <a:t>Each object is identified by a unique user-specified key</a:t>
            </a:r>
          </a:p>
          <a:p>
            <a:pPr lvl="1"/>
            <a:r>
              <a:rPr lang="en-US" sz="2400" dirty="0"/>
              <a:t>Objects are organized on a simple flat folder with no file system hierarchy</a:t>
            </a:r>
          </a:p>
          <a:p>
            <a:pPr lvl="1"/>
            <a:r>
              <a:rPr lang="en-US" sz="2400" dirty="0"/>
              <a:t>Designed for unstructured data such as media, documents, logs, backups, application binaries and VM images</a:t>
            </a:r>
          </a:p>
          <a:p>
            <a:pPr lvl="1"/>
            <a:r>
              <a:rPr lang="en-US" sz="2400" dirty="0"/>
              <a:t>Data is managed as objects using an Application Program Interface (API) built on standard HTTP verbs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5B6F77-E3E7-4C50-BC53-1ACC9CE7B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045" y="2157007"/>
            <a:ext cx="19526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826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Storage, Traditional Block and File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7913413" cy="3816429"/>
          </a:xfrm>
        </p:spPr>
        <p:txBody>
          <a:bodyPr/>
          <a:lstStyle/>
          <a:p>
            <a:r>
              <a:rPr lang="en-US" sz="3200" dirty="0"/>
              <a:t>Block Storage</a:t>
            </a:r>
          </a:p>
          <a:p>
            <a:pPr lvl="1"/>
            <a:r>
              <a:rPr lang="en-US" sz="2400" dirty="0"/>
              <a:t>Operates at a lower level (HW Level)</a:t>
            </a:r>
          </a:p>
          <a:p>
            <a:pPr lvl="1"/>
            <a:r>
              <a:rPr lang="en-US" sz="2400" dirty="0"/>
              <a:t>Manages data as a fixed-size blocks</a:t>
            </a:r>
          </a:p>
          <a:p>
            <a:pPr lvl="1"/>
            <a:r>
              <a:rPr lang="en-US" sz="2400" dirty="0"/>
              <a:t>Often accessed over a network </a:t>
            </a:r>
          </a:p>
          <a:p>
            <a:pPr lvl="1"/>
            <a:r>
              <a:rPr lang="en-US" sz="2400" dirty="0"/>
              <a:t>A client machine connects to a specific volume on the storage service and formats it as if it were a local block device</a:t>
            </a:r>
          </a:p>
          <a:p>
            <a:pPr lvl="1"/>
            <a:r>
              <a:rPr lang="en-US" sz="2400" dirty="0"/>
              <a:t>Block devices are usually exported over Fibre Channel, iSCSI or </a:t>
            </a:r>
            <a:r>
              <a:rPr lang="en-US" sz="2400" dirty="0" err="1"/>
              <a:t>AoE</a:t>
            </a:r>
            <a:r>
              <a:rPr lang="en-US" sz="2400" dirty="0"/>
              <a:t> (ATA over Ethernet)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2AA996-AA22-4DCF-8A3D-A5A96324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9" y="2266322"/>
            <a:ext cx="19621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673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Storage, Traditional Block and File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7188200" cy="4998291"/>
          </a:xfrm>
        </p:spPr>
        <p:txBody>
          <a:bodyPr/>
          <a:lstStyle/>
          <a:p>
            <a:r>
              <a:rPr lang="en-US" sz="3200" dirty="0"/>
              <a:t>File Storage</a:t>
            </a:r>
          </a:p>
          <a:p>
            <a:pPr lvl="1"/>
            <a:r>
              <a:rPr lang="en-US" sz="2400" dirty="0"/>
              <a:t>Operates at a higher level (OS Level)</a:t>
            </a:r>
          </a:p>
          <a:p>
            <a:pPr lvl="1"/>
            <a:r>
              <a:rPr lang="en-US" sz="2400" dirty="0"/>
              <a:t>Manages data as a named hierarchy of files and folders</a:t>
            </a:r>
          </a:p>
          <a:p>
            <a:pPr lvl="1"/>
            <a:r>
              <a:rPr lang="en-US" sz="2400" dirty="0"/>
              <a:t>Data is managed by protocols such as Common Internet File System (CIFS), NTFS or Network File System (NFS)</a:t>
            </a:r>
          </a:p>
          <a:p>
            <a:pPr lvl="1"/>
            <a:r>
              <a:rPr lang="en-US" sz="2400" dirty="0"/>
              <a:t>Offers to multiple clients the ability to access information through single shared folder</a:t>
            </a:r>
          </a:p>
          <a:p>
            <a:pPr lvl="1"/>
            <a:r>
              <a:rPr lang="en-US" sz="2400" dirty="0"/>
              <a:t>Storage is very closely associated with the server and the operating system that is using the storage.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268DEB-DE90-478E-8C1B-0E6D2967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02" y="1961537"/>
            <a:ext cx="20574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5208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Storage Services Core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00130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Services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6899166" cy="1625060"/>
          </a:xfrm>
        </p:spPr>
        <p:txBody>
          <a:bodyPr/>
          <a:lstStyle/>
          <a:p>
            <a:r>
              <a:rPr lang="en-US" sz="3600" dirty="0"/>
              <a:t>Amazon Simple Storage Service (Amazon S3)</a:t>
            </a:r>
          </a:p>
          <a:p>
            <a:pPr lvl="1"/>
            <a:r>
              <a:rPr lang="en-US" sz="2800" dirty="0"/>
              <a:t>Buckets</a:t>
            </a:r>
          </a:p>
        </p:txBody>
      </p:sp>
      <p:pic>
        <p:nvPicPr>
          <p:cNvPr id="1026" name="Picture 2" descr="Introducción a Amazon S3 – Aprender BIG DATA desde cero">
            <a:extLst>
              <a:ext uri="{FF2B5EF4-FFF2-40B4-BE49-F238E27FC236}">
                <a16:creationId xmlns:a16="http://schemas.microsoft.com/office/drawing/2014/main" id="{ABAE82D0-D4C8-4CDD-A836-683E1CE02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460" y="2128321"/>
            <a:ext cx="1901389" cy="142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8A60E8A8-4EB8-4314-A46C-11D5F562C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2220" y="4191674"/>
            <a:ext cx="2260374" cy="1300167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F8E6EFF-B9C2-47B6-9938-3BA19C94B914}"/>
              </a:ext>
            </a:extLst>
          </p:cNvPr>
          <p:cNvSpPr txBox="1">
            <a:spLocks/>
          </p:cNvSpPr>
          <p:nvPr/>
        </p:nvSpPr>
        <p:spPr>
          <a:xfrm>
            <a:off x="741855" y="4694042"/>
            <a:ext cx="689916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Amazon Glacier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0C39866-D93C-4F40-9B76-FD1649977F09}"/>
              </a:ext>
            </a:extLst>
          </p:cNvPr>
          <p:cNvGrpSpPr/>
          <p:nvPr/>
        </p:nvGrpSpPr>
        <p:grpSpPr>
          <a:xfrm>
            <a:off x="5336423" y="1951799"/>
            <a:ext cx="1812896" cy="1573955"/>
            <a:chOff x="8413532" y="2157784"/>
            <a:chExt cx="1135943" cy="1138179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98C42A5-61AE-413A-9487-970FC2916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3532" y="2157784"/>
              <a:ext cx="1135943" cy="1135943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72CF4112-920D-4990-81B1-50C2C53C3B09}"/>
                </a:ext>
              </a:extLst>
            </p:cNvPr>
            <p:cNvSpPr txBox="1"/>
            <p:nvPr/>
          </p:nvSpPr>
          <p:spPr>
            <a:xfrm>
              <a:off x="8666701" y="3028887"/>
              <a:ext cx="629228" cy="2670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s-ES" sz="24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Bucket</a:t>
              </a:r>
              <a:endPara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endParaRPr>
            </a:p>
          </p:txBody>
        </p:sp>
      </p:grp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160E5B9B-38E4-474D-AD76-B7F37AABF1A3}"/>
              </a:ext>
            </a:extLst>
          </p:cNvPr>
          <p:cNvSpPr/>
          <p:nvPr/>
        </p:nvSpPr>
        <p:spPr bwMode="auto">
          <a:xfrm>
            <a:off x="7031422" y="2543676"/>
            <a:ext cx="1392621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Contains</a:t>
            </a:r>
            <a:endParaRPr lang="es-E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1772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03: Amazon Simple Storage Service (Amazon S3)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40694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Simple Storage Service (Amazon S3)</a:t>
            </a:r>
          </a:p>
        </p:txBody>
      </p:sp>
      <p:pic>
        <p:nvPicPr>
          <p:cNvPr id="1026" name="Picture 2" descr="Introducción a Amazon S3 – Aprender BIG DATA desde cero">
            <a:extLst>
              <a:ext uri="{FF2B5EF4-FFF2-40B4-BE49-F238E27FC236}">
                <a16:creationId xmlns:a16="http://schemas.microsoft.com/office/drawing/2014/main" id="{ABAE82D0-D4C8-4CDD-A836-683E1CE02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2682387"/>
            <a:ext cx="2831803" cy="212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4308872"/>
          </a:xfrm>
        </p:spPr>
        <p:txBody>
          <a:bodyPr/>
          <a:lstStyle/>
          <a:p>
            <a:r>
              <a:rPr lang="en-US" dirty="0"/>
              <a:t>Backup and archive for on-premises or cloud data</a:t>
            </a:r>
          </a:p>
          <a:p>
            <a:r>
              <a:rPr lang="en-US" dirty="0"/>
              <a:t>Content, media, and software storage and distribution</a:t>
            </a:r>
          </a:p>
          <a:p>
            <a:r>
              <a:rPr lang="en-US" dirty="0"/>
              <a:t>Big data analytics</a:t>
            </a:r>
          </a:p>
          <a:p>
            <a:r>
              <a:rPr lang="en-US" dirty="0"/>
              <a:t>Static website hosting</a:t>
            </a:r>
          </a:p>
          <a:p>
            <a:r>
              <a:rPr lang="en-US" dirty="0"/>
              <a:t>Cloud-native mobile and Internet application hosting</a:t>
            </a:r>
          </a:p>
          <a:p>
            <a:r>
              <a:rPr lang="en-US" dirty="0"/>
              <a:t>Disaster recovery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3231931" y="3358471"/>
            <a:ext cx="1450428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Uses</a:t>
            </a:r>
          </a:p>
        </p:txBody>
      </p:sp>
    </p:spTree>
    <p:extLst>
      <p:ext uri="{BB962C8B-B14F-4D97-AF65-F5344CB8AC3E}">
        <p14:creationId xmlns:p14="http://schemas.microsoft.com/office/powerpoint/2010/main" val="20852401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ción a Amazon S3 – Aprender BIG DATA desde cero">
            <a:extLst>
              <a:ext uri="{FF2B5EF4-FFF2-40B4-BE49-F238E27FC236}">
                <a16:creationId xmlns:a16="http://schemas.microsoft.com/office/drawing/2014/main" id="{ABAE82D0-D4C8-4CDD-A836-683E1CE02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2682387"/>
            <a:ext cx="2831803" cy="212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3877985"/>
          </a:xfrm>
        </p:spPr>
        <p:txBody>
          <a:bodyPr/>
          <a:lstStyle/>
          <a:p>
            <a:r>
              <a:rPr lang="en-US" dirty="0"/>
              <a:t>Amazon Kinesis</a:t>
            </a:r>
          </a:p>
          <a:p>
            <a:r>
              <a:rPr lang="en-US" dirty="0"/>
              <a:t>Amazon Elastic MapReduce (Amazon EMR)</a:t>
            </a:r>
          </a:p>
          <a:p>
            <a:r>
              <a:rPr lang="en-US" dirty="0"/>
              <a:t>Amazon Elastic Block Store (Amazon EBS)</a:t>
            </a:r>
          </a:p>
          <a:p>
            <a:r>
              <a:rPr lang="en-US" dirty="0"/>
              <a:t>Amazon Relational Database Service (Amazon RDS)</a:t>
            </a:r>
          </a:p>
          <a:p>
            <a:r>
              <a:rPr lang="en-US" dirty="0"/>
              <a:t>Amazon Redshift</a:t>
            </a:r>
          </a:p>
          <a:p>
            <a:r>
              <a:rPr lang="en-US" dirty="0"/>
              <a:t>DynamoDB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95448" y="3358471"/>
            <a:ext cx="1686911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Integration</a:t>
            </a:r>
            <a:endParaRPr lang="es-E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83B418-6DE4-4334-9B07-D55FE37E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Simple Storage Service (Amazon S3)</a:t>
            </a:r>
          </a:p>
        </p:txBody>
      </p:sp>
    </p:spTree>
    <p:extLst>
      <p:ext uri="{BB962C8B-B14F-4D97-AF65-F5344CB8AC3E}">
        <p14:creationId xmlns:p14="http://schemas.microsoft.com/office/powerpoint/2010/main" val="117004750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ción a Amazon S3 – Aprender BIG DATA desde cero">
            <a:extLst>
              <a:ext uri="{FF2B5EF4-FFF2-40B4-BE49-F238E27FC236}">
                <a16:creationId xmlns:a16="http://schemas.microsoft.com/office/drawing/2014/main" id="{ABAE82D0-D4C8-4CDD-A836-683E1CE02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2682387"/>
            <a:ext cx="2831803" cy="212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5084469"/>
          </a:xfrm>
        </p:spPr>
        <p:txBody>
          <a:bodyPr/>
          <a:lstStyle/>
          <a:p>
            <a:r>
              <a:rPr lang="en-US" dirty="0"/>
              <a:t>Prefixes and Delimiters</a:t>
            </a:r>
          </a:p>
          <a:p>
            <a:r>
              <a:rPr lang="en-US" dirty="0"/>
              <a:t>Storage Classes</a:t>
            </a:r>
          </a:p>
          <a:p>
            <a:r>
              <a:rPr lang="en-US" dirty="0"/>
              <a:t>Object Lifecycle Management</a:t>
            </a:r>
          </a:p>
          <a:p>
            <a:pPr lvl="1"/>
            <a:r>
              <a:rPr lang="en-US" dirty="0"/>
              <a:t>Store backup data initially in Amazon S3 Standard.</a:t>
            </a:r>
          </a:p>
          <a:p>
            <a:pPr lvl="1"/>
            <a:r>
              <a:rPr lang="en-US" dirty="0"/>
              <a:t>After 30 days, transition to Amazon Standard-IA.</a:t>
            </a:r>
          </a:p>
          <a:p>
            <a:pPr lvl="1"/>
            <a:r>
              <a:rPr lang="en-US" dirty="0"/>
              <a:t>After 90 days, transition to Amazon Glacier.</a:t>
            </a:r>
          </a:p>
          <a:p>
            <a:r>
              <a:rPr lang="en-US" dirty="0"/>
              <a:t>Encryption</a:t>
            </a:r>
          </a:p>
          <a:p>
            <a:pPr lvl="1"/>
            <a:r>
              <a:rPr lang="en-US" dirty="0"/>
              <a:t>SSE-S3 (AWS-Managed Keys)</a:t>
            </a:r>
          </a:p>
          <a:p>
            <a:pPr lvl="1"/>
            <a:r>
              <a:rPr lang="en-US" dirty="0"/>
              <a:t>SSE-KMS (AWS KMS Keys)</a:t>
            </a:r>
          </a:p>
          <a:p>
            <a:pPr lvl="1"/>
            <a:r>
              <a:rPr lang="en-US" dirty="0"/>
              <a:t>SSE-C (Customer-Provided Keys)</a:t>
            </a:r>
          </a:p>
          <a:p>
            <a:pPr lvl="1"/>
            <a:r>
              <a:rPr lang="en-US" dirty="0"/>
              <a:t>Client-Side Encryption</a:t>
            </a:r>
          </a:p>
          <a:p>
            <a:r>
              <a:rPr lang="en-US" dirty="0"/>
              <a:t>Versioning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95448" y="3358470"/>
            <a:ext cx="1686911" cy="7405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Advanced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Features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E552AE-01C0-41A4-9987-003D1479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Simple Storage Service (Amazon S3)</a:t>
            </a:r>
          </a:p>
        </p:txBody>
      </p:sp>
    </p:spTree>
    <p:extLst>
      <p:ext uri="{BB962C8B-B14F-4D97-AF65-F5344CB8AC3E}">
        <p14:creationId xmlns:p14="http://schemas.microsoft.com/office/powerpoint/2010/main" val="154054041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ción a Amazon S3 – Aprender BIG DATA desde cero">
            <a:extLst>
              <a:ext uri="{FF2B5EF4-FFF2-40B4-BE49-F238E27FC236}">
                <a16:creationId xmlns:a16="http://schemas.microsoft.com/office/drawing/2014/main" id="{ABAE82D0-D4C8-4CDD-A836-683E1CE02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2682387"/>
            <a:ext cx="2831803" cy="212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3533275"/>
          </a:xfrm>
        </p:spPr>
        <p:txBody>
          <a:bodyPr/>
          <a:lstStyle/>
          <a:p>
            <a:r>
              <a:rPr lang="en-US" dirty="0"/>
              <a:t>MFA Delete</a:t>
            </a:r>
          </a:p>
          <a:p>
            <a:r>
              <a:rPr lang="en-US" dirty="0"/>
              <a:t>Pre-Signed URLs</a:t>
            </a:r>
          </a:p>
          <a:p>
            <a:r>
              <a:rPr lang="en-US" dirty="0"/>
              <a:t>Multipart Upload</a:t>
            </a:r>
          </a:p>
          <a:p>
            <a:r>
              <a:rPr lang="en-US" dirty="0"/>
              <a:t>Range GETs</a:t>
            </a:r>
          </a:p>
          <a:p>
            <a:r>
              <a:rPr lang="en-US" dirty="0"/>
              <a:t>Cross-Region Replication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Event Notifications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95448" y="3358470"/>
            <a:ext cx="1686911" cy="7405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Advanced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Features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212E4C-6614-4ECF-BD65-B250D962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Simple Storage Service (Amazon S3)</a:t>
            </a:r>
          </a:p>
        </p:txBody>
      </p:sp>
    </p:spTree>
    <p:extLst>
      <p:ext uri="{BB962C8B-B14F-4D97-AF65-F5344CB8AC3E}">
        <p14:creationId xmlns:p14="http://schemas.microsoft.com/office/powerpoint/2010/main" val="427230293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Bucket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63305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Bucket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4567404"/>
          </a:xfrm>
        </p:spPr>
        <p:txBody>
          <a:bodyPr/>
          <a:lstStyle/>
          <a:p>
            <a:r>
              <a:rPr lang="en-US" dirty="0"/>
              <a:t>Every Amazon S3 object is contained in a bucket</a:t>
            </a:r>
          </a:p>
          <a:p>
            <a:r>
              <a:rPr lang="en-US" dirty="0"/>
              <a:t>Form the top-level namespace for Amazon S3</a:t>
            </a:r>
          </a:p>
          <a:p>
            <a:r>
              <a:rPr lang="en-US" dirty="0"/>
              <a:t>Bucket names must be unique across all AWS accounts, it can contain up to 63 lowercase letters, numbers, hyphens, and periods</a:t>
            </a:r>
          </a:p>
          <a:p>
            <a:r>
              <a:rPr lang="en-US" dirty="0"/>
              <a:t>Bucket performance depends on AWS region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885090" y="3358471"/>
            <a:ext cx="1797269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Features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9EEB6E-1C67-458C-BC0F-06CEFAAF1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39" y="2635286"/>
            <a:ext cx="2000367" cy="20003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152A9A-284B-490A-92BA-D714BB62BDC4}"/>
              </a:ext>
            </a:extLst>
          </p:cNvPr>
          <p:cNvSpPr txBox="1"/>
          <p:nvPr/>
        </p:nvSpPr>
        <p:spPr>
          <a:xfrm>
            <a:off x="1492090" y="4204766"/>
            <a:ext cx="109818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8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rPr>
              <a:t>Bucket</a:t>
            </a:r>
            <a:endParaRPr lang="es-ES" sz="24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10F614-310A-4009-8A56-4497E07C5261}"/>
              </a:ext>
            </a:extLst>
          </p:cNvPr>
          <p:cNvSpPr txBox="1"/>
          <p:nvPr/>
        </p:nvSpPr>
        <p:spPr>
          <a:xfrm>
            <a:off x="1046439" y="6205133"/>
            <a:ext cx="10757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16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Open this link </a:t>
            </a:r>
            <a:r>
              <a:rPr lang="es-ES" sz="1600" dirty="0">
                <a:hlinkClick r:id="rId3"/>
              </a:rPr>
              <a:t>https://docs.aws.amazon.com/AmazonS3/latest/dev/BucketRestrictions.html#bucketnamingrules</a:t>
            </a:r>
            <a:r>
              <a:rPr lang="es-ES" sz="1600" dirty="0"/>
              <a:t> to </a:t>
            </a:r>
            <a:r>
              <a:rPr lang="es-ES" sz="1600" dirty="0" err="1"/>
              <a:t>get</a:t>
            </a:r>
            <a:r>
              <a:rPr lang="es-ES" sz="1600" dirty="0"/>
              <a:t> Bucket Naming rules</a:t>
            </a:r>
            <a:endParaRPr lang="es-E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6659097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Bucket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5457" y="2385896"/>
            <a:ext cx="6573345" cy="2499146"/>
          </a:xfrm>
        </p:spPr>
        <p:txBody>
          <a:bodyPr/>
          <a:lstStyle/>
          <a:p>
            <a:r>
              <a:rPr lang="en-US" dirty="0"/>
              <a:t>AWS Region</a:t>
            </a:r>
          </a:p>
          <a:p>
            <a:r>
              <a:rPr lang="en-US" dirty="0"/>
              <a:t>Objects</a:t>
            </a:r>
          </a:p>
          <a:p>
            <a:r>
              <a:rPr lang="en-US" dirty="0"/>
              <a:t>Keys</a:t>
            </a:r>
          </a:p>
          <a:p>
            <a:r>
              <a:rPr lang="en-US" dirty="0"/>
              <a:t>Object URL</a:t>
            </a:r>
          </a:p>
          <a:p>
            <a:r>
              <a:rPr lang="en-US" dirty="0"/>
              <a:t>Amazon S3 Operations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885090" y="3358471"/>
            <a:ext cx="1797269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Components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9EEB6E-1C67-458C-BC0F-06CEFAAF1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39" y="2635286"/>
            <a:ext cx="2000367" cy="20003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152A9A-284B-490A-92BA-D714BB62BDC4}"/>
              </a:ext>
            </a:extLst>
          </p:cNvPr>
          <p:cNvSpPr txBox="1"/>
          <p:nvPr/>
        </p:nvSpPr>
        <p:spPr>
          <a:xfrm>
            <a:off x="1492090" y="4204766"/>
            <a:ext cx="109818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8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rPr>
              <a:t>Bucket</a:t>
            </a:r>
            <a:endParaRPr lang="es-ES" sz="24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360295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Bucket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5457" y="2385896"/>
            <a:ext cx="6573345" cy="2499146"/>
          </a:xfrm>
        </p:spPr>
        <p:txBody>
          <a:bodyPr/>
          <a:lstStyle/>
          <a:p>
            <a:r>
              <a:rPr lang="en-US" dirty="0"/>
              <a:t>REST Interface</a:t>
            </a:r>
          </a:p>
          <a:p>
            <a:r>
              <a:rPr lang="en-US" dirty="0"/>
              <a:t>Durability and Availability</a:t>
            </a:r>
          </a:p>
          <a:p>
            <a:r>
              <a:rPr lang="en-US" dirty="0"/>
              <a:t>Data Consistency</a:t>
            </a:r>
          </a:p>
          <a:p>
            <a:r>
              <a:rPr lang="en-US" dirty="0"/>
              <a:t>Access Control</a:t>
            </a:r>
          </a:p>
          <a:p>
            <a:r>
              <a:rPr lang="en-US" dirty="0"/>
              <a:t>Static Website Hosting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885090" y="3358471"/>
            <a:ext cx="1797269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Components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9EEB6E-1C67-458C-BC0F-06CEFAAF1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39" y="2635286"/>
            <a:ext cx="2000367" cy="20003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152A9A-284B-490A-92BA-D714BB62BDC4}"/>
              </a:ext>
            </a:extLst>
          </p:cNvPr>
          <p:cNvSpPr txBox="1"/>
          <p:nvPr/>
        </p:nvSpPr>
        <p:spPr>
          <a:xfrm>
            <a:off x="1492090" y="4204766"/>
            <a:ext cx="109818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8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rPr>
              <a:t>Bucket</a:t>
            </a:r>
            <a:endParaRPr lang="es-ES" sz="24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69A7BC-BD6B-4BA2-865F-9FEA338D4575}"/>
              </a:ext>
            </a:extLst>
          </p:cNvPr>
          <p:cNvSpPr txBox="1"/>
          <p:nvPr/>
        </p:nvSpPr>
        <p:spPr>
          <a:xfrm>
            <a:off x="1046439" y="6205133"/>
            <a:ext cx="1075742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16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Open this link </a:t>
            </a:r>
            <a:r>
              <a:rPr lang="es-ES" sz="1600" dirty="0">
                <a:hlinkClick r:id="rId3"/>
              </a:rPr>
              <a:t>https://docs.aws.amazon.com/general/latest/gr/rande.html#s3_region</a:t>
            </a:r>
            <a:r>
              <a:rPr lang="es-ES" sz="1600" dirty="0"/>
              <a:t> to </a:t>
            </a:r>
            <a:r>
              <a:rPr lang="es-ES" sz="1600" dirty="0" err="1"/>
              <a:t>get</a:t>
            </a:r>
            <a:r>
              <a:rPr lang="es-ES" sz="1600" dirty="0"/>
              <a:t> a </a:t>
            </a:r>
            <a:r>
              <a:rPr lang="es-ES" sz="1600" dirty="0" err="1"/>
              <a:t>list</a:t>
            </a:r>
            <a:r>
              <a:rPr lang="es-ES" sz="1600" dirty="0"/>
              <a:t> </a:t>
            </a:r>
            <a:r>
              <a:rPr lang="es-ES" sz="1600" dirty="0" err="1"/>
              <a:t>regarding</a:t>
            </a:r>
            <a:r>
              <a:rPr lang="es-ES" sz="1600" dirty="0"/>
              <a:t> AWS </a:t>
            </a:r>
            <a:r>
              <a:rPr lang="es-ES" sz="1600"/>
              <a:t>regions</a:t>
            </a:r>
            <a:endParaRPr lang="es-ES" sz="16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80486286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05: Amazon Glacier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54693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Glacier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4825937"/>
          </a:xfrm>
        </p:spPr>
        <p:txBody>
          <a:bodyPr/>
          <a:lstStyle/>
          <a:p>
            <a:r>
              <a:rPr lang="en-US" dirty="0"/>
              <a:t>Optimized for data archiving and long-term backup at extremely low cost</a:t>
            </a:r>
          </a:p>
          <a:p>
            <a:r>
              <a:rPr lang="en-US" dirty="0"/>
              <a:t>Data that is rarely accessed</a:t>
            </a:r>
          </a:p>
          <a:p>
            <a:r>
              <a:rPr lang="en-US" dirty="0"/>
              <a:t>Replacement of traditional tape solutions</a:t>
            </a:r>
          </a:p>
          <a:p>
            <a:r>
              <a:rPr lang="en-US" dirty="0"/>
              <a:t>Static website hosting</a:t>
            </a:r>
          </a:p>
          <a:p>
            <a:r>
              <a:rPr lang="en-US" dirty="0"/>
              <a:t>Cloud-native mobile and Internet application hosting</a:t>
            </a:r>
          </a:p>
          <a:p>
            <a:r>
              <a:rPr lang="en-US" dirty="0"/>
              <a:t>Can store an unlimited amount of virtually any kind of data, in any format</a:t>
            </a:r>
          </a:p>
          <a:p>
            <a:r>
              <a:rPr lang="en-US" dirty="0"/>
              <a:t>Disaster recovery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48152" y="3358471"/>
            <a:ext cx="1734207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Features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B2256B2-A526-4817-A983-127590896DBD}"/>
              </a:ext>
            </a:extLst>
          </p:cNvPr>
          <p:cNvGrpSpPr/>
          <p:nvPr/>
        </p:nvGrpSpPr>
        <p:grpSpPr>
          <a:xfrm>
            <a:off x="122019" y="2694516"/>
            <a:ext cx="3501159" cy="2197364"/>
            <a:chOff x="122019" y="2694516"/>
            <a:chExt cx="3501159" cy="2197364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E7B7B58E-E273-4CB7-A9E6-76D29F50F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019" y="2694516"/>
              <a:ext cx="3501159" cy="201386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85DD4E9E-0300-45B2-BCC5-0A10AD5E09AB}"/>
                </a:ext>
              </a:extLst>
            </p:cNvPr>
            <p:cNvSpPr txBox="1"/>
            <p:nvPr/>
          </p:nvSpPr>
          <p:spPr>
            <a:xfrm>
              <a:off x="714703" y="4460993"/>
              <a:ext cx="254076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Amazon</a:t>
              </a:r>
              <a:r>
                <a:rPr lang="es-ES" sz="24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 </a:t>
              </a:r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Glacier</a:t>
              </a:r>
              <a:endParaRPr lang="es-ES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11316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Glacier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1545846"/>
            <a:ext cx="6573345" cy="4222694"/>
          </a:xfrm>
        </p:spPr>
        <p:txBody>
          <a:bodyPr/>
          <a:lstStyle/>
          <a:p>
            <a:r>
              <a:rPr lang="en-US" dirty="0"/>
              <a:t>Can be used as a standalone service or as a storage class in Amazon S3</a:t>
            </a:r>
          </a:p>
          <a:p>
            <a:r>
              <a:rPr lang="en-US" dirty="0"/>
              <a:t>Supports 40TB archives</a:t>
            </a:r>
          </a:p>
          <a:p>
            <a:r>
              <a:rPr lang="en-US" dirty="0"/>
              <a:t>Archives in Amazon Glacier are identified by system-generated archive IDs</a:t>
            </a:r>
          </a:p>
          <a:p>
            <a:r>
              <a:rPr lang="en-US" dirty="0"/>
              <a:t>Archives are automatically encrypted</a:t>
            </a:r>
          </a:p>
          <a:p>
            <a:r>
              <a:rPr lang="en-US" dirty="0"/>
              <a:t>You can have up to 1,000 vaults, and each vault can store an unlimited number of archives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48152" y="3358471"/>
            <a:ext cx="1734207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Features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B2256B2-A526-4817-A983-127590896DBD}"/>
              </a:ext>
            </a:extLst>
          </p:cNvPr>
          <p:cNvGrpSpPr/>
          <p:nvPr/>
        </p:nvGrpSpPr>
        <p:grpSpPr>
          <a:xfrm>
            <a:off x="122019" y="2694516"/>
            <a:ext cx="3501159" cy="2197364"/>
            <a:chOff x="122019" y="2694516"/>
            <a:chExt cx="3501159" cy="2197364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E7B7B58E-E273-4CB7-A9E6-76D29F50F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019" y="2694516"/>
              <a:ext cx="3501159" cy="201386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85DD4E9E-0300-45B2-BCC5-0A10AD5E09AB}"/>
                </a:ext>
              </a:extLst>
            </p:cNvPr>
            <p:cNvSpPr txBox="1"/>
            <p:nvPr/>
          </p:nvSpPr>
          <p:spPr>
            <a:xfrm>
              <a:off x="714703" y="4460993"/>
              <a:ext cx="254076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Amazon</a:t>
              </a:r>
              <a:r>
                <a:rPr lang="es-ES" sz="24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 </a:t>
              </a:r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Glacier</a:t>
              </a:r>
              <a:endParaRPr lang="es-ES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283249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Glacier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EB31C8-7CFC-42EA-B3BB-8B028777B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952" y="2665202"/>
            <a:ext cx="6573345" cy="1982081"/>
          </a:xfrm>
        </p:spPr>
        <p:txBody>
          <a:bodyPr/>
          <a:lstStyle/>
          <a:p>
            <a:r>
              <a:rPr lang="en-US" dirty="0"/>
              <a:t>Archives</a:t>
            </a:r>
          </a:p>
          <a:p>
            <a:r>
              <a:rPr lang="en-US" dirty="0"/>
              <a:t>Vaults</a:t>
            </a:r>
          </a:p>
          <a:p>
            <a:r>
              <a:rPr lang="en-US" dirty="0"/>
              <a:t>Vaults Locks</a:t>
            </a:r>
          </a:p>
          <a:p>
            <a:r>
              <a:rPr lang="en-US" dirty="0"/>
              <a:t>Data Retrieval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5823EED-BB4C-47F4-8A23-B4323E515D62}"/>
              </a:ext>
            </a:extLst>
          </p:cNvPr>
          <p:cNvSpPr/>
          <p:nvPr/>
        </p:nvSpPr>
        <p:spPr bwMode="auto">
          <a:xfrm>
            <a:off x="2948152" y="3358471"/>
            <a:ext cx="1734207" cy="55399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egoe UI" pitchFamily="34" charset="0"/>
                <a:cs typeface="Segoe UI" pitchFamily="34" charset="0"/>
              </a:rPr>
              <a:t>Components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B2256B2-A526-4817-A983-127590896DBD}"/>
              </a:ext>
            </a:extLst>
          </p:cNvPr>
          <p:cNvGrpSpPr/>
          <p:nvPr/>
        </p:nvGrpSpPr>
        <p:grpSpPr>
          <a:xfrm>
            <a:off x="122019" y="2694516"/>
            <a:ext cx="3501159" cy="2197364"/>
            <a:chOff x="122019" y="2694516"/>
            <a:chExt cx="3501159" cy="2197364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E7B7B58E-E273-4CB7-A9E6-76D29F50F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019" y="2694516"/>
              <a:ext cx="3501159" cy="201386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85DD4E9E-0300-45B2-BCC5-0A10AD5E09AB}"/>
                </a:ext>
              </a:extLst>
            </p:cNvPr>
            <p:cNvSpPr txBox="1"/>
            <p:nvPr/>
          </p:nvSpPr>
          <p:spPr>
            <a:xfrm>
              <a:off x="714703" y="4460993"/>
              <a:ext cx="254076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Amazon</a:t>
              </a:r>
              <a:r>
                <a:rPr lang="es-ES" sz="24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 </a:t>
              </a:r>
              <a:r>
                <a:rPr lang="es-ES" sz="2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  <a:latin typeface="+mj-lt"/>
                </a:rPr>
                <a:t>Glacier</a:t>
              </a:r>
              <a:endParaRPr lang="es-ES" sz="24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43923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2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5612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Panorámica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Object Storage, Traditional Block and File Storage</vt:lpstr>
      <vt:lpstr>Object Storage, Traditional Block and File Storage</vt:lpstr>
      <vt:lpstr>Object Storage, Traditional Block and File Storage</vt:lpstr>
      <vt:lpstr>Object Storage, Traditional Block and File Storage</vt:lpstr>
      <vt:lpstr>Lesson 02: Storage Services Core</vt:lpstr>
      <vt:lpstr>Storage Services Core</vt:lpstr>
      <vt:lpstr>Lesson 03: Amazon Simple Storage Service (Amazon S3)</vt:lpstr>
      <vt:lpstr>Amazon Simple Storage Service (Amazon S3)</vt:lpstr>
      <vt:lpstr>Amazon Simple Storage Service (Amazon S3)</vt:lpstr>
      <vt:lpstr>Amazon Simple Storage Service (Amazon S3)</vt:lpstr>
      <vt:lpstr>Amazon Simple Storage Service (Amazon S3)</vt:lpstr>
      <vt:lpstr>Lesson 04: Bucket</vt:lpstr>
      <vt:lpstr>Bucket</vt:lpstr>
      <vt:lpstr>Bucket</vt:lpstr>
      <vt:lpstr>Bucket</vt:lpstr>
      <vt:lpstr>Lesson 05: Amazon Glacier</vt:lpstr>
      <vt:lpstr>Amazon Glacier</vt:lpstr>
      <vt:lpstr>Amazon Glacier</vt:lpstr>
      <vt:lpstr>Amazon Glacier</vt:lpstr>
      <vt:lpstr>Lab Module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2021-09-25T09:47:41Z</dcterms:modified>
</cp:coreProperties>
</file>