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8"/>
  </p:notesMasterIdLst>
  <p:sldIdLst>
    <p:sldId id="2237" r:id="rId2"/>
    <p:sldId id="2021" r:id="rId3"/>
    <p:sldId id="2253" r:id="rId4"/>
    <p:sldId id="2267" r:id="rId5"/>
    <p:sldId id="2264" r:id="rId6"/>
    <p:sldId id="2265" r:id="rId7"/>
    <p:sldId id="2263" r:id="rId8"/>
    <p:sldId id="2266" r:id="rId9"/>
    <p:sldId id="2269" r:id="rId10"/>
    <p:sldId id="2270" r:id="rId11"/>
    <p:sldId id="2261" r:id="rId12"/>
    <p:sldId id="2255" r:id="rId13"/>
    <p:sldId id="2271" r:id="rId14"/>
    <p:sldId id="2272" r:id="rId15"/>
    <p:sldId id="2273" r:id="rId16"/>
    <p:sldId id="223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82657" autoAdjust="0"/>
  </p:normalViewPr>
  <p:slideViewPr>
    <p:cSldViewPr snapToGrid="0">
      <p:cViewPr varScale="1">
        <p:scale>
          <a:sx n="57" d="100"/>
          <a:sy n="57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8" y="2576928"/>
            <a:ext cx="53869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Module 3:</a:t>
            </a:r>
          </a:p>
          <a:p>
            <a:r>
              <a:rPr lang="es-ES" sz="3600" b="1" dirty="0">
                <a:latin typeface="+mj-lt"/>
              </a:rPr>
              <a:t>Amazon </a:t>
            </a:r>
            <a:r>
              <a:rPr lang="es-ES" sz="3600" b="1" dirty="0" err="1">
                <a:latin typeface="+mj-lt"/>
              </a:rPr>
              <a:t>Elastic</a:t>
            </a:r>
            <a:r>
              <a:rPr lang="es-ES" sz="3600" b="1" dirty="0">
                <a:latin typeface="+mj-lt"/>
              </a:rPr>
              <a:t> Compute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1218795"/>
          </a:xfrm>
        </p:spPr>
        <p:txBody>
          <a:bodyPr/>
          <a:lstStyle/>
          <a:p>
            <a:r>
              <a:rPr lang="en-US" sz="3600" dirty="0"/>
              <a:t>Amazon Elastic Compute Cloud (Amazon EC2)</a:t>
            </a:r>
          </a:p>
          <a:p>
            <a:r>
              <a:rPr lang="sv-SE" sz="3600" dirty="0"/>
              <a:t>Amazon Elastic Block Store (Amazon EBS)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01: Amazon Elastic Compute Cloud (Amazon EC2)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3213187"/>
          </a:xfrm>
        </p:spPr>
        <p:txBody>
          <a:bodyPr/>
          <a:lstStyle/>
          <a:p>
            <a:r>
              <a:rPr lang="en-US" sz="3600" dirty="0"/>
              <a:t>Compute Basics</a:t>
            </a:r>
          </a:p>
          <a:p>
            <a:r>
              <a:rPr lang="en-US" sz="3600" dirty="0"/>
              <a:t>Securely Using an Instance</a:t>
            </a:r>
          </a:p>
          <a:p>
            <a:r>
              <a:rPr lang="en-US" sz="3600" dirty="0"/>
              <a:t>The Lifecycle of Instances</a:t>
            </a:r>
          </a:p>
          <a:p>
            <a:r>
              <a:rPr lang="en-US" sz="3600" dirty="0"/>
              <a:t>Options</a:t>
            </a:r>
          </a:p>
          <a:p>
            <a:r>
              <a:rPr lang="en-US" sz="3600" dirty="0"/>
              <a:t>Instance Stores</a:t>
            </a:r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7993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5133713"/>
          </a:xfrm>
        </p:spPr>
        <p:txBody>
          <a:bodyPr/>
          <a:lstStyle/>
          <a:p>
            <a:r>
              <a:rPr lang="en-US" sz="3600" dirty="0"/>
              <a:t>Compute Basics</a:t>
            </a:r>
          </a:p>
          <a:p>
            <a:pPr lvl="1"/>
            <a:r>
              <a:rPr lang="en-US" sz="2800" dirty="0"/>
              <a:t>Instance Types</a:t>
            </a:r>
          </a:p>
          <a:p>
            <a:pPr lvl="2"/>
            <a:r>
              <a:rPr lang="en-US" sz="2400" dirty="0"/>
              <a:t>Virtual CPUs (vCPUs)</a:t>
            </a:r>
          </a:p>
          <a:p>
            <a:pPr lvl="2"/>
            <a:r>
              <a:rPr lang="en-US" sz="2400" dirty="0"/>
              <a:t>Memory</a:t>
            </a:r>
          </a:p>
          <a:p>
            <a:pPr lvl="2"/>
            <a:r>
              <a:rPr lang="en-US" sz="2400" dirty="0"/>
              <a:t>Storage (size and type)</a:t>
            </a:r>
          </a:p>
          <a:p>
            <a:pPr lvl="2"/>
            <a:r>
              <a:rPr lang="en-US" sz="2400" dirty="0"/>
              <a:t>Network performance</a:t>
            </a:r>
          </a:p>
          <a:p>
            <a:pPr lvl="1"/>
            <a:r>
              <a:rPr lang="en-US" sz="2800" dirty="0"/>
              <a:t>Instance Families</a:t>
            </a:r>
          </a:p>
          <a:p>
            <a:pPr lvl="2"/>
            <a:r>
              <a:rPr lang="en-US" sz="2400" dirty="0"/>
              <a:t>c4, Computer Optimized</a:t>
            </a:r>
          </a:p>
          <a:p>
            <a:pPr lvl="2"/>
            <a:r>
              <a:rPr lang="en-US" sz="2400" dirty="0"/>
              <a:t>r3, Memory Optimized</a:t>
            </a:r>
          </a:p>
          <a:p>
            <a:pPr lvl="2"/>
            <a:r>
              <a:rPr lang="en-US" sz="2400" dirty="0"/>
              <a:t>i2, Storage Optimized</a:t>
            </a:r>
          </a:p>
          <a:p>
            <a:pPr lvl="2"/>
            <a:r>
              <a:rPr lang="en-US" sz="2400" dirty="0"/>
              <a:t>g2, GPU based-instances</a:t>
            </a:r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33862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2843855"/>
          </a:xfrm>
        </p:spPr>
        <p:txBody>
          <a:bodyPr/>
          <a:lstStyle/>
          <a:p>
            <a:r>
              <a:rPr lang="en-US" sz="3600" dirty="0"/>
              <a:t>Compute Basics</a:t>
            </a:r>
          </a:p>
          <a:p>
            <a:pPr lvl="1"/>
            <a:r>
              <a:rPr lang="en-US" sz="2800" dirty="0"/>
              <a:t>Amazon Machine Images</a:t>
            </a:r>
          </a:p>
          <a:p>
            <a:pPr lvl="2"/>
            <a:r>
              <a:rPr lang="en-US" sz="2400" dirty="0"/>
              <a:t>Published by AWS</a:t>
            </a:r>
          </a:p>
          <a:p>
            <a:pPr lvl="2"/>
            <a:r>
              <a:rPr lang="en-US" sz="2400" dirty="0"/>
              <a:t>The AWS Marketplace</a:t>
            </a:r>
          </a:p>
          <a:p>
            <a:pPr lvl="2"/>
            <a:r>
              <a:rPr lang="en-US" sz="2400" dirty="0"/>
              <a:t>Generated from Existing Instances</a:t>
            </a:r>
          </a:p>
          <a:p>
            <a:pPr lvl="2"/>
            <a:r>
              <a:rPr lang="en-US" sz="2400" dirty="0"/>
              <a:t>Uploaded Virtual Servers</a:t>
            </a:r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207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3434786"/>
          </a:xfrm>
        </p:spPr>
        <p:txBody>
          <a:bodyPr/>
          <a:lstStyle/>
          <a:p>
            <a:r>
              <a:rPr lang="en-US" sz="3600" dirty="0"/>
              <a:t>Securely Using an Instance</a:t>
            </a:r>
          </a:p>
          <a:p>
            <a:pPr lvl="1"/>
            <a:r>
              <a:rPr lang="en-US" sz="2800" dirty="0"/>
              <a:t>Addressing an Instance</a:t>
            </a:r>
          </a:p>
          <a:p>
            <a:pPr lvl="2"/>
            <a:r>
              <a:rPr lang="en-US" sz="2400" dirty="0"/>
              <a:t>Public Domain Name System (DNS)</a:t>
            </a:r>
          </a:p>
          <a:p>
            <a:pPr lvl="2"/>
            <a:r>
              <a:rPr lang="en-US" sz="2400" dirty="0"/>
              <a:t>Public IP</a:t>
            </a:r>
          </a:p>
          <a:p>
            <a:pPr lvl="2"/>
            <a:r>
              <a:rPr lang="en-US" sz="2400" dirty="0"/>
              <a:t>Elastic IP</a:t>
            </a:r>
          </a:p>
          <a:p>
            <a:pPr lvl="1"/>
            <a:r>
              <a:rPr lang="en-US" sz="2800" dirty="0"/>
              <a:t>Initial Access</a:t>
            </a:r>
          </a:p>
          <a:p>
            <a:pPr lvl="1"/>
            <a:r>
              <a:rPr lang="en-US" sz="2800" dirty="0"/>
              <a:t>Virtual Firewall Protection</a:t>
            </a:r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6482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3656386"/>
          </a:xfrm>
        </p:spPr>
        <p:txBody>
          <a:bodyPr/>
          <a:lstStyle/>
          <a:p>
            <a:r>
              <a:rPr lang="en-US" sz="3600" dirty="0"/>
              <a:t>The Lifecycle of Instances</a:t>
            </a:r>
          </a:p>
          <a:p>
            <a:pPr lvl="1"/>
            <a:r>
              <a:rPr lang="en-US" sz="2800" dirty="0"/>
              <a:t>Launching</a:t>
            </a:r>
          </a:p>
          <a:p>
            <a:pPr lvl="1"/>
            <a:r>
              <a:rPr lang="en-US" sz="2800" dirty="0"/>
              <a:t>Managing Instances</a:t>
            </a:r>
          </a:p>
          <a:p>
            <a:pPr lvl="1"/>
            <a:r>
              <a:rPr lang="en-US" sz="2800" dirty="0"/>
              <a:t>Monitoring Instances</a:t>
            </a:r>
          </a:p>
          <a:p>
            <a:pPr lvl="1"/>
            <a:r>
              <a:rPr lang="en-US" sz="2800" dirty="0"/>
              <a:t>Modifying an Instance</a:t>
            </a:r>
          </a:p>
          <a:p>
            <a:pPr lvl="1"/>
            <a:r>
              <a:rPr lang="en-US" sz="2800" dirty="0"/>
              <a:t>Termination Protection</a:t>
            </a:r>
          </a:p>
          <a:p>
            <a:pPr lvl="1"/>
            <a:endParaRPr lang="en-US" sz="2800" dirty="0"/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98963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5207579"/>
          </a:xfrm>
        </p:spPr>
        <p:txBody>
          <a:bodyPr/>
          <a:lstStyle/>
          <a:p>
            <a:r>
              <a:rPr lang="en-US" sz="3600" dirty="0"/>
              <a:t>Options</a:t>
            </a:r>
          </a:p>
          <a:p>
            <a:pPr lvl="1"/>
            <a:r>
              <a:rPr lang="en-US" sz="2800" dirty="0"/>
              <a:t>Pricing Options</a:t>
            </a:r>
          </a:p>
          <a:p>
            <a:pPr lvl="1"/>
            <a:r>
              <a:rPr lang="en-US" sz="2800" dirty="0"/>
              <a:t>On-Demand Instances</a:t>
            </a:r>
          </a:p>
          <a:p>
            <a:pPr lvl="1"/>
            <a:r>
              <a:rPr lang="en-US" sz="2800" dirty="0"/>
              <a:t>Reserved Instances</a:t>
            </a:r>
          </a:p>
          <a:p>
            <a:pPr lvl="1"/>
            <a:r>
              <a:rPr lang="en-US" sz="2800" dirty="0"/>
              <a:t>Spot Instances</a:t>
            </a:r>
          </a:p>
          <a:p>
            <a:pPr lvl="1"/>
            <a:r>
              <a:rPr lang="en-US" sz="2800" dirty="0"/>
              <a:t>Tenancy Options</a:t>
            </a:r>
          </a:p>
          <a:p>
            <a:pPr lvl="1"/>
            <a:r>
              <a:rPr lang="en-US" sz="2800" dirty="0"/>
              <a:t>Shared Tenancy</a:t>
            </a:r>
          </a:p>
          <a:p>
            <a:pPr lvl="1"/>
            <a:r>
              <a:rPr lang="en-US" sz="2800" dirty="0"/>
              <a:t>Dedicated Instances</a:t>
            </a:r>
          </a:p>
          <a:p>
            <a:pPr lvl="1"/>
            <a:r>
              <a:rPr lang="en-US" sz="2800" dirty="0"/>
              <a:t>Dedicated Host</a:t>
            </a:r>
          </a:p>
          <a:p>
            <a:pPr lvl="1"/>
            <a:r>
              <a:rPr lang="en-US" sz="2800" dirty="0"/>
              <a:t>Placement Groups</a:t>
            </a:r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7541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Compute Cloud (Amazon EC2)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135943"/>
            <a:ext cx="8198844" cy="553998"/>
          </a:xfrm>
        </p:spPr>
        <p:txBody>
          <a:bodyPr/>
          <a:lstStyle/>
          <a:p>
            <a:r>
              <a:rPr lang="en-US" sz="3600" dirty="0"/>
              <a:t>Instance Stores</a:t>
            </a:r>
          </a:p>
        </p:txBody>
      </p:sp>
      <p:pic>
        <p:nvPicPr>
          <p:cNvPr id="1026" name="Picture 2" descr="EC2: Levantando una instancia con Amazon AWS. - benjaGarrido">
            <a:extLst>
              <a:ext uri="{FF2B5EF4-FFF2-40B4-BE49-F238E27FC236}">
                <a16:creationId xmlns:a16="http://schemas.microsoft.com/office/drawing/2014/main" id="{F324CE07-55FD-40F5-BF44-BB828077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507" y="1686911"/>
            <a:ext cx="4976493" cy="2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06686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</a:t>
            </a:r>
            <a:r>
              <a:rPr lang="sv-SE" dirty="0"/>
              <a:t>Amazon Elastic Block Store (Amazon EBS)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00130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sv-S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Block Store (Amazon EBS)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6899166" cy="2400657"/>
          </a:xfrm>
        </p:spPr>
        <p:txBody>
          <a:bodyPr/>
          <a:lstStyle/>
          <a:p>
            <a:r>
              <a:rPr lang="en-US" sz="3600" dirty="0"/>
              <a:t>Elastic Block Store Basics</a:t>
            </a:r>
          </a:p>
          <a:p>
            <a:r>
              <a:rPr lang="en-US" sz="3600" dirty="0"/>
              <a:t>Types of Amazon EBS Volumes</a:t>
            </a:r>
          </a:p>
          <a:p>
            <a:r>
              <a:rPr lang="en-US" sz="3600" dirty="0"/>
              <a:t>Protecting Data</a:t>
            </a:r>
          </a:p>
          <a:p>
            <a:endParaRPr lang="en-U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58A837-B7FD-401B-8028-56A4ED4A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008" y="1135943"/>
            <a:ext cx="33337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177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sv-S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Block Store (Amazon EBS)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6899166" cy="3287054"/>
          </a:xfrm>
        </p:spPr>
        <p:txBody>
          <a:bodyPr/>
          <a:lstStyle/>
          <a:p>
            <a:r>
              <a:rPr lang="en-US" sz="3600" dirty="0"/>
              <a:t>Elastic Block Store Basics</a:t>
            </a:r>
          </a:p>
          <a:p>
            <a:r>
              <a:rPr lang="en-US" sz="3600" dirty="0"/>
              <a:t>Types of Amazon EBS Volumes</a:t>
            </a:r>
          </a:p>
          <a:p>
            <a:pPr lvl="1"/>
            <a:r>
              <a:rPr lang="en-US" sz="2800" dirty="0"/>
              <a:t>Magnetic Volumes</a:t>
            </a:r>
          </a:p>
          <a:p>
            <a:pPr lvl="1"/>
            <a:r>
              <a:rPr lang="en-US" sz="2800" dirty="0"/>
              <a:t>General-Purpose SSD</a:t>
            </a:r>
          </a:p>
          <a:p>
            <a:pPr lvl="1"/>
            <a:r>
              <a:rPr lang="en-US" sz="2800" dirty="0"/>
              <a:t>Provisioned IOPS SSD</a:t>
            </a:r>
          </a:p>
          <a:p>
            <a:pPr lvl="1"/>
            <a:r>
              <a:rPr lang="en-US" sz="2800" dirty="0"/>
              <a:t>Amazon EBS-Optimized Instances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58A837-B7FD-401B-8028-56A4ED4A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008" y="1135943"/>
            <a:ext cx="33337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9911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sv-S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Block Store (Amazon EBS)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6899166" cy="553998"/>
          </a:xfrm>
        </p:spPr>
        <p:txBody>
          <a:bodyPr/>
          <a:lstStyle/>
          <a:p>
            <a:r>
              <a:rPr lang="en-US" sz="3600" dirty="0"/>
              <a:t>Types of Amazon EBS Volumes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7B996A9B-BF47-45A2-A5A3-18D2174FE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535981"/>
              </p:ext>
            </p:extLst>
          </p:nvPr>
        </p:nvGraphicFramePr>
        <p:xfrm>
          <a:off x="898634" y="1818640"/>
          <a:ext cx="10168760" cy="46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833">
                  <a:extLst>
                    <a:ext uri="{9D8B030D-6E8A-4147-A177-3AD203B41FA5}">
                      <a16:colId xmlns:a16="http://schemas.microsoft.com/office/drawing/2014/main" val="251941598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452000895"/>
                    </a:ext>
                  </a:extLst>
                </a:gridCol>
                <a:gridCol w="3674533">
                  <a:extLst>
                    <a:ext uri="{9D8B030D-6E8A-4147-A177-3AD203B41FA5}">
                      <a16:colId xmlns:a16="http://schemas.microsoft.com/office/drawing/2014/main" val="2197320876"/>
                    </a:ext>
                  </a:extLst>
                </a:gridCol>
                <a:gridCol w="2177394">
                  <a:extLst>
                    <a:ext uri="{9D8B030D-6E8A-4147-A177-3AD203B41FA5}">
                      <a16:colId xmlns:a16="http://schemas.microsoft.com/office/drawing/2014/main" val="6310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Characteristic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General-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SSD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Provisioned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IOPS SSD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Magnetic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02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Use cases</a:t>
                      </a: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System boot volumes</a:t>
                      </a:r>
                    </a:p>
                    <a:p>
                      <a:pPr marL="185738" indent="-185738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Virtual desktops</a:t>
                      </a:r>
                    </a:p>
                    <a:p>
                      <a:pPr marL="185738" indent="-185738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Small-to-medium sized databases</a:t>
                      </a:r>
                    </a:p>
                    <a:p>
                      <a:pPr marL="185738" indent="-185738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Development and test environments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Critical business applications that require sustained IOPS performance or more than 10,000 IOPS or 160MB of throughput per Volume</a:t>
                      </a:r>
                    </a:p>
                    <a:p>
                      <a:pPr marL="185738" indent="-185738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Large database Workloads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Cold workloads where data is infrequently Accessed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Scenarios where the lowest storage cost is important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Volume </a:t>
                      </a:r>
                      <a:r>
                        <a:rPr lang="es-ES" sz="1600" dirty="0" err="1"/>
                        <a:t>size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1 GiB–16TiB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4 GiB–16TiB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1 GiB–1TiB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s-E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Maximum</a:t>
                      </a:r>
                      <a:endParaRPr lang="es-E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32742" rtl="0" eaLnBrk="1" latinLnBrk="0" hangingPunct="1"/>
                      <a:r>
                        <a:rPr lang="es-E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throughput</a:t>
                      </a:r>
                      <a:endParaRPr lang="es-E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160MB</a:t>
                      </a: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320MB</a:t>
                      </a: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40–90MB</a:t>
                      </a:r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7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IOPS</a:t>
                      </a:r>
                    </a:p>
                    <a:p>
                      <a:r>
                        <a:rPr lang="es-ES" sz="16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Baseline performance of 3</a:t>
                      </a:r>
                    </a:p>
                    <a:p>
                      <a:r>
                        <a:rPr lang="en-US" sz="1600" dirty="0"/>
                        <a:t>IOPS/</a:t>
                      </a:r>
                      <a:r>
                        <a:rPr lang="en-US" sz="1600" dirty="0" err="1"/>
                        <a:t>GiB</a:t>
                      </a:r>
                      <a:r>
                        <a:rPr lang="en-US" sz="1600" dirty="0"/>
                        <a:t> (up to 10,000</a:t>
                      </a:r>
                    </a:p>
                    <a:p>
                      <a:r>
                        <a:rPr lang="en-US" sz="1600" dirty="0"/>
                        <a:t>IOPS) with the ability to</a:t>
                      </a:r>
                    </a:p>
                    <a:p>
                      <a:r>
                        <a:rPr lang="en-US" sz="1600" dirty="0"/>
                        <a:t>burst to 3,000 IOPS for</a:t>
                      </a:r>
                    </a:p>
                    <a:p>
                      <a:r>
                        <a:rPr lang="en-US" sz="1600" dirty="0"/>
                        <a:t>volumes under 1,000 </a:t>
                      </a:r>
                      <a:r>
                        <a:rPr lang="en-US" sz="1600" dirty="0" err="1"/>
                        <a:t>GiB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Consistently performs at</a:t>
                      </a:r>
                    </a:p>
                    <a:p>
                      <a:r>
                        <a:rPr lang="en-US" sz="1600" dirty="0"/>
                        <a:t>provisioned level, up to</a:t>
                      </a:r>
                    </a:p>
                    <a:p>
                      <a:r>
                        <a:rPr lang="en-US" sz="1600" dirty="0"/>
                        <a:t>20,000 IOPS maximum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Averages 100</a:t>
                      </a:r>
                    </a:p>
                    <a:p>
                      <a:r>
                        <a:rPr lang="en-US" sz="1600" dirty="0"/>
                        <a:t>IOPS, with the</a:t>
                      </a:r>
                    </a:p>
                    <a:p>
                      <a:r>
                        <a:rPr lang="en-US" sz="1600" dirty="0"/>
                        <a:t>ability to burst</a:t>
                      </a:r>
                    </a:p>
                    <a:p>
                      <a:r>
                        <a:rPr lang="en-US" sz="1600" dirty="0"/>
                        <a:t>to hundreds of</a:t>
                      </a:r>
                    </a:p>
                    <a:p>
                      <a:r>
                        <a:rPr lang="en-US" sz="1600" dirty="0"/>
                        <a:t>IOPS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58960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sv-S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Elastic Block Store (Amazon EBS)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6899166" cy="2991588"/>
          </a:xfrm>
        </p:spPr>
        <p:txBody>
          <a:bodyPr/>
          <a:lstStyle/>
          <a:p>
            <a:r>
              <a:rPr lang="en-US" sz="3600" dirty="0"/>
              <a:t>Protecting Data</a:t>
            </a:r>
          </a:p>
          <a:p>
            <a:pPr lvl="1"/>
            <a:r>
              <a:rPr lang="es-ES" sz="2800" dirty="0"/>
              <a:t>Backup/Recovery (Snapshots)</a:t>
            </a:r>
          </a:p>
          <a:p>
            <a:pPr lvl="2"/>
            <a:r>
              <a:rPr lang="en-US" sz="2400" dirty="0"/>
              <a:t>Taking Snapshots</a:t>
            </a:r>
          </a:p>
          <a:p>
            <a:pPr lvl="2"/>
            <a:r>
              <a:rPr lang="en-US" sz="2400" dirty="0"/>
              <a:t>Creating a Volume from a Snapshot</a:t>
            </a:r>
          </a:p>
          <a:p>
            <a:pPr lvl="1"/>
            <a:r>
              <a:rPr lang="en-US" sz="2800" dirty="0"/>
              <a:t>Recovering Volumes</a:t>
            </a:r>
          </a:p>
          <a:p>
            <a:pPr lvl="1"/>
            <a:r>
              <a:rPr lang="en-US" sz="2800" dirty="0"/>
              <a:t>Encryption Options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58A837-B7FD-401B-8028-56A4ED4A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008" y="1135943"/>
            <a:ext cx="33337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8221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3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5612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Panorámica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Amazon Elastic Compute Cloud (Amazon EC2)</vt:lpstr>
      <vt:lpstr>Amazon Elastic Compute Cloud (Amazon EC2)</vt:lpstr>
      <vt:lpstr>Amazon Elastic Compute Cloud (Amazon EC2)</vt:lpstr>
      <vt:lpstr>Amazon Elastic Compute Cloud (Amazon EC2)</vt:lpstr>
      <vt:lpstr>Amazon Elastic Compute Cloud (Amazon EC2)</vt:lpstr>
      <vt:lpstr>Amazon Elastic Compute Cloud (Amazon EC2)</vt:lpstr>
      <vt:lpstr>Amazon Elastic Compute Cloud (Amazon EC2)</vt:lpstr>
      <vt:lpstr>Amazon Elastic Compute Cloud (Amazon EC2)</vt:lpstr>
      <vt:lpstr>Lesson 02: Amazon Elastic Block Store (Amazon EBS)</vt:lpstr>
      <vt:lpstr>Amazon Elastic Block Store (Amazon EBS)</vt:lpstr>
      <vt:lpstr>Amazon Elastic Block Store (Amazon EBS)</vt:lpstr>
      <vt:lpstr>Amazon Elastic Block Store (Amazon EBS)</vt:lpstr>
      <vt:lpstr>Amazon Elastic Block Store (Amazon EBS)</vt:lpstr>
      <vt:lpstr>Lab Module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2020-05-12T21:44:41Z</dcterms:modified>
</cp:coreProperties>
</file>