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7"/>
  </p:notesMasterIdLst>
  <p:sldIdLst>
    <p:sldId id="2237" r:id="rId2"/>
    <p:sldId id="2021" r:id="rId3"/>
    <p:sldId id="2253" r:id="rId4"/>
    <p:sldId id="2278" r:id="rId5"/>
    <p:sldId id="2300" r:id="rId6"/>
    <p:sldId id="2301" r:id="rId7"/>
    <p:sldId id="2309" r:id="rId8"/>
    <p:sldId id="2310" r:id="rId9"/>
    <p:sldId id="2302" r:id="rId10"/>
    <p:sldId id="2304" r:id="rId11"/>
    <p:sldId id="2307" r:id="rId12"/>
    <p:sldId id="2308" r:id="rId13"/>
    <p:sldId id="2311" r:id="rId14"/>
    <p:sldId id="2299" r:id="rId15"/>
    <p:sldId id="23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82657" autoAdjust="0"/>
  </p:normalViewPr>
  <p:slideViewPr>
    <p:cSldViewPr snapToGrid="0">
      <p:cViewPr varScale="1">
        <p:scale>
          <a:sx n="91" d="100"/>
          <a:sy n="91" d="100"/>
        </p:scale>
        <p:origin x="9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>
                <a:latin typeface="+mj-lt"/>
              </a:rPr>
              <a:t>Module 8:</a:t>
            </a:r>
            <a:endParaRPr lang="es-ES" sz="3600" b="1" dirty="0">
              <a:latin typeface="+mj-lt"/>
            </a:endParaRPr>
          </a:p>
          <a:p>
            <a:r>
              <a:rPr lang="en-US" sz="3600" b="1" dirty="0">
                <a:latin typeface="+mj-lt"/>
              </a:rPr>
              <a:t>Databases and AWS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2548390"/>
          </a:xfrm>
        </p:spPr>
        <p:txBody>
          <a:bodyPr/>
          <a:lstStyle/>
          <a:p>
            <a:r>
              <a:rPr lang="en-US" sz="3600" dirty="0"/>
              <a:t>Database Primer</a:t>
            </a:r>
          </a:p>
          <a:p>
            <a:r>
              <a:rPr lang="en-US" sz="3600" dirty="0"/>
              <a:t>Amazon Relational Database Service (Amazon RDS)</a:t>
            </a:r>
          </a:p>
          <a:p>
            <a:r>
              <a:rPr lang="en-US" sz="3600" dirty="0"/>
              <a:t>Amazon Redshift</a:t>
            </a:r>
          </a:p>
          <a:p>
            <a:r>
              <a:rPr lang="en-US" sz="3600" dirty="0"/>
              <a:t>Amazon DynamoDB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Database Primer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Primer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8590405" cy="1883593"/>
          </a:xfrm>
        </p:spPr>
        <p:txBody>
          <a:bodyPr/>
          <a:lstStyle/>
          <a:p>
            <a:r>
              <a:rPr lang="en-US" sz="3600" dirty="0"/>
              <a:t>Relational Databases</a:t>
            </a:r>
          </a:p>
          <a:p>
            <a:r>
              <a:rPr lang="en-US" sz="3600" dirty="0"/>
              <a:t>Data Warehouses</a:t>
            </a:r>
          </a:p>
          <a:p>
            <a:r>
              <a:rPr lang="en-US" sz="3600" dirty="0"/>
              <a:t>NoSQL Databases</a:t>
            </a:r>
          </a:p>
        </p:txBody>
      </p:sp>
    </p:spTree>
    <p:extLst>
      <p:ext uri="{BB962C8B-B14F-4D97-AF65-F5344CB8AC3E}">
        <p14:creationId xmlns:p14="http://schemas.microsoft.com/office/powerpoint/2010/main" val="137499362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02: Amazon Relational Database Service (Amazon RDS)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104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</a:t>
            </a:r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Database Service (Amazon RDS)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6190455" cy="4985980"/>
          </a:xfrm>
        </p:spPr>
        <p:txBody>
          <a:bodyPr/>
          <a:lstStyle/>
          <a:p>
            <a:r>
              <a:rPr lang="en-US" sz="3600" dirty="0"/>
              <a:t>Database (DB) Instances</a:t>
            </a:r>
          </a:p>
          <a:p>
            <a:r>
              <a:rPr lang="en-US" sz="3600" dirty="0"/>
              <a:t>Operational Benefits</a:t>
            </a:r>
          </a:p>
          <a:p>
            <a:r>
              <a:rPr lang="en-US" sz="3600" dirty="0"/>
              <a:t>Database Engines</a:t>
            </a:r>
          </a:p>
          <a:p>
            <a:pPr lvl="1"/>
            <a:r>
              <a:rPr lang="en-US" sz="2800" dirty="0"/>
              <a:t>MySQL</a:t>
            </a:r>
          </a:p>
          <a:p>
            <a:pPr lvl="1"/>
            <a:r>
              <a:rPr lang="en-US" sz="2800" dirty="0"/>
              <a:t>PostgreSQL</a:t>
            </a:r>
          </a:p>
          <a:p>
            <a:pPr lvl="1"/>
            <a:r>
              <a:rPr lang="en-US" sz="2800" dirty="0"/>
              <a:t>MariaDB</a:t>
            </a:r>
          </a:p>
          <a:p>
            <a:pPr lvl="1"/>
            <a:r>
              <a:rPr lang="en-US" sz="2800" dirty="0"/>
              <a:t>Oracle</a:t>
            </a:r>
          </a:p>
          <a:p>
            <a:pPr lvl="1"/>
            <a:r>
              <a:rPr lang="en-US" sz="2800" dirty="0"/>
              <a:t>Microsoft SQL Server</a:t>
            </a:r>
          </a:p>
          <a:p>
            <a:pPr lvl="1"/>
            <a:r>
              <a:rPr lang="en-US" sz="2800"/>
              <a:t>Amazon Aurora</a:t>
            </a:r>
            <a:endParaRPr lang="en-US" sz="2800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2DB67155-3839-40CC-BE22-0D72502ABE09}"/>
              </a:ext>
            </a:extLst>
          </p:cNvPr>
          <p:cNvGrpSpPr/>
          <p:nvPr/>
        </p:nvGrpSpPr>
        <p:grpSpPr>
          <a:xfrm>
            <a:off x="8703733" y="2642789"/>
            <a:ext cx="1707525" cy="2269123"/>
            <a:chOff x="8805333" y="2456522"/>
            <a:chExt cx="1707525" cy="2269123"/>
          </a:xfrm>
        </p:grpSpPr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17E35AC7-8F00-46D8-90D1-2D423017A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05333" y="2456522"/>
              <a:ext cx="1707525" cy="1961346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4A42071-647F-41B1-8362-E8590347973D}"/>
                </a:ext>
              </a:extLst>
            </p:cNvPr>
            <p:cNvSpPr txBox="1"/>
            <p:nvPr/>
          </p:nvSpPr>
          <p:spPr>
            <a:xfrm>
              <a:off x="8951533" y="4417868"/>
              <a:ext cx="156132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Amazon RDS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83906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</a:t>
            </a:r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Database Service (Amazon RDS)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6190455" cy="5207579"/>
          </a:xfrm>
        </p:spPr>
        <p:txBody>
          <a:bodyPr/>
          <a:lstStyle/>
          <a:p>
            <a:r>
              <a:rPr lang="en-US" sz="3600" dirty="0"/>
              <a:t>Database Engines</a:t>
            </a:r>
          </a:p>
          <a:p>
            <a:pPr lvl="1"/>
            <a:r>
              <a:rPr lang="en-US" sz="2800" dirty="0"/>
              <a:t>Licensing</a:t>
            </a:r>
          </a:p>
          <a:p>
            <a:pPr lvl="2"/>
            <a:r>
              <a:rPr lang="en-US" sz="2400" dirty="0"/>
              <a:t>License Included</a:t>
            </a:r>
          </a:p>
          <a:p>
            <a:pPr lvl="2"/>
            <a:r>
              <a:rPr lang="en-US" sz="2400" dirty="0"/>
              <a:t>Bring Your Own License (BYOL)</a:t>
            </a:r>
          </a:p>
          <a:p>
            <a:pPr lvl="1"/>
            <a:r>
              <a:rPr lang="en-US" sz="2800" dirty="0"/>
              <a:t>Amazon Aurora</a:t>
            </a:r>
          </a:p>
          <a:p>
            <a:pPr lvl="2"/>
            <a:r>
              <a:rPr lang="en-US" sz="2400" dirty="0"/>
              <a:t>Primary Instance</a:t>
            </a:r>
          </a:p>
          <a:p>
            <a:pPr lvl="2"/>
            <a:r>
              <a:rPr lang="en-US" sz="2400" dirty="0"/>
              <a:t>Amazon Aurora Replica</a:t>
            </a:r>
          </a:p>
          <a:p>
            <a:pPr lvl="1"/>
            <a:r>
              <a:rPr lang="en-US" sz="2800" dirty="0"/>
              <a:t>Storage Options</a:t>
            </a:r>
          </a:p>
          <a:p>
            <a:pPr lvl="2"/>
            <a:r>
              <a:rPr lang="en-US" sz="2400" dirty="0"/>
              <a:t>Magnetic</a:t>
            </a:r>
          </a:p>
          <a:p>
            <a:pPr lvl="2"/>
            <a:r>
              <a:rPr lang="en-US" sz="2400" dirty="0"/>
              <a:t>General Purpose (SSD)</a:t>
            </a:r>
          </a:p>
          <a:p>
            <a:pPr lvl="2"/>
            <a:r>
              <a:rPr lang="en-US" sz="2400" dirty="0"/>
              <a:t>Provisioned IOPS (SSD)</a:t>
            </a:r>
          </a:p>
        </p:txBody>
      </p:sp>
    </p:spTree>
    <p:extLst>
      <p:ext uri="{BB962C8B-B14F-4D97-AF65-F5344CB8AC3E}">
        <p14:creationId xmlns:p14="http://schemas.microsoft.com/office/powerpoint/2010/main" val="336013146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</a:t>
            </a:r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Database Service (Amazon RDS)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6190455" cy="5281446"/>
          </a:xfrm>
        </p:spPr>
        <p:txBody>
          <a:bodyPr/>
          <a:lstStyle/>
          <a:p>
            <a:r>
              <a:rPr lang="en-US" sz="3600" dirty="0"/>
              <a:t>Database Engines</a:t>
            </a:r>
          </a:p>
          <a:p>
            <a:pPr lvl="1"/>
            <a:r>
              <a:rPr lang="en-US" sz="2800" dirty="0"/>
              <a:t>Backup and Recovery</a:t>
            </a:r>
          </a:p>
          <a:p>
            <a:pPr lvl="2"/>
            <a:r>
              <a:rPr lang="en-US" sz="2400" dirty="0"/>
              <a:t>Automated Backups</a:t>
            </a:r>
          </a:p>
          <a:p>
            <a:pPr lvl="2"/>
            <a:r>
              <a:rPr lang="en-US" sz="2400" dirty="0"/>
              <a:t>Manual DB Snapshots</a:t>
            </a:r>
          </a:p>
          <a:p>
            <a:pPr lvl="2"/>
            <a:r>
              <a:rPr lang="en-US" sz="2400" dirty="0"/>
              <a:t>Recovery</a:t>
            </a:r>
          </a:p>
          <a:p>
            <a:pPr lvl="1"/>
            <a:r>
              <a:rPr lang="en-US" sz="2800" dirty="0"/>
              <a:t>High Availability with Multi-AZ</a:t>
            </a:r>
          </a:p>
          <a:p>
            <a:pPr lvl="1"/>
            <a:r>
              <a:rPr lang="en-US" sz="2800" dirty="0"/>
              <a:t>Scaling Up and Out</a:t>
            </a:r>
          </a:p>
          <a:p>
            <a:pPr lvl="2"/>
            <a:r>
              <a:rPr lang="en-US" sz="2400" dirty="0"/>
              <a:t>Vertical Scalability</a:t>
            </a:r>
          </a:p>
          <a:p>
            <a:pPr lvl="2"/>
            <a:r>
              <a:rPr lang="en-US" sz="2400" dirty="0"/>
              <a:t>Horizontal Scalability with Partitioning</a:t>
            </a:r>
          </a:p>
          <a:p>
            <a:pPr lvl="2"/>
            <a:r>
              <a:rPr lang="en-US" sz="2400" dirty="0"/>
              <a:t>Horizontal Scalability with Read Replicas</a:t>
            </a:r>
          </a:p>
          <a:p>
            <a:pPr lvl="1"/>
            <a:r>
              <a:rPr lang="en-US" sz="2800" dirty="0"/>
              <a:t>Security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A8EB191-1139-420A-B291-5E536EEB9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300" y="1797683"/>
            <a:ext cx="5011483" cy="402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4693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03: </a:t>
            </a:r>
            <a:r>
              <a:rPr lang="pt-BR" dirty="0"/>
              <a:t>Amazon Redshift</a:t>
            </a:r>
            <a:endParaRPr lang="en-US" dirty="0"/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49269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Redshift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086599" cy="5281446"/>
          </a:xfrm>
        </p:spPr>
        <p:txBody>
          <a:bodyPr/>
          <a:lstStyle/>
          <a:p>
            <a:r>
              <a:rPr lang="en-US" sz="3600" dirty="0"/>
              <a:t>Clusters and Nodes</a:t>
            </a:r>
          </a:p>
          <a:p>
            <a:r>
              <a:rPr lang="en-US" sz="3600" dirty="0"/>
              <a:t>Table Design</a:t>
            </a:r>
          </a:p>
          <a:p>
            <a:pPr lvl="1"/>
            <a:r>
              <a:rPr lang="en-US" sz="2800" dirty="0"/>
              <a:t>Data Types</a:t>
            </a:r>
          </a:p>
          <a:p>
            <a:pPr lvl="1"/>
            <a:r>
              <a:rPr lang="en-US" sz="2800" dirty="0"/>
              <a:t>Compression Encoding</a:t>
            </a:r>
          </a:p>
          <a:p>
            <a:pPr lvl="1"/>
            <a:r>
              <a:rPr lang="en-US" sz="2800" dirty="0"/>
              <a:t>Distribution Strategy</a:t>
            </a:r>
          </a:p>
          <a:p>
            <a:pPr lvl="1"/>
            <a:r>
              <a:rPr lang="en-US" sz="2800" dirty="0"/>
              <a:t>Sort Keys</a:t>
            </a:r>
          </a:p>
          <a:p>
            <a:r>
              <a:rPr lang="en-US" sz="3600" dirty="0"/>
              <a:t>Loading &amp; Querying Data</a:t>
            </a:r>
          </a:p>
          <a:p>
            <a:r>
              <a:rPr lang="en-US" sz="3600" dirty="0"/>
              <a:t>Snapshots</a:t>
            </a:r>
          </a:p>
          <a:p>
            <a:r>
              <a:rPr lang="en-US" sz="3600" dirty="0"/>
              <a:t>Security</a:t>
            </a:r>
            <a:endParaRPr lang="en-US" sz="2800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CB58A16-8CD3-445B-B349-EEB4186A1F3A}"/>
              </a:ext>
            </a:extLst>
          </p:cNvPr>
          <p:cNvGrpSpPr/>
          <p:nvPr/>
        </p:nvGrpSpPr>
        <p:grpSpPr>
          <a:xfrm>
            <a:off x="8161866" y="2114070"/>
            <a:ext cx="2353733" cy="2629859"/>
            <a:chOff x="7947228" y="2401963"/>
            <a:chExt cx="2286000" cy="2736652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60D04EB0-CD90-40B0-808D-F391744E2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47228" y="2401963"/>
              <a:ext cx="2286000" cy="2428875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2E33B390-4778-411A-B193-FFDD8CA1FED3}"/>
                </a:ext>
              </a:extLst>
            </p:cNvPr>
            <p:cNvSpPr txBox="1"/>
            <p:nvPr/>
          </p:nvSpPr>
          <p:spPr>
            <a:xfrm>
              <a:off x="8060267" y="4830838"/>
              <a:ext cx="2059923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Amazon Redshift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541636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04: Amazon DynamoDB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9854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DynamoDB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086599" cy="5281446"/>
          </a:xfrm>
        </p:spPr>
        <p:txBody>
          <a:bodyPr/>
          <a:lstStyle/>
          <a:p>
            <a:r>
              <a:rPr lang="en-US" sz="3600" dirty="0"/>
              <a:t>Data Model</a:t>
            </a:r>
          </a:p>
          <a:p>
            <a:r>
              <a:rPr lang="en-US" sz="3600" dirty="0"/>
              <a:t>Data Types</a:t>
            </a:r>
          </a:p>
          <a:p>
            <a:r>
              <a:rPr lang="en-US" sz="3600" dirty="0"/>
              <a:t>Primary Key</a:t>
            </a:r>
          </a:p>
          <a:p>
            <a:pPr lvl="1"/>
            <a:r>
              <a:rPr lang="en-US" sz="2800" dirty="0"/>
              <a:t>Partition Key</a:t>
            </a:r>
          </a:p>
          <a:p>
            <a:pPr lvl="1"/>
            <a:r>
              <a:rPr lang="en-US" sz="2800" dirty="0"/>
              <a:t>Partition and Sort Key</a:t>
            </a:r>
          </a:p>
          <a:p>
            <a:r>
              <a:rPr lang="en-US" sz="3600" dirty="0"/>
              <a:t>Provisioned Capacity</a:t>
            </a:r>
          </a:p>
          <a:p>
            <a:r>
              <a:rPr lang="en-US" sz="3600" dirty="0"/>
              <a:t>Secondary Indexes</a:t>
            </a:r>
          </a:p>
          <a:p>
            <a:pPr lvl="1"/>
            <a:r>
              <a:rPr lang="en-US" sz="2800" dirty="0"/>
              <a:t>Global Secondary Index</a:t>
            </a:r>
          </a:p>
          <a:p>
            <a:pPr lvl="1"/>
            <a:r>
              <a:rPr lang="en-US" sz="2800" dirty="0"/>
              <a:t>Local Secondary Index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ABD0690-8765-482D-9C89-236615D8035D}"/>
              </a:ext>
            </a:extLst>
          </p:cNvPr>
          <p:cNvGrpSpPr/>
          <p:nvPr/>
        </p:nvGrpSpPr>
        <p:grpSpPr>
          <a:xfrm>
            <a:off x="8430659" y="2525691"/>
            <a:ext cx="2428550" cy="2385329"/>
            <a:chOff x="8599989" y="2525691"/>
            <a:chExt cx="2428550" cy="2385329"/>
          </a:xfrm>
        </p:grpSpPr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6F1034D6-A657-417B-9755-52EBCA269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57720" y="2525691"/>
              <a:ext cx="1808692" cy="2077552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ED2CCD6-ABC0-421C-987A-E6CF45C5AAEA}"/>
                </a:ext>
              </a:extLst>
            </p:cNvPr>
            <p:cNvSpPr txBox="1"/>
            <p:nvPr/>
          </p:nvSpPr>
          <p:spPr>
            <a:xfrm>
              <a:off x="8599989" y="4603243"/>
              <a:ext cx="242855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Amazon </a:t>
              </a:r>
              <a:r>
                <a:rPr lang="es-ES" sz="2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DynamoDB</a:t>
              </a:r>
              <a:endPara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307763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Amazon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DynamoDB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1" y="1350621"/>
            <a:ext cx="7086599" cy="5133713"/>
          </a:xfrm>
        </p:spPr>
        <p:txBody>
          <a:bodyPr/>
          <a:lstStyle/>
          <a:p>
            <a:r>
              <a:rPr lang="en-US" sz="3600" dirty="0"/>
              <a:t>Writing and Reading Data</a:t>
            </a:r>
          </a:p>
          <a:p>
            <a:pPr lvl="1"/>
            <a:r>
              <a:rPr lang="en-US" sz="2800" dirty="0"/>
              <a:t>Writing Items</a:t>
            </a:r>
          </a:p>
          <a:p>
            <a:pPr lvl="1"/>
            <a:r>
              <a:rPr lang="en-US" sz="2800" dirty="0"/>
              <a:t>Reading Items</a:t>
            </a:r>
          </a:p>
          <a:p>
            <a:pPr lvl="1"/>
            <a:r>
              <a:rPr lang="en-US" sz="2800" dirty="0"/>
              <a:t>Eventual Consistency</a:t>
            </a:r>
          </a:p>
          <a:p>
            <a:pPr lvl="1"/>
            <a:r>
              <a:rPr lang="en-US" sz="2800" dirty="0"/>
              <a:t>Batch Operations</a:t>
            </a:r>
          </a:p>
          <a:p>
            <a:pPr lvl="1"/>
            <a:r>
              <a:rPr lang="en-US" sz="2800" dirty="0"/>
              <a:t>Searching Items</a:t>
            </a:r>
          </a:p>
          <a:p>
            <a:r>
              <a:rPr lang="en-US" sz="3600" dirty="0"/>
              <a:t>Scaling and Partitioning</a:t>
            </a:r>
          </a:p>
          <a:p>
            <a:r>
              <a:rPr lang="en-US" sz="3600" dirty="0"/>
              <a:t>Security</a:t>
            </a:r>
          </a:p>
          <a:p>
            <a:r>
              <a:rPr lang="en-US" sz="3600" dirty="0"/>
              <a:t>Amazon DynamoDB Streams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AABD0690-8765-482D-9C89-236615D8035D}"/>
              </a:ext>
            </a:extLst>
          </p:cNvPr>
          <p:cNvGrpSpPr/>
          <p:nvPr/>
        </p:nvGrpSpPr>
        <p:grpSpPr>
          <a:xfrm>
            <a:off x="8464525" y="2525691"/>
            <a:ext cx="2428550" cy="2385329"/>
            <a:chOff x="8599989" y="2525691"/>
            <a:chExt cx="2428550" cy="2385329"/>
          </a:xfrm>
        </p:grpSpPr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6F1034D6-A657-417B-9755-52EBCA269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57720" y="2525691"/>
              <a:ext cx="1808692" cy="2077552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ED2CCD6-ABC0-421C-987A-E6CF45C5AAEA}"/>
                </a:ext>
              </a:extLst>
            </p:cNvPr>
            <p:cNvSpPr txBox="1"/>
            <p:nvPr/>
          </p:nvSpPr>
          <p:spPr>
            <a:xfrm>
              <a:off x="8599989" y="4603243"/>
              <a:ext cx="242855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20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Amazon </a:t>
              </a:r>
              <a:r>
                <a:rPr lang="es-ES" sz="2000" b="1" dirty="0" err="1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DynamoDB</a:t>
              </a:r>
              <a:endParaRPr lang="es-ES" sz="20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212950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Lab Module 7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14400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pt-BR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DB </a:t>
            </a:r>
            <a:r>
              <a:rPr lang="pt-BR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Instance</a:t>
            </a:r>
            <a:endParaRPr lang="en-US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&#10;            Single VPC Scenario&#10;        ">
            <a:extLst>
              <a:ext uri="{FF2B5EF4-FFF2-40B4-BE49-F238E27FC236}">
                <a16:creationId xmlns:a16="http://schemas.microsoft.com/office/drawing/2014/main" id="{7325A359-0113-4758-9C62-CEBCB6DAE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3066" y="1168401"/>
            <a:ext cx="7789333" cy="523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99772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Panorámica</PresentationFormat>
  <Paragraphs>86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Database Primer</vt:lpstr>
      <vt:lpstr>Database Primer</vt:lpstr>
      <vt:lpstr>Lesson 02: Amazon Relational Database Service (Amazon RDS)</vt:lpstr>
      <vt:lpstr>Amazon Relational Database Service (Amazon RDS)</vt:lpstr>
      <vt:lpstr>Amazon Relational Database Service (Amazon RDS)</vt:lpstr>
      <vt:lpstr>Amazon Relational Database Service (Amazon RDS)</vt:lpstr>
      <vt:lpstr>Lesson 03: Amazon Redshift</vt:lpstr>
      <vt:lpstr>Amazon Redshift</vt:lpstr>
      <vt:lpstr>Lesson 04: Amazon DynamoDB</vt:lpstr>
      <vt:lpstr>Amazon DynamoDB</vt:lpstr>
      <vt:lpstr>Amazon DynamoDB</vt:lpstr>
      <vt:lpstr>Lab Module 7</vt:lpstr>
      <vt:lpstr>DB Instance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2021-04-12T19:22:57Z</dcterms:modified>
</cp:coreProperties>
</file>