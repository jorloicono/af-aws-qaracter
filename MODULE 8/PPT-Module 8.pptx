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3"/>
  </p:notesMasterIdLst>
  <p:sldIdLst>
    <p:sldId id="2237" r:id="rId2"/>
    <p:sldId id="2021" r:id="rId3"/>
    <p:sldId id="2253" r:id="rId4"/>
    <p:sldId id="2323" r:id="rId5"/>
    <p:sldId id="2300" r:id="rId6"/>
    <p:sldId id="2334" r:id="rId7"/>
    <p:sldId id="2324" r:id="rId8"/>
    <p:sldId id="2339" r:id="rId9"/>
    <p:sldId id="2348" r:id="rId10"/>
    <p:sldId id="2349" r:id="rId11"/>
    <p:sldId id="235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7D"/>
    <a:srgbClr val="FCF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15" autoAdjust="0"/>
    <p:restoredTop sz="82657" autoAdjust="0"/>
  </p:normalViewPr>
  <p:slideViewPr>
    <p:cSldViewPr snapToGrid="0">
      <p:cViewPr varScale="1">
        <p:scale>
          <a:sx n="57" d="100"/>
          <a:sy n="57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6/16/2020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9" y="2576928"/>
            <a:ext cx="52766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>
                <a:latin typeface="+mj-lt"/>
              </a:rPr>
              <a:t>Module 13:</a:t>
            </a:r>
          </a:p>
          <a:p>
            <a:r>
              <a:rPr lang="en-US" sz="3600" b="1" dirty="0">
                <a:latin typeface="+mj-lt"/>
              </a:rPr>
              <a:t>AWS Risk and Compliance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2437590"/>
          </a:xfrm>
        </p:spPr>
        <p:txBody>
          <a:bodyPr/>
          <a:lstStyle/>
          <a:p>
            <a:r>
              <a:rPr lang="en-US" sz="3600" dirty="0"/>
              <a:t>Evaluating and Integrating AWS Controls</a:t>
            </a:r>
          </a:p>
          <a:p>
            <a:r>
              <a:rPr lang="en-US" sz="3600" dirty="0"/>
              <a:t>AWS Risk and Compliance Program</a:t>
            </a:r>
          </a:p>
          <a:p>
            <a:r>
              <a:rPr lang="en-US" sz="3600" dirty="0"/>
              <a:t>AWS Reports, Certifications, and Third-Party Attestations</a:t>
            </a:r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01: Evaluating and Integrating AWS Controls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Evaluating and Integrating AWS Controls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3F9A7C3-F564-4F41-88BB-E7C36FD0D4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1218795"/>
          </a:xfrm>
        </p:spPr>
        <p:txBody>
          <a:bodyPr/>
          <a:lstStyle/>
          <a:p>
            <a:r>
              <a:rPr lang="en-US" sz="3600" dirty="0"/>
              <a:t>AWS IT Control Information</a:t>
            </a:r>
          </a:p>
          <a:p>
            <a:r>
              <a:rPr lang="en-US" sz="3600" dirty="0"/>
              <a:t>AWS Global Regions</a:t>
            </a:r>
          </a:p>
        </p:txBody>
      </p:sp>
    </p:spTree>
    <p:extLst>
      <p:ext uri="{BB962C8B-B14F-4D97-AF65-F5344CB8AC3E}">
        <p14:creationId xmlns:p14="http://schemas.microsoft.com/office/powerpoint/2010/main" val="411671805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02: AWS Risk and Compliance Program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6104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Risk and Compliance Program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73200"/>
            <a:ext cx="10287000" cy="1883593"/>
          </a:xfrm>
        </p:spPr>
        <p:txBody>
          <a:bodyPr/>
          <a:lstStyle/>
          <a:p>
            <a:r>
              <a:rPr lang="en-US" sz="3600" dirty="0"/>
              <a:t>Risk Management</a:t>
            </a:r>
          </a:p>
          <a:p>
            <a:r>
              <a:rPr lang="en-US" sz="3600" dirty="0"/>
              <a:t>Control Environment</a:t>
            </a:r>
          </a:p>
          <a:p>
            <a:r>
              <a:rPr lang="en-US" sz="3600" dirty="0"/>
              <a:t>Information Security</a:t>
            </a:r>
          </a:p>
        </p:txBody>
      </p:sp>
    </p:spTree>
    <p:extLst>
      <p:ext uri="{BB962C8B-B14F-4D97-AF65-F5344CB8AC3E}">
        <p14:creationId xmlns:p14="http://schemas.microsoft.com/office/powerpoint/2010/main" val="3867424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1107996"/>
          </a:xfrm>
        </p:spPr>
        <p:txBody>
          <a:bodyPr/>
          <a:lstStyle/>
          <a:p>
            <a:r>
              <a:rPr lang="en-US" dirty="0"/>
              <a:t>Lesson 03: AWS Reports, Certifications, and Third-Party Attestations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31962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Reports, Certifications, and Third-Party Attestations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85399" cy="4985980"/>
          </a:xfrm>
        </p:spPr>
        <p:txBody>
          <a:bodyPr/>
          <a:lstStyle/>
          <a:p>
            <a:r>
              <a:rPr lang="fr-FR" sz="3600" dirty="0"/>
              <a:t>Criminal Justice Information Services (CJIS)</a:t>
            </a:r>
          </a:p>
          <a:p>
            <a:r>
              <a:rPr lang="en-US" sz="3600" dirty="0"/>
              <a:t>Cloud Security Alliance (CSA)</a:t>
            </a:r>
          </a:p>
          <a:p>
            <a:r>
              <a:rPr lang="en-US" sz="3600" dirty="0"/>
              <a:t>Cyber Essentials Plus</a:t>
            </a:r>
          </a:p>
          <a:p>
            <a:r>
              <a:rPr lang="en-US" sz="3600" dirty="0"/>
              <a:t>Department of Defense (DoD) Cloud Security Model (SRG)</a:t>
            </a:r>
          </a:p>
          <a:p>
            <a:r>
              <a:rPr lang="en-US" sz="3600" dirty="0"/>
              <a:t>Federal Risk and Authorization Management Program (FedRAMP)</a:t>
            </a:r>
          </a:p>
          <a:p>
            <a:r>
              <a:rPr lang="en-US" sz="3600" dirty="0"/>
              <a:t>Family Educational Rights and Privacy Act (FERPA)</a:t>
            </a:r>
          </a:p>
        </p:txBody>
      </p:sp>
    </p:spTree>
    <p:extLst>
      <p:ext uri="{BB962C8B-B14F-4D97-AF65-F5344CB8AC3E}">
        <p14:creationId xmlns:p14="http://schemas.microsoft.com/office/powerpoint/2010/main" val="222309431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Reports, Certifications, and Third-Party Attestations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85399" cy="4875181"/>
          </a:xfrm>
        </p:spPr>
        <p:txBody>
          <a:bodyPr/>
          <a:lstStyle/>
          <a:p>
            <a:r>
              <a:rPr lang="fr-FR" sz="3600" dirty="0" err="1"/>
              <a:t>Federal</a:t>
            </a:r>
            <a:r>
              <a:rPr lang="fr-FR" sz="3600" dirty="0"/>
              <a:t> Information </a:t>
            </a:r>
            <a:r>
              <a:rPr lang="fr-FR" sz="3600" dirty="0" err="1"/>
              <a:t>Processing</a:t>
            </a:r>
            <a:r>
              <a:rPr lang="fr-FR" sz="3600" dirty="0"/>
              <a:t> Standard (FIPS)</a:t>
            </a:r>
          </a:p>
          <a:p>
            <a:r>
              <a:rPr lang="en-US" sz="3600" dirty="0"/>
              <a:t>FISMA and DoD Information Assurance Certification and Accreditation Process (DIACAP)</a:t>
            </a:r>
            <a:endParaRPr lang="fr-FR" sz="3600" dirty="0"/>
          </a:p>
          <a:p>
            <a:r>
              <a:rPr lang="en-US" sz="3600" dirty="0"/>
              <a:t>Health Insurance Portability and Accountability Act (HIPAA)</a:t>
            </a:r>
          </a:p>
          <a:p>
            <a:r>
              <a:rPr lang="en-US" sz="3600" dirty="0"/>
              <a:t>Information Security Registered Assessors Program (IRAP)</a:t>
            </a:r>
          </a:p>
          <a:p>
            <a:r>
              <a:rPr lang="en-US" sz="3600" dirty="0"/>
              <a:t>ISO 9001</a:t>
            </a:r>
          </a:p>
        </p:txBody>
      </p:sp>
    </p:spTree>
    <p:extLst>
      <p:ext uri="{BB962C8B-B14F-4D97-AF65-F5344CB8AC3E}">
        <p14:creationId xmlns:p14="http://schemas.microsoft.com/office/powerpoint/2010/main" val="325518249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Reports, Certifications, and Third-Party Attestations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85399" cy="4431983"/>
          </a:xfrm>
        </p:spPr>
        <p:txBody>
          <a:bodyPr/>
          <a:lstStyle/>
          <a:p>
            <a:r>
              <a:rPr lang="en-US" sz="3600" dirty="0"/>
              <a:t>ISO 27001</a:t>
            </a:r>
          </a:p>
          <a:p>
            <a:r>
              <a:rPr lang="en-US" sz="3600" dirty="0"/>
              <a:t>ISO 27017</a:t>
            </a:r>
          </a:p>
          <a:p>
            <a:r>
              <a:rPr lang="en-US" sz="3600" dirty="0"/>
              <a:t>ISO 27018</a:t>
            </a:r>
          </a:p>
          <a:p>
            <a:r>
              <a:rPr lang="en-US" sz="3600" dirty="0"/>
              <a:t>U.S. International Traffic in Arms Regulations (ITAR)</a:t>
            </a:r>
          </a:p>
          <a:p>
            <a:r>
              <a:rPr lang="en-US" sz="3600" dirty="0"/>
              <a:t>Motion Picture Association of America (MPAA)</a:t>
            </a:r>
          </a:p>
          <a:p>
            <a:r>
              <a:rPr lang="en-US" sz="3600" dirty="0"/>
              <a:t>Multi-Tier Cloud Security (MTCS) Tier 3 Certification</a:t>
            </a:r>
          </a:p>
        </p:txBody>
      </p:sp>
    </p:spTree>
    <p:extLst>
      <p:ext uri="{BB962C8B-B14F-4D97-AF65-F5344CB8AC3E}">
        <p14:creationId xmlns:p14="http://schemas.microsoft.com/office/powerpoint/2010/main" val="68835754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AWS Reports, Certifications, and Third-Party Attestations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350621"/>
            <a:ext cx="10185399" cy="3767185"/>
          </a:xfrm>
        </p:spPr>
        <p:txBody>
          <a:bodyPr/>
          <a:lstStyle/>
          <a:p>
            <a:r>
              <a:rPr lang="en-US" sz="3600" dirty="0"/>
              <a:t>NIST</a:t>
            </a:r>
          </a:p>
          <a:p>
            <a:r>
              <a:rPr lang="en-US" sz="3600" dirty="0"/>
              <a:t>PCI DSS Level</a:t>
            </a:r>
          </a:p>
          <a:p>
            <a:r>
              <a:rPr lang="en-US" sz="3600" dirty="0"/>
              <a:t>SOC 1/International Standards for Assurance Engagements No. 3402 (ISAE 3402)</a:t>
            </a:r>
          </a:p>
          <a:p>
            <a:r>
              <a:rPr lang="en-US" sz="3600" dirty="0"/>
              <a:t>SOC 2</a:t>
            </a:r>
          </a:p>
          <a:p>
            <a:r>
              <a:rPr lang="en-US" sz="3600" dirty="0"/>
              <a:t>SOC 3</a:t>
            </a:r>
          </a:p>
        </p:txBody>
      </p:sp>
    </p:spTree>
    <p:extLst>
      <p:ext uri="{BB962C8B-B14F-4D97-AF65-F5344CB8AC3E}">
        <p14:creationId xmlns:p14="http://schemas.microsoft.com/office/powerpoint/2010/main" val="142218625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Panorámica</PresentationFormat>
  <Paragraphs>43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Evaluating and Integrating AWS Controls</vt:lpstr>
      <vt:lpstr>Evaluating and Integrating AWS Controls</vt:lpstr>
      <vt:lpstr>Lesson 02: AWS Risk and Compliance Program</vt:lpstr>
      <vt:lpstr>AWS Risk and Compliance Program</vt:lpstr>
      <vt:lpstr>Lesson 03: AWS Reports, Certifications, and Third-Party Attestations</vt:lpstr>
      <vt:lpstr>AWS Reports, Certifications, and Third-Party Attestations</vt:lpstr>
      <vt:lpstr>AWS Reports, Certifications, and Third-Party Attestations</vt:lpstr>
      <vt:lpstr>AWS Reports, Certifications, and Third-Party Attestations</vt:lpstr>
      <vt:lpstr>AWS Reports, Certifications, and Third-Party Attestations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2020-06-16T19:36:30Z</dcterms:modified>
</cp:coreProperties>
</file>