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60" r:id="rId1"/>
  </p:sldMasterIdLst>
  <p:notesMasterIdLst>
    <p:notesMasterId r:id="rId16"/>
  </p:notesMasterIdLst>
  <p:sldIdLst>
    <p:sldId id="2237" r:id="rId2"/>
    <p:sldId id="2021" r:id="rId3"/>
    <p:sldId id="2253" r:id="rId4"/>
    <p:sldId id="2323" r:id="rId5"/>
    <p:sldId id="2300" r:id="rId6"/>
    <p:sldId id="2334" r:id="rId7"/>
    <p:sldId id="2351" r:id="rId8"/>
    <p:sldId id="2324" r:id="rId9"/>
    <p:sldId id="2339" r:id="rId10"/>
    <p:sldId id="2353" r:id="rId11"/>
    <p:sldId id="2352" r:id="rId12"/>
    <p:sldId id="2354" r:id="rId13"/>
    <p:sldId id="2355" r:id="rId14"/>
    <p:sldId id="2356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07D"/>
    <a:srgbClr val="FCF0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15" autoAdjust="0"/>
    <p:restoredTop sz="82657" autoAdjust="0"/>
  </p:normalViewPr>
  <p:slideViewPr>
    <p:cSldViewPr snapToGrid="0">
      <p:cViewPr varScale="1">
        <p:scale>
          <a:sx n="57" d="100"/>
          <a:sy n="57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074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CF66F0-0810-43B6-89CA-8A60532D42CE}" type="datetimeFigureOut">
              <a:rPr lang="en-US" smtClean="0"/>
              <a:t>6/17/2020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07DC7E-BC41-4478-BA30-CBCC3A644F0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60799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4572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4572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9F328AE-26F0-42B9-988D-535B1145C9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284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52270E26-89BA-4369-9EF4-1B9EBAA3D00B}"/>
              </a:ext>
            </a:extLst>
          </p:cNvPr>
          <p:cNvSpPr/>
          <p:nvPr userDrawn="1"/>
        </p:nvSpPr>
        <p:spPr bwMode="auto">
          <a:xfrm>
            <a:off x="5334000" y="0"/>
            <a:ext cx="6858000" cy="6858000"/>
          </a:xfrm>
          <a:prstGeom prst="rect">
            <a:avLst/>
          </a:prstGeom>
          <a:solidFill>
            <a:srgbClr val="D2D2D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pic>
        <p:nvPicPr>
          <p:cNvPr id="9" name="MS logo gray - EMF" descr="Microsoft logo, gray text version">
            <a:extLst>
              <a:ext uri="{FF2B5EF4-FFF2-40B4-BE49-F238E27FC236}">
                <a16:creationId xmlns:a16="http://schemas.microsoft.com/office/drawing/2014/main" id="{D03FE64B-525F-4B73-8C45-B4BC3BAD6A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5964678-FE6C-4226-A11B-8D452DA7808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2856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55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MS logo gray - EMF" descr="Microsoft logo, gray text version">
            <a:extLst>
              <a:ext uri="{FF2B5EF4-FFF2-40B4-BE49-F238E27FC236}">
                <a16:creationId xmlns:a16="http://schemas.microsoft.com/office/drawing/2014/main" id="{DDC08157-A48C-4ACA-A5BB-EE2A866E10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5D0408F-4A76-4E13-B20C-89E0FD40DC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425541"/>
            <a:ext cx="4167887" cy="1107996"/>
          </a:xfrm>
        </p:spPr>
        <p:txBody>
          <a:bodyPr anchor="b" anchorCtr="0">
            <a:spAutoFit/>
          </a:bodyPr>
          <a:lstStyle>
            <a:lvl1pPr>
              <a:defRPr/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2042" y="3962400"/>
            <a:ext cx="4164583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026004-6E63-4034-A1B0-34BE8CEF3D76}"/>
              </a:ext>
            </a:extLst>
          </p:cNvPr>
          <p:cNvSpPr/>
          <p:nvPr userDrawn="1"/>
        </p:nvSpPr>
        <p:spPr bwMode="auto">
          <a:xfrm>
            <a:off x="5334000" y="0"/>
            <a:ext cx="6858000" cy="6858000"/>
          </a:xfrm>
          <a:prstGeom prst="rect">
            <a:avLst/>
          </a:prstGeom>
          <a:solidFill>
            <a:srgbClr val="00BCF2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00240D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FC1A9B4-AD16-4E53-919C-38204BAF9E3C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50758" y="800100"/>
            <a:ext cx="5024485" cy="525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0139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2496">
          <p15:clr>
            <a:srgbClr val="5ACBF0"/>
          </p15:clr>
        </p15:guide>
        <p15:guide id="3" pos="3360">
          <p15:clr>
            <a:srgbClr val="FBAE40"/>
          </p15:clr>
        </p15:guide>
        <p15:guide id="5" orient="horz" pos="2160">
          <p15:clr>
            <a:srgbClr val="FBAE40"/>
          </p15:clr>
        </p15:guide>
        <p15:guide id="6" orient="horz" pos="2229">
          <p15:clr>
            <a:srgbClr val="5ACBF0"/>
          </p15:clr>
        </p15:guide>
        <p15:guide id="7" pos="2996">
          <p15:clr>
            <a:srgbClr val="5ACBF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D3453B0B-33DE-4ED0-A610-D76D0E610F6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7977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3600" spc="-50" baseline="0"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307777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2000" spc="0" baseline="0">
                <a:gradFill>
                  <a:gsLst>
                    <a:gs pos="91000">
                      <a:schemeClr val="tx1"/>
                    </a:gs>
                    <a:gs pos="0">
                      <a:schemeClr val="tx1"/>
                    </a:gs>
                  </a:gsLst>
                  <a:lin ang="5400000" scaled="0"/>
                </a:gra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2954881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65683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584200" y="1435497"/>
            <a:ext cx="11018520" cy="230832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881082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7977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5278796-7B84-4D67-88CD-BF78BB06D21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9914" y="1437481"/>
            <a:ext cx="5212080" cy="1649682"/>
          </a:xfrm>
        </p:spPr>
        <p:txBody>
          <a:bodyPr wrap="square">
            <a:spAutoFit/>
          </a:bodyPr>
          <a:lstStyle>
            <a:lvl1pPr marL="231775" indent="-231775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Char char=""/>
              <a:defRPr sz="2800" b="0">
                <a:latin typeface="Segoe UI Semilight" panose="020B0402040204020203" pitchFamily="34" charset="0"/>
                <a:cs typeface="Segoe UI Semilight" panose="020B0402040204020203" pitchFamily="34" charset="0"/>
              </a:defRPr>
            </a:lvl1pPr>
            <a:lvl2pPr marL="427038" indent="-171450">
              <a:buFont typeface="Wingdings" panose="05000000000000000000" pitchFamily="2" charset="2"/>
              <a:buChar char=""/>
              <a:defRPr sz="2000" b="0"/>
            </a:lvl2pPr>
            <a:lvl3pPr marL="639763" indent="-188913">
              <a:buFont typeface="Wingdings" panose="05000000000000000000" pitchFamily="2" charset="2"/>
              <a:buChar char=""/>
              <a:tabLst/>
              <a:defRPr sz="1600" b="0"/>
            </a:lvl3pPr>
            <a:lvl4pPr marL="828675" indent="-176213">
              <a:buFont typeface="Wingdings" panose="05000000000000000000" pitchFamily="2" charset="2"/>
              <a:buChar char=""/>
              <a:defRPr sz="1400" b="0"/>
            </a:lvl4pPr>
            <a:lvl5pPr marL="1023938" indent="-169863">
              <a:buFont typeface="Wingdings" panose="05000000000000000000" pitchFamily="2" charset="2"/>
              <a:buChar char=""/>
              <a:tabLst/>
              <a:defRPr sz="1400" b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90461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754DF-CB0E-46F9-AA3C-00BC673EB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88493600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900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with 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D31026A-4A74-439D-A8F5-DB82A03E7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74287971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129979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631573B-58F8-43B4-8E3E-6F895442CB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33759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m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3223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307777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000" spc="0" baseline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029030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381C0FB-0396-463F-9527-BACCE968684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767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Video</a:t>
            </a:r>
          </a:p>
        </p:txBody>
      </p:sp>
    </p:spTree>
    <p:extLst>
      <p:ext uri="{BB962C8B-B14F-4D97-AF65-F5344CB8AC3E}">
        <p14:creationId xmlns:p14="http://schemas.microsoft.com/office/powerpoint/2010/main" val="3687369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1">
          <p15:clr>
            <a:srgbClr val="5ACBF0"/>
          </p15:clr>
        </p15:guide>
        <p15:guide id="3" orient="horz" pos="1914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69F059F-BD0F-4211-86F6-E960C3EC183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344025" y="3898483"/>
            <a:ext cx="2265363" cy="2370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699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3035808"/>
            <a:ext cx="9144000" cy="4985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600" b="0" kern="1200" cap="none" spc="-50" baseline="0" dirty="0">
                <a:ln w="3175">
                  <a:noFill/>
                </a:ln>
                <a:gradFill>
                  <a:gsLst>
                    <a:gs pos="62564">
                      <a:schemeClr val="tx1"/>
                    </a:gs>
                    <a:gs pos="55000">
                      <a:schemeClr val="tx1"/>
                    </a:gs>
                  </a:gsLst>
                  <a:lin ang="5400000" scaled="0"/>
                </a:gra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15302378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86346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4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909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D0DF2A6-26A8-4810-95DF-F65F123C666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Software code slide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1436688"/>
            <a:ext cx="11018520" cy="1908215"/>
          </a:xfrm>
        </p:spPr>
        <p:txBody>
          <a:bodyPr/>
          <a:lstStyle>
            <a:lvl1pPr marL="0" indent="0">
              <a:buNone/>
              <a:defRPr sz="2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defRPr sz="24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defRPr sz="20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defRPr sz="1800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45225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27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 userDrawn="1"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4" name="MS logo gray - EMF" descr="Microsoft logo, gray text version">
            <a:extLst>
              <a:ext uri="{FF2B5EF4-FFF2-40B4-BE49-F238E27FC236}">
                <a16:creationId xmlns:a16="http://schemas.microsoft.com/office/drawing/2014/main" id="{59104CAE-91B8-4A7E-9F8E-214C5F88093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1183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ck Notes slide Layout">
    <p:bg bwMode="black"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gradFill>
                  <a:gsLst>
                    <a:gs pos="125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gradFill>
                  <a:gsLst>
                    <a:gs pos="0">
                      <a:srgbClr val="000000"/>
                    </a:gs>
                    <a:gs pos="100000">
                      <a:srgbClr val="000000"/>
                    </a:gs>
                  </a:gsLst>
                  <a:lin ang="5400000" scaled="0"/>
                </a:gra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2096692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 userDrawn="1"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 userDrawn="1"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 userDrawn="1"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 userDrawn="1"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 userDrawn="1"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 userDrawn="1"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 userDrawn="1"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 userDrawn="1"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 userDrawn="1"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 userDrawn="1"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 userDrawn="1"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4581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Segoe UI Semilight" panose="020B0402040204020203" pitchFamily="34" charset="0"/>
          <a:ea typeface="+mn-ea"/>
          <a:cs typeface="Segoe UI Semilight" panose="020B04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gradFill>
            <a:gsLst>
              <a:gs pos="1250">
                <a:schemeClr val="tx1"/>
              </a:gs>
              <a:gs pos="100000">
                <a:schemeClr val="tx1"/>
              </a:gs>
            </a:gsLst>
            <a:lin ang="5400000" scaled="0"/>
          </a:gra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9164622-9367-4AED-975E-4749F29AC5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820" y="262759"/>
            <a:ext cx="1590675" cy="1066800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B0CB6A12-09E9-4287-84AC-2544D6629667}"/>
              </a:ext>
            </a:extLst>
          </p:cNvPr>
          <p:cNvSpPr/>
          <p:nvPr/>
        </p:nvSpPr>
        <p:spPr bwMode="auto">
          <a:xfrm>
            <a:off x="5833240" y="0"/>
            <a:ext cx="6358759" cy="6858000"/>
          </a:xfrm>
          <a:prstGeom prst="rect">
            <a:avLst/>
          </a:prstGeom>
          <a:solidFill>
            <a:srgbClr val="FFC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s-ES" sz="2000" dirty="0" err="1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026" name="Picture 2" descr="AWS - Almeritek.com">
            <a:extLst>
              <a:ext uri="{FF2B5EF4-FFF2-40B4-BE49-F238E27FC236}">
                <a16:creationId xmlns:a16="http://schemas.microsoft.com/office/drawing/2014/main" id="{381E3D9A-2903-4E08-8F5D-B2F634485D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285875"/>
            <a:ext cx="5715000" cy="428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A5D5D5B0-D2DF-4A15-8185-0FEEAB8C60B7}"/>
              </a:ext>
            </a:extLst>
          </p:cNvPr>
          <p:cNvSpPr/>
          <p:nvPr/>
        </p:nvSpPr>
        <p:spPr>
          <a:xfrm>
            <a:off x="556578" y="1715079"/>
            <a:ext cx="497732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3600" b="1" dirty="0">
                <a:latin typeface="+mj-lt"/>
              </a:rPr>
              <a:t>AWS</a:t>
            </a:r>
            <a:r>
              <a:rPr lang="es-ES" b="1" dirty="0">
                <a:latin typeface="+mj-lt"/>
              </a:rPr>
              <a:t> SOLUTIONS ARCHITECT ASSOCIATE</a:t>
            </a: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A2878CDE-ECC2-4813-836F-4CAC5E6BA312}"/>
              </a:ext>
            </a:extLst>
          </p:cNvPr>
          <p:cNvSpPr/>
          <p:nvPr/>
        </p:nvSpPr>
        <p:spPr>
          <a:xfrm>
            <a:off x="556579" y="2576928"/>
            <a:ext cx="5276662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ES" sz="3600" b="1" dirty="0">
                <a:latin typeface="+mj-lt"/>
              </a:rPr>
              <a:t>Module 14:</a:t>
            </a:r>
          </a:p>
          <a:p>
            <a:r>
              <a:rPr lang="en-US" sz="3600" b="1" dirty="0">
                <a:latin typeface="+mj-lt"/>
              </a:rPr>
              <a:t>Architecture Best Practices</a:t>
            </a:r>
            <a:endParaRPr lang="es-ES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297134412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Module Overview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2D3DB3-B59D-4E6F-98E4-F1169ABE03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135943"/>
            <a:ext cx="11018520" cy="2548390"/>
          </a:xfrm>
        </p:spPr>
        <p:txBody>
          <a:bodyPr/>
          <a:lstStyle/>
          <a:p>
            <a:r>
              <a:rPr lang="en-US" sz="3600" dirty="0"/>
              <a:t>Design for Failure and Nothing Fails</a:t>
            </a:r>
          </a:p>
          <a:p>
            <a:r>
              <a:rPr lang="en-US" sz="3600" dirty="0"/>
              <a:t>Implement Elasticity</a:t>
            </a:r>
          </a:p>
          <a:p>
            <a:r>
              <a:rPr lang="en-US" sz="3600" dirty="0"/>
              <a:t>Leverage Different Storage Options</a:t>
            </a:r>
          </a:p>
          <a:p>
            <a:r>
              <a:rPr lang="en-US" sz="3600" dirty="0"/>
              <a:t>Build Security in Every Layer</a:t>
            </a:r>
          </a:p>
        </p:txBody>
      </p:sp>
    </p:spTree>
    <p:extLst>
      <p:ext uri="{BB962C8B-B14F-4D97-AF65-F5344CB8AC3E}">
        <p14:creationId xmlns:p14="http://schemas.microsoft.com/office/powerpoint/2010/main" val="532585946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01: Design for Failure and Nothing Fails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0328699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for Failure and Nothing Fails</a:t>
            </a:r>
          </a:p>
        </p:txBody>
      </p:sp>
      <p:grpSp>
        <p:nvGrpSpPr>
          <p:cNvPr id="7" name="Grupo 6">
            <a:extLst>
              <a:ext uri="{FF2B5EF4-FFF2-40B4-BE49-F238E27FC236}">
                <a16:creationId xmlns:a16="http://schemas.microsoft.com/office/drawing/2014/main" id="{0B46FE7E-39CC-4149-BC59-104C948A987C}"/>
              </a:ext>
            </a:extLst>
          </p:cNvPr>
          <p:cNvGrpSpPr/>
          <p:nvPr/>
        </p:nvGrpSpPr>
        <p:grpSpPr>
          <a:xfrm>
            <a:off x="588263" y="1134535"/>
            <a:ext cx="3590932" cy="5568091"/>
            <a:chOff x="588263" y="1134535"/>
            <a:chExt cx="3590932" cy="5568091"/>
          </a:xfrm>
        </p:grpSpPr>
        <p:pic>
          <p:nvPicPr>
            <p:cNvPr id="1026" name="Picture 2" descr="FIGURE 14.1 Simple web application architecture">
              <a:extLst>
                <a:ext uri="{FF2B5EF4-FFF2-40B4-BE49-F238E27FC236}">
                  <a16:creationId xmlns:a16="http://schemas.microsoft.com/office/drawing/2014/main" id="{A81EF55D-5722-415A-9109-499D090164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8263" y="1134535"/>
              <a:ext cx="3430791" cy="51985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0295BA00-17AA-40BB-BF8B-BBB51FF95C02}"/>
                </a:ext>
              </a:extLst>
            </p:cNvPr>
            <p:cNvSpPr txBox="1"/>
            <p:nvPr/>
          </p:nvSpPr>
          <p:spPr>
            <a:xfrm>
              <a:off x="622131" y="6456405"/>
              <a:ext cx="3557064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s-ES" sz="16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Simple Web Application Architecture</a:t>
              </a:r>
            </a:p>
          </p:txBody>
        </p:sp>
      </p:grpSp>
      <p:grpSp>
        <p:nvGrpSpPr>
          <p:cNvPr id="8" name="Grupo 7">
            <a:extLst>
              <a:ext uri="{FF2B5EF4-FFF2-40B4-BE49-F238E27FC236}">
                <a16:creationId xmlns:a16="http://schemas.microsoft.com/office/drawing/2014/main" id="{A6BD7075-03B1-448A-A93B-904944442DF3}"/>
              </a:ext>
            </a:extLst>
          </p:cNvPr>
          <p:cNvGrpSpPr/>
          <p:nvPr/>
        </p:nvGrpSpPr>
        <p:grpSpPr>
          <a:xfrm>
            <a:off x="5650521" y="1134534"/>
            <a:ext cx="5919348" cy="5534224"/>
            <a:chOff x="5650521" y="1134534"/>
            <a:chExt cx="5919348" cy="5534224"/>
          </a:xfrm>
        </p:grpSpPr>
        <p:pic>
          <p:nvPicPr>
            <p:cNvPr id="1028" name="Picture 4" descr="FIGURE 14.2 Updated web application architecture with redundancy">
              <a:extLst>
                <a:ext uri="{FF2B5EF4-FFF2-40B4-BE49-F238E27FC236}">
                  <a16:creationId xmlns:a16="http://schemas.microsoft.com/office/drawing/2014/main" id="{540FB225-CB24-449B-8520-24DB1B4201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50521" y="1134534"/>
              <a:ext cx="5919348" cy="51985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7217C429-A8FE-47EC-9E9D-D77C332FCB9D}"/>
                </a:ext>
              </a:extLst>
            </p:cNvPr>
            <p:cNvSpPr txBox="1"/>
            <p:nvPr/>
          </p:nvSpPr>
          <p:spPr>
            <a:xfrm>
              <a:off x="6740440" y="6422537"/>
              <a:ext cx="4084131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s-ES" sz="1600" b="1" dirty="0">
                  <a:gradFill>
                    <a:gsLst>
                      <a:gs pos="2917">
                        <a:schemeClr val="tx1"/>
                      </a:gs>
                      <a:gs pos="30000">
                        <a:schemeClr val="tx1"/>
                      </a:gs>
                    </a:gsLst>
                    <a:lin ang="5400000" scaled="0"/>
                  </a:gradFill>
                </a:rPr>
                <a:t>Redundance Web Application Architecture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16718054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02: Implement Elasticity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2610401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 Elasticity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73200"/>
            <a:ext cx="10287000" cy="4912114"/>
          </a:xfrm>
        </p:spPr>
        <p:txBody>
          <a:bodyPr/>
          <a:lstStyle/>
          <a:p>
            <a:r>
              <a:rPr lang="en-US" sz="3600" dirty="0"/>
              <a:t>Scaling Vertically</a:t>
            </a:r>
          </a:p>
          <a:p>
            <a:r>
              <a:rPr lang="en-US" sz="3600" dirty="0"/>
              <a:t>Scaling Horizontally</a:t>
            </a:r>
          </a:p>
          <a:p>
            <a:r>
              <a:rPr lang="en-US" sz="3600" dirty="0"/>
              <a:t>Stateless Applications</a:t>
            </a:r>
          </a:p>
          <a:p>
            <a:r>
              <a:rPr lang="en-US" sz="3600" dirty="0"/>
              <a:t>Stateless Components</a:t>
            </a:r>
          </a:p>
          <a:p>
            <a:r>
              <a:rPr lang="en-US" sz="3600" dirty="0"/>
              <a:t>Stateful Components</a:t>
            </a:r>
          </a:p>
          <a:p>
            <a:r>
              <a:rPr lang="en-US" sz="3600" dirty="0"/>
              <a:t>Deployment Automation</a:t>
            </a:r>
          </a:p>
          <a:p>
            <a:pPr lvl="1"/>
            <a:r>
              <a:rPr lang="en-US" sz="2800" dirty="0"/>
              <a:t>Automate Your Infrastructure</a:t>
            </a:r>
          </a:p>
          <a:p>
            <a:pPr lvl="1"/>
            <a:r>
              <a:rPr lang="en-US" sz="2800" dirty="0"/>
              <a:t>Bootstrap Your Instances</a:t>
            </a:r>
          </a:p>
        </p:txBody>
      </p:sp>
    </p:spTree>
    <p:extLst>
      <p:ext uri="{BB962C8B-B14F-4D97-AF65-F5344CB8AC3E}">
        <p14:creationId xmlns:p14="http://schemas.microsoft.com/office/powerpoint/2010/main" val="38674249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 Elasticity</a:t>
            </a:r>
          </a:p>
        </p:txBody>
      </p:sp>
      <p:pic>
        <p:nvPicPr>
          <p:cNvPr id="2050" name="Picture 2" descr="FIGURE 14.3 Updated web application architecture with auto scaling">
            <a:extLst>
              <a:ext uri="{FF2B5EF4-FFF2-40B4-BE49-F238E27FC236}">
                <a16:creationId xmlns:a16="http://schemas.microsoft.com/office/drawing/2014/main" id="{8951A760-04DD-47A5-9769-EB1253958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4667" y="1143681"/>
            <a:ext cx="4757315" cy="51047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E992B85-C3EF-4294-95F7-9FD8FFE16486}"/>
              </a:ext>
            </a:extLst>
          </p:cNvPr>
          <p:cNvSpPr txBox="1"/>
          <p:nvPr/>
        </p:nvSpPr>
        <p:spPr>
          <a:xfrm>
            <a:off x="3980442" y="6125290"/>
            <a:ext cx="4574137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16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Web Application Architecture with Auto Scaling</a:t>
            </a:r>
          </a:p>
        </p:txBody>
      </p:sp>
    </p:spTree>
    <p:extLst>
      <p:ext uri="{BB962C8B-B14F-4D97-AF65-F5344CB8AC3E}">
        <p14:creationId xmlns:p14="http://schemas.microsoft.com/office/powerpoint/2010/main" val="1891679820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03: Leverage Different Storage Options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0319623"/>
      </p:ext>
    </p:ext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en-US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Leverage Different Storage Options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4ED93FEB-FD2B-408C-8553-6810A710E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6264516"/>
              </p:ext>
            </p:extLst>
          </p:nvPr>
        </p:nvGraphicFramePr>
        <p:xfrm>
          <a:off x="1244600" y="1139927"/>
          <a:ext cx="9702799" cy="47395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0067">
                  <a:extLst>
                    <a:ext uri="{9D8B030D-6E8A-4147-A177-3AD203B41FA5}">
                      <a16:colId xmlns:a16="http://schemas.microsoft.com/office/drawing/2014/main" val="3452000895"/>
                    </a:ext>
                  </a:extLst>
                </a:gridCol>
                <a:gridCol w="3242732">
                  <a:extLst>
                    <a:ext uri="{9D8B030D-6E8A-4147-A177-3AD203B41FA5}">
                      <a16:colId xmlns:a16="http://schemas.microsoft.com/office/drawing/2014/main" val="2197320876"/>
                    </a:ext>
                  </a:extLst>
                </a:gridCol>
              </a:tblGrid>
              <a:tr h="28561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err="1">
                          <a:solidFill>
                            <a:schemeClr val="tx1"/>
                          </a:solidFill>
                          <a:effectLst/>
                        </a:rPr>
                        <a:t>Sample</a:t>
                      </a: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600" dirty="0" err="1">
                          <a:solidFill>
                            <a:schemeClr val="tx1"/>
                          </a:solidFill>
                          <a:effectLst/>
                        </a:rPr>
                        <a:t>Scenario</a:t>
                      </a:r>
                      <a:endParaRPr lang="es-ES" sz="1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Storage </a:t>
                      </a:r>
                      <a:r>
                        <a:rPr lang="es-ES" sz="16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</a:t>
                      </a:r>
                      <a:endParaRPr lang="es-ES" sz="16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802616"/>
                  </a:ext>
                </a:extLst>
              </a:tr>
              <a:tr h="525355">
                <a:tc>
                  <a:txBody>
                    <a:bodyPr/>
                    <a:lstStyle/>
                    <a:p>
                      <a:pPr marL="185738" indent="-185738" algn="l" defTabSz="932742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Your web application needs large-scale storage capacity and performance.</a:t>
                      </a:r>
                    </a:p>
                    <a:p>
                      <a:pPr marL="185738" indent="-185738" algn="l" defTabSz="932742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need cloud storage with high data durability to support backup and active archives for disaster recovery.</a:t>
                      </a:r>
                      <a:endParaRPr lang="es-E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CF0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Amazon S3</a:t>
                      </a:r>
                      <a:endParaRPr lang="es-ES" sz="1600" dirty="0"/>
                    </a:p>
                  </a:txBody>
                  <a:tcPr>
                    <a:solidFill>
                      <a:srgbClr val="FC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77561"/>
                  </a:ext>
                </a:extLst>
              </a:tr>
              <a:tr h="404151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require cloud storage for data archiving and long-term backup.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Amazon Glacier</a:t>
                      </a:r>
                      <a:endParaRPr lang="es-E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117668"/>
                  </a:ext>
                </a:extLst>
              </a:tr>
              <a:tr h="404151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require a content delivery network to deliver entire websites, including dynamic, static, streaming, and interactive content using a global network of edge locations.</a:t>
                      </a:r>
                      <a:endParaRPr lang="es-ES" sz="1600" dirty="0"/>
                    </a:p>
                  </a:txBody>
                  <a:tcPr>
                    <a:solidFill>
                      <a:srgbClr val="FCF0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Amazon CloudFront</a:t>
                      </a:r>
                      <a:endParaRPr lang="es-ES" sz="1600" dirty="0"/>
                    </a:p>
                  </a:txBody>
                  <a:tcPr>
                    <a:solidFill>
                      <a:srgbClr val="FC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776927"/>
                  </a:ext>
                </a:extLst>
              </a:tr>
              <a:tr h="746626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require a fast and flexible NoSQL database with a flexible data model 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and </a:t>
                      </a:r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reliable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performance.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Amazon </a:t>
                      </a:r>
                      <a:r>
                        <a:rPr lang="es-ES" sz="1800" b="0" i="0" u="none" strike="noStrike" kern="1200" baseline="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DynamoDB</a:t>
                      </a:r>
                      <a:endParaRPr lang="es-E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97792"/>
                  </a:ext>
                </a:extLst>
              </a:tr>
              <a:tr h="445033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need reliable block storage to run mission-critical applications such as Oracle, SAP, Microsoft Exchange, and Microsoft SharePoint.</a:t>
                      </a:r>
                      <a:endParaRPr lang="es-E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CF0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Amazon EBS</a:t>
                      </a:r>
                      <a:endParaRPr lang="es-ES" sz="1600" dirty="0"/>
                    </a:p>
                  </a:txBody>
                  <a:tcPr>
                    <a:solidFill>
                      <a:srgbClr val="FC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947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23094316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en-US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Leverage Different Storage Options</a:t>
            </a:r>
          </a:p>
        </p:txBody>
      </p:sp>
      <p:graphicFrame>
        <p:nvGraphicFramePr>
          <p:cNvPr id="6" name="Tabla 5">
            <a:extLst>
              <a:ext uri="{FF2B5EF4-FFF2-40B4-BE49-F238E27FC236}">
                <a16:creationId xmlns:a16="http://schemas.microsoft.com/office/drawing/2014/main" id="{4ED93FEB-FD2B-408C-8553-6810A710ED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3119720"/>
              </p:ext>
            </p:extLst>
          </p:nvPr>
        </p:nvGraphicFramePr>
        <p:xfrm>
          <a:off x="1244600" y="1139927"/>
          <a:ext cx="9702799" cy="41908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60067">
                  <a:extLst>
                    <a:ext uri="{9D8B030D-6E8A-4147-A177-3AD203B41FA5}">
                      <a16:colId xmlns:a16="http://schemas.microsoft.com/office/drawing/2014/main" val="3452000895"/>
                    </a:ext>
                  </a:extLst>
                </a:gridCol>
                <a:gridCol w="3242732">
                  <a:extLst>
                    <a:ext uri="{9D8B030D-6E8A-4147-A177-3AD203B41FA5}">
                      <a16:colId xmlns:a16="http://schemas.microsoft.com/office/drawing/2014/main" val="2197320876"/>
                    </a:ext>
                  </a:extLst>
                </a:gridCol>
              </a:tblGrid>
              <a:tr h="285612">
                <a:tc>
                  <a:txBody>
                    <a:bodyPr/>
                    <a:lstStyle/>
                    <a:p>
                      <a:pPr algn="ctr"/>
                      <a:r>
                        <a:rPr lang="es-ES" sz="1600" dirty="0" err="1">
                          <a:solidFill>
                            <a:schemeClr val="tx1"/>
                          </a:solidFill>
                          <a:effectLst/>
                        </a:rPr>
                        <a:t>Sample</a:t>
                      </a:r>
                      <a:r>
                        <a:rPr lang="es-ES" sz="1600" dirty="0">
                          <a:solidFill>
                            <a:schemeClr val="tx1"/>
                          </a:solidFill>
                          <a:effectLst/>
                        </a:rPr>
                        <a:t> </a:t>
                      </a:r>
                      <a:r>
                        <a:rPr lang="es-ES" sz="1600" dirty="0" err="1">
                          <a:solidFill>
                            <a:schemeClr val="tx1"/>
                          </a:solidFill>
                          <a:effectLst/>
                        </a:rPr>
                        <a:t>Scenario</a:t>
                      </a:r>
                      <a:endParaRPr lang="es-ES" sz="1600" dirty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600" b="1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Storage </a:t>
                      </a:r>
                      <a:r>
                        <a:rPr lang="es-ES" sz="1600" b="1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Option</a:t>
                      </a:r>
                      <a:endParaRPr lang="es-ES" sz="1600" b="1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5802616"/>
                  </a:ext>
                </a:extLst>
              </a:tr>
              <a:tr h="525355">
                <a:tc>
                  <a:txBody>
                    <a:bodyPr/>
                    <a:lstStyle/>
                    <a:p>
                      <a:pPr marL="0" indent="0" algn="l" defTabSz="932742" rtl="0" eaLnBrk="1" latinLnBrk="0" hangingPunct="1">
                        <a:buFont typeface="Arial" panose="020B0604020202020204" pitchFamily="34" charset="0"/>
                        <a:buNone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need a highly available, scalable, and secure MySQL database without the time-consuming administrative tasks.</a:t>
                      </a:r>
                      <a:endParaRPr lang="es-E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CF0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Amazon RDS</a:t>
                      </a:r>
                      <a:endParaRPr lang="es-ES" sz="1600" dirty="0"/>
                    </a:p>
                  </a:txBody>
                  <a:tcPr>
                    <a:solidFill>
                      <a:srgbClr val="FC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0177561"/>
                  </a:ext>
                </a:extLst>
              </a:tr>
              <a:tr h="404151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need a fast, powerful, fully-managed, petabyte-scale data warehouse to support business analytics of your e-commerce application.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Amazon Glacier</a:t>
                      </a:r>
                      <a:endParaRPr lang="es-E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117668"/>
                  </a:ext>
                </a:extLst>
              </a:tr>
              <a:tr h="404151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require a content delivery network to deliver entire websites, including dynamic, static, streaming, and interactive content using a global network of edge locations.</a:t>
                      </a:r>
                      <a:endParaRPr lang="es-ES" sz="1600" dirty="0"/>
                    </a:p>
                  </a:txBody>
                  <a:tcPr>
                    <a:solidFill>
                      <a:srgbClr val="FCF0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Amazon Redshift</a:t>
                      </a:r>
                      <a:endParaRPr lang="es-ES" sz="1600" dirty="0"/>
                    </a:p>
                  </a:txBody>
                  <a:tcPr>
                    <a:solidFill>
                      <a:srgbClr val="FC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8776927"/>
                  </a:ext>
                </a:extLst>
              </a:tr>
              <a:tr h="746626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need a Redis cluster to store session information for your web </a:t>
                      </a:r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application.</a:t>
                      </a:r>
                      <a:endParaRPr lang="es-E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Amazon ElastiCache</a:t>
                      </a:r>
                      <a:endParaRPr lang="es-E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097792"/>
                  </a:ext>
                </a:extLst>
              </a:tr>
              <a:tr h="445033">
                <a:tc>
                  <a:txBody>
                    <a:bodyPr/>
                    <a:lstStyle/>
                    <a:p>
                      <a:r>
                        <a:rPr lang="en-U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You need a common file system for your application that is shared between more than one Amazon EC2 instance.</a:t>
                      </a:r>
                      <a:endParaRPr lang="es-ES" sz="1800" b="0" i="0" u="none" strike="noStrike" kern="1200" baseline="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FCF0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Amazon Elastic File System</a:t>
                      </a:r>
                    </a:p>
                    <a:p>
                      <a:r>
                        <a:rPr lang="es-ES" sz="18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(Amazon EFS)</a:t>
                      </a:r>
                      <a:endParaRPr lang="es-ES" sz="1600" dirty="0"/>
                    </a:p>
                  </a:txBody>
                  <a:tcPr>
                    <a:solidFill>
                      <a:srgbClr val="FC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629471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665495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en-US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Leverage Different Storage Options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F198A5B7-65BB-45FF-A78C-F5269A86F0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0020" y="1302363"/>
            <a:ext cx="5471714" cy="4878303"/>
          </a:xfrm>
          <a:prstGeom prst="rect">
            <a:avLst/>
          </a:prstGeom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C2F7C219-C254-4A0B-9895-EAE8CCEC3A26}"/>
              </a:ext>
            </a:extLst>
          </p:cNvPr>
          <p:cNvSpPr txBox="1"/>
          <p:nvPr/>
        </p:nvSpPr>
        <p:spPr>
          <a:xfrm>
            <a:off x="2980266" y="6154579"/>
            <a:ext cx="6670865" cy="246221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s-ES" sz="16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Web Application Architecture with Amazon S3 &amp; Amazon </a:t>
            </a:r>
            <a:r>
              <a:rPr lang="es-ES" sz="1600" b="1" dirty="0" err="1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CloudFront</a:t>
            </a:r>
            <a:endParaRPr lang="es-ES" sz="1600" b="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</p:spTree>
    <p:extLst>
      <p:ext uri="{BB962C8B-B14F-4D97-AF65-F5344CB8AC3E}">
        <p14:creationId xmlns:p14="http://schemas.microsoft.com/office/powerpoint/2010/main" val="3193402215"/>
      </p:ext>
    </p:ext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492443"/>
          </a:xfrm>
        </p:spPr>
        <p:txBody>
          <a:bodyPr/>
          <a:lstStyle/>
          <a:p>
            <a:r>
              <a:rPr lang="en-US" sz="3200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Leverage Different Storage Options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2F7C219-C254-4A0B-9895-EAE8CCEC3A26}"/>
              </a:ext>
            </a:extLst>
          </p:cNvPr>
          <p:cNvSpPr txBox="1"/>
          <p:nvPr/>
        </p:nvSpPr>
        <p:spPr>
          <a:xfrm>
            <a:off x="2980266" y="6154579"/>
            <a:ext cx="6564298" cy="492443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s-ES" sz="16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Web Application Architecture with </a:t>
            </a:r>
            <a:r>
              <a:rPr lang="en-US" sz="16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Amazon ElastiCache and Amazon</a:t>
            </a:r>
          </a:p>
          <a:p>
            <a:r>
              <a:rPr lang="en-US" sz="1600" b="1" dirty="0">
                <a:gradFill>
                  <a:gsLst>
                    <a:gs pos="2917">
                      <a:schemeClr val="tx1"/>
                    </a:gs>
                    <a:gs pos="30000">
                      <a:schemeClr val="tx1"/>
                    </a:gs>
                  </a:gsLst>
                  <a:lin ang="5400000" scaled="0"/>
                </a:gradFill>
              </a:rPr>
              <a:t>DynamoDB</a:t>
            </a:r>
            <a:endParaRPr lang="es-ES" sz="1600" b="1" dirty="0">
              <a:gradFill>
                <a:gsLst>
                  <a:gs pos="2917">
                    <a:schemeClr val="tx1"/>
                  </a:gs>
                  <a:gs pos="30000">
                    <a:schemeClr val="tx1"/>
                  </a:gs>
                </a:gsLst>
                <a:lin ang="5400000" scaled="0"/>
              </a:gradFill>
            </a:endParaRPr>
          </a:p>
        </p:txBody>
      </p:sp>
      <p:pic>
        <p:nvPicPr>
          <p:cNvPr id="4098" name="Picture 2" descr="FIGURE 14.5 Updated web application architecture with Amazon ElastiCache and Amazon">
            <a:extLst>
              <a:ext uri="{FF2B5EF4-FFF2-40B4-BE49-F238E27FC236}">
                <a16:creationId xmlns:a16="http://schemas.microsoft.com/office/drawing/2014/main" id="{ECF10644-395A-4501-BA41-21EF03EA13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2468" y="1129803"/>
            <a:ext cx="5777669" cy="49356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113858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>
            <a:alpha val="5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5863AA4-A22B-4817-B977-60BCCF6C9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6" y="3035808"/>
            <a:ext cx="10764656" cy="553998"/>
          </a:xfrm>
        </p:spPr>
        <p:txBody>
          <a:bodyPr/>
          <a:lstStyle/>
          <a:p>
            <a:r>
              <a:rPr lang="en-US" dirty="0"/>
              <a:t>Lesson 04: Build Security in Every Layer</a:t>
            </a:r>
          </a:p>
        </p:txBody>
      </p:sp>
      <p:pic>
        <p:nvPicPr>
          <p:cNvPr id="2052" name="Picture 4" descr="AWS (Amazon Web Services): El Cloud Computing del presente ...">
            <a:extLst>
              <a:ext uri="{FF2B5EF4-FFF2-40B4-BE49-F238E27FC236}">
                <a16:creationId xmlns:a16="http://schemas.microsoft.com/office/drawing/2014/main" id="{57E1B657-D466-432E-9C07-8E4351E76E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15807" y="4541774"/>
            <a:ext cx="4876800" cy="1781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7755779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06FB1-ADCB-44A6-A586-4BE06B83C4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 dirty="0">
                <a:solidFill>
                  <a:srgbClr val="FFC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Build Security in Every Layer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CA3C862-1CD9-481E-8C7A-076CE63DDFC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1473200"/>
            <a:ext cx="10287000" cy="3213187"/>
          </a:xfrm>
        </p:spPr>
        <p:txBody>
          <a:bodyPr/>
          <a:lstStyle/>
          <a:p>
            <a:r>
              <a:rPr lang="en-US" sz="3600" dirty="0"/>
              <a:t>Use AWS Features for Defense in Depth</a:t>
            </a:r>
          </a:p>
          <a:p>
            <a:r>
              <a:rPr lang="en-US" sz="3600" dirty="0"/>
              <a:t>Offload Security Responsibility to AWS</a:t>
            </a:r>
          </a:p>
          <a:p>
            <a:r>
              <a:rPr lang="en-US" sz="3600" dirty="0"/>
              <a:t>Reduce Privileged Access</a:t>
            </a:r>
          </a:p>
          <a:p>
            <a:r>
              <a:rPr lang="en-US" sz="3600" dirty="0"/>
              <a:t>Security as Code</a:t>
            </a:r>
          </a:p>
          <a:p>
            <a:r>
              <a:rPr lang="en-US" sz="3600"/>
              <a:t>Real-Time Auditing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728958188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WHITE TEMPLATE">
  <a:themeElements>
    <a:clrScheme name="ST_Illustration_White_Blue">
      <a:dk1>
        <a:srgbClr val="1A1A1A"/>
      </a:dk1>
      <a:lt1>
        <a:srgbClr val="FFFFFF"/>
      </a:lt1>
      <a:dk2>
        <a:srgbClr val="0D0D0D"/>
      </a:dk2>
      <a:lt2>
        <a:srgbClr val="D2D2D2"/>
      </a:lt2>
      <a:accent1>
        <a:srgbClr val="0078D4"/>
      </a:accent1>
      <a:accent2>
        <a:srgbClr val="002050"/>
      </a:accent2>
      <a:accent3>
        <a:srgbClr val="107C10"/>
      </a:accent3>
      <a:accent4>
        <a:srgbClr val="D73B01"/>
      </a:accent4>
      <a:accent5>
        <a:srgbClr val="737373"/>
      </a:accent5>
      <a:accent6>
        <a:srgbClr val="E6E6E6"/>
      </a:accent6>
      <a:hlink>
        <a:srgbClr val="0078D4"/>
      </a:hlink>
      <a:folHlink>
        <a:srgbClr val="0078D4"/>
      </a:folHlink>
    </a:clrScheme>
    <a:fontScheme name="Segoe UI Semibold - Segoe UI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gradFill>
              <a:gsLst>
                <a:gs pos="0">
                  <a:srgbClr val="FFFFFF"/>
                </a:gs>
                <a:gs pos="100000">
                  <a:srgbClr val="FFFFFF"/>
                </a:gs>
              </a:gsLst>
              <a:lin ang="5400000" scaled="0"/>
            </a:gra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>
            <a:gradFill>
              <a:gsLst>
                <a:gs pos="2917">
                  <a:schemeClr val="tx1"/>
                </a:gs>
                <a:gs pos="30000">
                  <a:schemeClr val="tx1"/>
                </a:gs>
              </a:gsLst>
              <a:lin ang="5400000" scaled="0"/>
            </a:gra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16-9_Illustration_2018_Cloud_011.potx" id="{762B47AA-A827-4F63-8EDD-1F6B4767BB62}" vid="{53DB83EF-4F78-4F48-A301-01610C79C1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402</Words>
  <Application>Microsoft Office PowerPoint</Application>
  <PresentationFormat>Panorámica</PresentationFormat>
  <Paragraphs>65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22" baseType="lpstr">
      <vt:lpstr>Arial</vt:lpstr>
      <vt:lpstr>Calibri</vt:lpstr>
      <vt:lpstr>Consolas</vt:lpstr>
      <vt:lpstr>Segoe UI</vt:lpstr>
      <vt:lpstr>Segoe UI Semibold</vt:lpstr>
      <vt:lpstr>Segoe UI Semilight</vt:lpstr>
      <vt:lpstr>Wingdings</vt:lpstr>
      <vt:lpstr>WHITE TEMPLATE</vt:lpstr>
      <vt:lpstr>Presentación de PowerPoint</vt:lpstr>
      <vt:lpstr>Module Overview</vt:lpstr>
      <vt:lpstr>Lesson 01: Design for Failure and Nothing Fails</vt:lpstr>
      <vt:lpstr>Design for Failure and Nothing Fails</vt:lpstr>
      <vt:lpstr>Lesson 02: Implement Elasticity</vt:lpstr>
      <vt:lpstr>Implement Elasticity</vt:lpstr>
      <vt:lpstr>Implement Elasticity</vt:lpstr>
      <vt:lpstr>Lesson 03: Leverage Different Storage Options</vt:lpstr>
      <vt:lpstr>Leverage Different Storage Options</vt:lpstr>
      <vt:lpstr>Leverage Different Storage Options</vt:lpstr>
      <vt:lpstr>Leverage Different Storage Options</vt:lpstr>
      <vt:lpstr>Leverage Different Storage Options</vt:lpstr>
      <vt:lpstr>Lesson 04: Build Security in Every Layer</vt:lpstr>
      <vt:lpstr>Build Security in Every Layer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2019-10-14T12:29:36Z</dcterms:created>
  <dcterms:modified xsi:type="dcterms:W3CDTF">2020-06-17T20:43:59Z</dcterms:modified>
</cp:coreProperties>
</file>