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24"/>
  </p:notesMasterIdLst>
  <p:sldIdLst>
    <p:sldId id="2237" r:id="rId2"/>
    <p:sldId id="2021" r:id="rId3"/>
    <p:sldId id="2253" r:id="rId4"/>
    <p:sldId id="2278" r:id="rId5"/>
    <p:sldId id="2313" r:id="rId6"/>
    <p:sldId id="2314" r:id="rId7"/>
    <p:sldId id="2300" r:id="rId8"/>
    <p:sldId id="2301" r:id="rId9"/>
    <p:sldId id="2316" r:id="rId10"/>
    <p:sldId id="2317" r:id="rId11"/>
    <p:sldId id="2302" r:id="rId12"/>
    <p:sldId id="2304" r:id="rId13"/>
    <p:sldId id="2318" r:id="rId14"/>
    <p:sldId id="2307" r:id="rId15"/>
    <p:sldId id="2308" r:id="rId16"/>
    <p:sldId id="2309" r:id="rId17"/>
    <p:sldId id="2310" r:id="rId18"/>
    <p:sldId id="2319" r:id="rId19"/>
    <p:sldId id="2311" r:id="rId20"/>
    <p:sldId id="2312" r:id="rId21"/>
    <p:sldId id="2320" r:id="rId22"/>
    <p:sldId id="229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07D"/>
    <a:srgbClr val="FCF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82657" autoAdjust="0"/>
  </p:normalViewPr>
  <p:slideViewPr>
    <p:cSldViewPr snapToGrid="0">
      <p:cViewPr varScale="1">
        <p:scale>
          <a:sx n="91" d="100"/>
          <a:sy n="91" d="100"/>
        </p:scale>
        <p:origin x="9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F66F0-0810-43B6-89CA-8A60532D42CE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7DC7E-BC41-4478-BA30-CBCC3A644F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7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4572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572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328AE-26F0-42B9-988D-535B1145C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84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270E26-89BA-4369-9EF4-1B9EBAA3D00B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D2D2D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9" name="MS logo gray - EMF" descr="Microsoft logo, gray text version">
            <a:extLst>
              <a:ext uri="{FF2B5EF4-FFF2-40B4-BE49-F238E27FC236}">
                <a16:creationId xmlns:a16="http://schemas.microsoft.com/office/drawing/2014/main" id="{D03FE64B-525F-4B73-8C45-B4BC3BAD6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964678-FE6C-4226-A11B-8D452DA78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8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DC08157-A48C-4ACA-A5BB-EE2A866E10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26004-6E63-4034-A1B0-34BE8CEF3D76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240D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C1A9B4-AD16-4E53-919C-38204BAF9E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3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54881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68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810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79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0461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9360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8797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99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31573B-58F8-43B4-8E3E-6F895442CB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02903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C0FB-0396-463F-9527-BACCE9686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67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68736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F059F-BD0F-4211-86F6-E960C3EC18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3023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34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0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1908215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24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20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522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59104CAE-91B8-4A7E-9F8E-214C5F880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18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096692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164622-9367-4AED-975E-4749F29A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0" y="262759"/>
            <a:ext cx="1590675" cy="10668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0CB6A12-09E9-4287-84AC-2544D6629667}"/>
              </a:ext>
            </a:extLst>
          </p:cNvPr>
          <p:cNvSpPr/>
          <p:nvPr/>
        </p:nvSpPr>
        <p:spPr bwMode="auto">
          <a:xfrm>
            <a:off x="5833240" y="0"/>
            <a:ext cx="6358759" cy="6858000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s-E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26" name="Picture 2" descr="AWS - Almeritek.com">
            <a:extLst>
              <a:ext uri="{FF2B5EF4-FFF2-40B4-BE49-F238E27FC236}">
                <a16:creationId xmlns:a16="http://schemas.microsoft.com/office/drawing/2014/main" id="{381E3D9A-2903-4E08-8F5D-B2F634485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8587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5D5D5B0-D2DF-4A15-8185-0FEEAB8C60B7}"/>
              </a:ext>
            </a:extLst>
          </p:cNvPr>
          <p:cNvSpPr/>
          <p:nvPr/>
        </p:nvSpPr>
        <p:spPr>
          <a:xfrm>
            <a:off x="556578" y="1715079"/>
            <a:ext cx="4977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AWS</a:t>
            </a:r>
            <a:r>
              <a:rPr lang="es-ES" b="1" dirty="0">
                <a:latin typeface="+mj-lt"/>
              </a:rPr>
              <a:t> SOLUTIONS ARCHITECT ASSOCIATE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878CDE-ECC2-4813-836F-4CAC5E6BA312}"/>
              </a:ext>
            </a:extLst>
          </p:cNvPr>
          <p:cNvSpPr/>
          <p:nvPr/>
        </p:nvSpPr>
        <p:spPr>
          <a:xfrm>
            <a:off x="556579" y="2576928"/>
            <a:ext cx="52766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 dirty="0">
                <a:latin typeface="+mj-lt"/>
              </a:rPr>
              <a:t>Module 6:</a:t>
            </a:r>
          </a:p>
          <a:p>
            <a:r>
              <a:rPr lang="en-US" sz="3600" b="1" dirty="0">
                <a:latin typeface="+mj-lt"/>
              </a:rPr>
              <a:t>Monitoring to Enhance Security</a:t>
            </a:r>
            <a:endParaRPr lang="es-E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713441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124324" cy="4431983"/>
          </a:xfrm>
        </p:spPr>
        <p:txBody>
          <a:bodyPr/>
          <a:lstStyle/>
          <a:p>
            <a:r>
              <a:rPr lang="en-US" sz="3600" dirty="0"/>
              <a:t>AWS CloudTrail</a:t>
            </a:r>
          </a:p>
          <a:p>
            <a:r>
              <a:rPr lang="en-US" sz="3600" dirty="0"/>
              <a:t>Amazon Virtual Private Cloud (Amazon VPC) Flow Logs</a:t>
            </a:r>
          </a:p>
          <a:p>
            <a:r>
              <a:rPr lang="en-US" sz="3600" dirty="0"/>
              <a:t>AWS Config</a:t>
            </a:r>
          </a:p>
          <a:p>
            <a:r>
              <a:rPr lang="en-US" sz="3600" dirty="0"/>
              <a:t>Amazon Inspector</a:t>
            </a:r>
          </a:p>
          <a:p>
            <a:r>
              <a:rPr lang="en-US" sz="3600" dirty="0"/>
              <a:t>AWS Certificate Manager</a:t>
            </a:r>
          </a:p>
          <a:p>
            <a:r>
              <a:rPr lang="en-US" sz="3600" dirty="0"/>
              <a:t>AWS Web Application Firewall</a:t>
            </a:r>
          </a:p>
        </p:txBody>
      </p:sp>
    </p:spTree>
    <p:extLst>
      <p:ext uri="{BB962C8B-B14F-4D97-AF65-F5344CB8AC3E}">
        <p14:creationId xmlns:p14="http://schemas.microsoft.com/office/powerpoint/2010/main" val="532585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01: </a:t>
            </a:r>
            <a:r>
              <a:rPr lang="pt-BR" dirty="0"/>
              <a:t>AWS </a:t>
            </a:r>
            <a:r>
              <a:rPr lang="pt-BR" dirty="0" err="1"/>
              <a:t>CloudTrail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2869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CloudTrail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8590405" cy="4542782"/>
          </a:xfrm>
        </p:spPr>
        <p:txBody>
          <a:bodyPr/>
          <a:lstStyle/>
          <a:p>
            <a:r>
              <a:rPr lang="en-US" sz="3600" dirty="0"/>
              <a:t>Always on</a:t>
            </a:r>
          </a:p>
          <a:p>
            <a:r>
              <a:rPr lang="en-US" sz="3600" dirty="0"/>
              <a:t>Event history</a:t>
            </a:r>
          </a:p>
          <a:p>
            <a:r>
              <a:rPr lang="en-US" sz="3600" dirty="0"/>
              <a:t>Multi-region configuration</a:t>
            </a:r>
          </a:p>
          <a:p>
            <a:r>
              <a:rPr lang="en-US" sz="3600" dirty="0"/>
              <a:t>Log file integrity validation</a:t>
            </a:r>
          </a:p>
          <a:p>
            <a:r>
              <a:rPr lang="en-US" sz="3600" dirty="0"/>
              <a:t>Log file encryption</a:t>
            </a:r>
          </a:p>
          <a:p>
            <a:r>
              <a:rPr lang="en-US" sz="3600" dirty="0"/>
              <a:t>Data events</a:t>
            </a:r>
          </a:p>
          <a:p>
            <a:r>
              <a:rPr lang="en-US" sz="3600" dirty="0"/>
              <a:t>Management events</a:t>
            </a:r>
          </a:p>
        </p:txBody>
      </p:sp>
    </p:spTree>
    <p:extLst>
      <p:ext uri="{BB962C8B-B14F-4D97-AF65-F5344CB8AC3E}">
        <p14:creationId xmlns:p14="http://schemas.microsoft.com/office/powerpoint/2010/main" val="137499362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CloudTrail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8590405" cy="2769989"/>
          </a:xfrm>
        </p:spPr>
        <p:txBody>
          <a:bodyPr/>
          <a:lstStyle/>
          <a:p>
            <a:r>
              <a:rPr lang="en-US" sz="3600" dirty="0"/>
              <a:t>CloudTrail Insights</a:t>
            </a:r>
          </a:p>
          <a:p>
            <a:r>
              <a:rPr lang="en-US" sz="3600" dirty="0"/>
              <a:t>Integrations</a:t>
            </a:r>
          </a:p>
          <a:p>
            <a:pPr lvl="1"/>
            <a:r>
              <a:rPr lang="en-US" sz="2800" dirty="0"/>
              <a:t>AWS Lambda</a:t>
            </a:r>
          </a:p>
          <a:p>
            <a:pPr lvl="1"/>
            <a:r>
              <a:rPr lang="en-US" sz="2800" dirty="0"/>
              <a:t>Amazon CloudWatch Logs</a:t>
            </a:r>
          </a:p>
          <a:p>
            <a:pPr lvl="1"/>
            <a:r>
              <a:rPr lang="en-US" sz="2800" dirty="0"/>
              <a:t>Amazon CloudWatch Events</a:t>
            </a:r>
          </a:p>
        </p:txBody>
      </p:sp>
    </p:spTree>
    <p:extLst>
      <p:ext uri="{BB962C8B-B14F-4D97-AF65-F5344CB8AC3E}">
        <p14:creationId xmlns:p14="http://schemas.microsoft.com/office/powerpoint/2010/main" val="195947547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CloudTrail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How it works diagram">
            <a:extLst>
              <a:ext uri="{FF2B5EF4-FFF2-40B4-BE49-F238E27FC236}">
                <a16:creationId xmlns:a16="http://schemas.microsoft.com/office/drawing/2014/main" id="{3ABBBA63-0A22-4FC8-81EF-83767B4E9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97" y="1995489"/>
            <a:ext cx="10436772" cy="2660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15216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762539"/>
            <a:ext cx="10764656" cy="1107996"/>
          </a:xfrm>
        </p:spPr>
        <p:txBody>
          <a:bodyPr/>
          <a:lstStyle/>
          <a:p>
            <a:r>
              <a:rPr lang="en-US" dirty="0"/>
              <a:t>Lesson 02: </a:t>
            </a:r>
            <a:r>
              <a:rPr lang="pt-BR" dirty="0"/>
              <a:t>Amazon Virtual Private Cloud (Amazon VPC) Flow Logs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61040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(Amazon VPC) Flow Logs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241454" cy="4173450"/>
          </a:xfrm>
        </p:spPr>
        <p:txBody>
          <a:bodyPr/>
          <a:lstStyle/>
          <a:p>
            <a:r>
              <a:rPr lang="en-US" sz="3600" dirty="0"/>
              <a:t>Flow logs basics</a:t>
            </a:r>
          </a:p>
          <a:p>
            <a:pPr lvl="1"/>
            <a:r>
              <a:rPr lang="en-US" sz="2800" dirty="0"/>
              <a:t>Elastic Load Balancing</a:t>
            </a:r>
          </a:p>
          <a:p>
            <a:pPr lvl="1"/>
            <a:r>
              <a:rPr lang="en-US" sz="2800" dirty="0"/>
              <a:t>Amazon RDS</a:t>
            </a:r>
          </a:p>
          <a:p>
            <a:pPr lvl="1"/>
            <a:r>
              <a:rPr lang="en-US" sz="2800" dirty="0"/>
              <a:t>Amazon ElastiCache</a:t>
            </a:r>
          </a:p>
          <a:p>
            <a:pPr lvl="1"/>
            <a:r>
              <a:rPr lang="en-US" sz="2800" dirty="0"/>
              <a:t>Amazon Redshift</a:t>
            </a:r>
          </a:p>
          <a:p>
            <a:pPr lvl="1"/>
            <a:r>
              <a:rPr lang="en-US" sz="2800" dirty="0"/>
              <a:t>Amazon WorkSpaces</a:t>
            </a:r>
          </a:p>
          <a:p>
            <a:pPr lvl="1"/>
            <a:r>
              <a:rPr lang="en-US" sz="2800" dirty="0"/>
              <a:t>NAT gateways</a:t>
            </a:r>
          </a:p>
          <a:p>
            <a:pPr lvl="1"/>
            <a:r>
              <a:rPr lang="en-US" sz="2800" dirty="0"/>
              <a:t>Transit gateways</a:t>
            </a:r>
          </a:p>
        </p:txBody>
      </p:sp>
    </p:spTree>
    <p:extLst>
      <p:ext uri="{BB962C8B-B14F-4D97-AF65-F5344CB8AC3E}">
        <p14:creationId xmlns:p14="http://schemas.microsoft.com/office/powerpoint/2010/main" val="40583906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(Amazon VPC) Flow Logs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241454" cy="4616648"/>
          </a:xfrm>
        </p:spPr>
        <p:txBody>
          <a:bodyPr/>
          <a:lstStyle/>
          <a:p>
            <a:r>
              <a:rPr lang="en-US" sz="3600" dirty="0"/>
              <a:t>Flow log records</a:t>
            </a:r>
          </a:p>
          <a:p>
            <a:pPr lvl="1"/>
            <a:r>
              <a:rPr lang="en-US" sz="2800" dirty="0"/>
              <a:t>Aggregation interval</a:t>
            </a:r>
          </a:p>
          <a:p>
            <a:pPr lvl="1"/>
            <a:r>
              <a:rPr lang="en-US" sz="2800" dirty="0"/>
              <a:t>Default format</a:t>
            </a:r>
          </a:p>
          <a:p>
            <a:pPr lvl="1"/>
            <a:r>
              <a:rPr lang="en-US" sz="2800" dirty="0"/>
              <a:t>Custom format</a:t>
            </a:r>
          </a:p>
          <a:p>
            <a:pPr lvl="1"/>
            <a:r>
              <a:rPr lang="en-US" sz="2800" dirty="0"/>
              <a:t>Available fields</a:t>
            </a:r>
          </a:p>
          <a:p>
            <a:r>
              <a:rPr lang="en-US" sz="3600" dirty="0"/>
              <a:t>Flow log record examples</a:t>
            </a:r>
          </a:p>
          <a:p>
            <a:r>
              <a:rPr lang="en-US" sz="3600" dirty="0"/>
              <a:t>Flow log limitations</a:t>
            </a:r>
          </a:p>
          <a:p>
            <a:r>
              <a:rPr lang="en-US" sz="3600" dirty="0"/>
              <a:t>Flow logs pricing</a:t>
            </a:r>
          </a:p>
        </p:txBody>
      </p:sp>
    </p:spTree>
    <p:extLst>
      <p:ext uri="{BB962C8B-B14F-4D97-AF65-F5344CB8AC3E}">
        <p14:creationId xmlns:p14="http://schemas.microsoft.com/office/powerpoint/2010/main" val="354351871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(Amazon VPC) Flow Logs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 descr="&#10;                Flow logs for a subnet and an instance&#10;            ">
            <a:extLst>
              <a:ext uri="{FF2B5EF4-FFF2-40B4-BE49-F238E27FC236}">
                <a16:creationId xmlns:a16="http://schemas.microsoft.com/office/drawing/2014/main" id="{2F159E41-200B-4496-B1EE-3884E79D4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383" y="1093898"/>
            <a:ext cx="7027233" cy="489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5200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03: </a:t>
            </a:r>
            <a:r>
              <a:rPr lang="pt-BR" dirty="0"/>
              <a:t>AWS </a:t>
            </a:r>
            <a:r>
              <a:rPr lang="pt-BR" dirty="0" err="1"/>
              <a:t>Config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49269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188902" cy="4542782"/>
          </a:xfrm>
        </p:spPr>
        <p:txBody>
          <a:bodyPr/>
          <a:lstStyle/>
          <a:p>
            <a:r>
              <a:rPr lang="en-US" sz="3600" dirty="0"/>
              <a:t>Configuration history of AWS resources</a:t>
            </a:r>
          </a:p>
          <a:p>
            <a:r>
              <a:rPr lang="en-US" sz="3600" dirty="0"/>
              <a:t>Configuration history of software</a:t>
            </a:r>
          </a:p>
          <a:p>
            <a:r>
              <a:rPr lang="en-US" sz="3600" dirty="0"/>
              <a:t>Resource relationships tracking</a:t>
            </a:r>
          </a:p>
          <a:p>
            <a:r>
              <a:rPr lang="en-US" sz="3600" dirty="0"/>
              <a:t>Configurable and customizable rules</a:t>
            </a:r>
          </a:p>
          <a:p>
            <a:r>
              <a:rPr lang="en-US" sz="3600" dirty="0"/>
              <a:t>Conformance packs</a:t>
            </a:r>
          </a:p>
          <a:p>
            <a:r>
              <a:rPr lang="en-US" sz="3600" dirty="0"/>
              <a:t>Multi-account, multi-region data aggregation</a:t>
            </a:r>
          </a:p>
          <a:p>
            <a:r>
              <a:rPr lang="en-US" sz="3600" dirty="0"/>
              <a:t>Extensibility</a:t>
            </a:r>
          </a:p>
        </p:txBody>
      </p:sp>
    </p:spTree>
    <p:extLst>
      <p:ext uri="{BB962C8B-B14F-4D97-AF65-F5344CB8AC3E}">
        <p14:creationId xmlns:p14="http://schemas.microsoft.com/office/powerpoint/2010/main" val="364541636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188902" cy="5133713"/>
          </a:xfrm>
        </p:spPr>
        <p:txBody>
          <a:bodyPr/>
          <a:lstStyle/>
          <a:p>
            <a:r>
              <a:rPr lang="en-US" sz="3600" dirty="0"/>
              <a:t>Configuration snapshots</a:t>
            </a:r>
          </a:p>
          <a:p>
            <a:r>
              <a:rPr lang="en-US" sz="3600" dirty="0"/>
              <a:t>Cloud governance dashboard</a:t>
            </a:r>
          </a:p>
          <a:p>
            <a:r>
              <a:rPr lang="en-US" sz="3600" dirty="0"/>
              <a:t>Partner solutions</a:t>
            </a:r>
          </a:p>
          <a:p>
            <a:r>
              <a:rPr lang="en-US" sz="3600" dirty="0"/>
              <a:t>Integrations</a:t>
            </a:r>
          </a:p>
          <a:p>
            <a:pPr lvl="1"/>
            <a:r>
              <a:rPr lang="en-US" sz="2800" dirty="0"/>
              <a:t>Connect with ITSM / ITOM Software</a:t>
            </a:r>
          </a:p>
          <a:p>
            <a:pPr lvl="1"/>
            <a:r>
              <a:rPr lang="en-US" sz="2800" dirty="0"/>
              <a:t>AWS CloudTrail</a:t>
            </a:r>
          </a:p>
          <a:p>
            <a:pPr lvl="1"/>
            <a:r>
              <a:rPr lang="en-US" sz="2800" dirty="0"/>
              <a:t>AWS Systems Manager</a:t>
            </a:r>
          </a:p>
          <a:p>
            <a:pPr lvl="1"/>
            <a:r>
              <a:rPr lang="en-US" sz="2800" dirty="0"/>
              <a:t>Amazon EC2 Dedicated Host</a:t>
            </a:r>
          </a:p>
          <a:p>
            <a:pPr lvl="1"/>
            <a:r>
              <a:rPr lang="en-US" sz="2800" dirty="0"/>
              <a:t>Application Load Balancers</a:t>
            </a:r>
          </a:p>
        </p:txBody>
      </p:sp>
    </p:spTree>
    <p:extLst>
      <p:ext uri="{BB962C8B-B14F-4D97-AF65-F5344CB8AC3E}">
        <p14:creationId xmlns:p14="http://schemas.microsoft.com/office/powerpoint/2010/main" val="407601407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04: </a:t>
            </a:r>
            <a:r>
              <a:rPr lang="pt-BR" dirty="0"/>
              <a:t>Amazon Inspector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98544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Inspector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272985" cy="3877985"/>
          </a:xfrm>
        </p:spPr>
        <p:txBody>
          <a:bodyPr/>
          <a:lstStyle/>
          <a:p>
            <a:r>
              <a:rPr lang="en-US" sz="3600" dirty="0"/>
              <a:t>Identify application security issues</a:t>
            </a:r>
          </a:p>
          <a:p>
            <a:r>
              <a:rPr lang="en-US" sz="3600" dirty="0"/>
              <a:t>Integrate security into </a:t>
            </a:r>
            <a:r>
              <a:rPr lang="en-US" sz="3600" dirty="0" err="1"/>
              <a:t>devops</a:t>
            </a:r>
            <a:endParaRPr lang="en-US" sz="3600" dirty="0"/>
          </a:p>
          <a:p>
            <a:r>
              <a:rPr lang="en-US" sz="3600" dirty="0"/>
              <a:t>Increase development agility</a:t>
            </a:r>
          </a:p>
          <a:p>
            <a:r>
              <a:rPr lang="en-US" sz="3600" dirty="0"/>
              <a:t>Leverage aws security expertise</a:t>
            </a:r>
          </a:p>
          <a:p>
            <a:r>
              <a:rPr lang="en-US" sz="3600" dirty="0"/>
              <a:t>Streamline security compliance</a:t>
            </a:r>
          </a:p>
          <a:p>
            <a:r>
              <a:rPr lang="en-US" sz="3600" dirty="0"/>
              <a:t>Enforce security standards</a:t>
            </a:r>
          </a:p>
        </p:txBody>
      </p:sp>
    </p:spTree>
    <p:extLst>
      <p:ext uri="{BB962C8B-B14F-4D97-AF65-F5344CB8AC3E}">
        <p14:creationId xmlns:p14="http://schemas.microsoft.com/office/powerpoint/2010/main" val="163307763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05: </a:t>
            </a:r>
            <a:r>
              <a:rPr lang="pt-BR" dirty="0"/>
              <a:t>AWS Certificate Manager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02272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Certificate Manager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220433" cy="2769989"/>
          </a:xfrm>
        </p:spPr>
        <p:txBody>
          <a:bodyPr/>
          <a:lstStyle/>
          <a:p>
            <a:r>
              <a:rPr lang="en-US" sz="3600" dirty="0"/>
              <a:t>AWS Certificate Manager (ACM)</a:t>
            </a:r>
          </a:p>
          <a:p>
            <a:pPr lvl="1"/>
            <a:r>
              <a:rPr lang="en-US" sz="2800" dirty="0"/>
              <a:t>Elastic Load Balancing</a:t>
            </a:r>
          </a:p>
          <a:p>
            <a:pPr lvl="1"/>
            <a:r>
              <a:rPr lang="en-US" sz="2800" dirty="0"/>
              <a:t>Amazon CloudFront</a:t>
            </a:r>
          </a:p>
          <a:p>
            <a:pPr lvl="1"/>
            <a:r>
              <a:rPr lang="en-US" sz="2800" dirty="0"/>
              <a:t>Amazon API Gateway</a:t>
            </a:r>
          </a:p>
          <a:p>
            <a:r>
              <a:rPr lang="en-US" sz="3600" dirty="0"/>
              <a:t>ACM Private CA</a:t>
            </a:r>
          </a:p>
        </p:txBody>
      </p:sp>
    </p:spTree>
    <p:extLst>
      <p:ext uri="{BB962C8B-B14F-4D97-AF65-F5344CB8AC3E}">
        <p14:creationId xmlns:p14="http://schemas.microsoft.com/office/powerpoint/2010/main" val="38972553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Certificate Manager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220433" cy="5059847"/>
          </a:xfrm>
        </p:spPr>
        <p:txBody>
          <a:bodyPr/>
          <a:lstStyle/>
          <a:p>
            <a:r>
              <a:rPr lang="en-US" sz="3600" dirty="0"/>
              <a:t>ACM Certificate Characteristics</a:t>
            </a:r>
          </a:p>
          <a:p>
            <a:pPr lvl="1"/>
            <a:r>
              <a:rPr lang="en-US" sz="2800" dirty="0"/>
              <a:t>Domain Validation (DV)</a:t>
            </a:r>
          </a:p>
          <a:p>
            <a:pPr lvl="1"/>
            <a:r>
              <a:rPr lang="en-US" sz="2800" dirty="0"/>
              <a:t>Validity Period</a:t>
            </a:r>
          </a:p>
          <a:p>
            <a:pPr lvl="1"/>
            <a:r>
              <a:rPr lang="en-US" sz="2800" dirty="0"/>
              <a:t>Managed Renewal and Deployment</a:t>
            </a:r>
          </a:p>
          <a:p>
            <a:pPr lvl="1"/>
            <a:r>
              <a:rPr lang="en-US" sz="2800" dirty="0"/>
              <a:t>Browser and Application Trust</a:t>
            </a:r>
          </a:p>
          <a:p>
            <a:pPr lvl="1"/>
            <a:r>
              <a:rPr lang="en-US" sz="2800" dirty="0"/>
              <a:t>Multiple Domain Names</a:t>
            </a:r>
          </a:p>
          <a:p>
            <a:pPr lvl="1"/>
            <a:r>
              <a:rPr lang="en-US" sz="2800" dirty="0"/>
              <a:t>Wildcard Names</a:t>
            </a:r>
          </a:p>
          <a:p>
            <a:pPr lvl="1"/>
            <a:r>
              <a:rPr lang="en-US" sz="2800" dirty="0"/>
              <a:t>Algorithms</a:t>
            </a:r>
          </a:p>
          <a:p>
            <a:pPr lvl="2"/>
            <a:r>
              <a:rPr lang="en-US" sz="2400" dirty="0"/>
              <a:t>2048-bit RSA</a:t>
            </a:r>
          </a:p>
          <a:p>
            <a:pPr lvl="2"/>
            <a:r>
              <a:rPr lang="en-US" sz="2400" dirty="0"/>
              <a:t>4096-bit RSA</a:t>
            </a:r>
          </a:p>
        </p:txBody>
      </p:sp>
    </p:spTree>
    <p:extLst>
      <p:ext uri="{BB962C8B-B14F-4D97-AF65-F5344CB8AC3E}">
        <p14:creationId xmlns:p14="http://schemas.microsoft.com/office/powerpoint/2010/main" val="57888236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06: </a:t>
            </a:r>
            <a:r>
              <a:rPr lang="pt-BR" dirty="0"/>
              <a:t>AWS Web </a:t>
            </a:r>
            <a:r>
              <a:rPr lang="pt-BR" dirty="0" err="1"/>
              <a:t>Application</a:t>
            </a:r>
            <a:r>
              <a:rPr lang="pt-BR" dirty="0"/>
              <a:t> Firewall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550766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Web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</a:t>
            </a:r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Firewall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357068" cy="2727393"/>
          </a:xfrm>
        </p:spPr>
        <p:txBody>
          <a:bodyPr/>
          <a:lstStyle/>
          <a:p>
            <a:r>
              <a:rPr lang="en-US" sz="3600" dirty="0"/>
              <a:t>Web traffic filtering</a:t>
            </a:r>
          </a:p>
          <a:p>
            <a:r>
              <a:rPr lang="en-US" sz="3600" dirty="0"/>
              <a:t>Full feature API</a:t>
            </a:r>
          </a:p>
          <a:p>
            <a:r>
              <a:rPr lang="en-US" sz="3600" dirty="0"/>
              <a:t>Real-time visibility</a:t>
            </a:r>
          </a:p>
          <a:p>
            <a:r>
              <a:rPr lang="en-US" sz="3600" dirty="0"/>
              <a:t>Integration with AWS Firewall Manager</a:t>
            </a:r>
          </a:p>
        </p:txBody>
      </p:sp>
    </p:spTree>
    <p:extLst>
      <p:ext uri="{BB962C8B-B14F-4D97-AF65-F5344CB8AC3E}">
        <p14:creationId xmlns:p14="http://schemas.microsoft.com/office/powerpoint/2010/main" val="211778934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Web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</a:t>
            </a:r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Firewall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 descr="product-page-diagram_AWS-WAF_How-it-Works@2x">
            <a:extLst>
              <a:ext uri="{FF2B5EF4-FFF2-40B4-BE49-F238E27FC236}">
                <a16:creationId xmlns:a16="http://schemas.microsoft.com/office/drawing/2014/main" id="{3F9B435A-C518-4D82-AB91-6FCEAADF4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63" y="1796684"/>
            <a:ext cx="10395048" cy="307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02689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Lab Module 6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14400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HITE TEMPLATE">
  <a:themeElements>
    <a:clrScheme name="ST_Illustration_White_Blue">
      <a:dk1>
        <a:srgbClr val="1A1A1A"/>
      </a:dk1>
      <a:lt1>
        <a:srgbClr val="FFFFFF"/>
      </a:lt1>
      <a:dk2>
        <a:srgbClr val="0D0D0D"/>
      </a:dk2>
      <a:lt2>
        <a:srgbClr val="D2D2D2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Illustration_2018_Cloud_011.potx" id="{762B47AA-A827-4F63-8EDD-1F6B4767BB62}" vid="{53DB83EF-4F78-4F48-A301-01610C79C1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Panorámica</PresentationFormat>
  <Paragraphs>99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0" baseType="lpstr">
      <vt:lpstr>Arial</vt:lpstr>
      <vt:lpstr>Calibri</vt:lpstr>
      <vt:lpstr>Consolas</vt:lpstr>
      <vt:lpstr>Segoe UI</vt:lpstr>
      <vt:lpstr>Segoe UI Semibold</vt:lpstr>
      <vt:lpstr>Segoe UI Semilight</vt:lpstr>
      <vt:lpstr>Wingdings</vt:lpstr>
      <vt:lpstr>WHITE TEMPLATE</vt:lpstr>
      <vt:lpstr>Presentación de PowerPoint</vt:lpstr>
      <vt:lpstr>Module Overview</vt:lpstr>
      <vt:lpstr>Lesson 01: AWS CloudTrail</vt:lpstr>
      <vt:lpstr>AWS CloudTrail</vt:lpstr>
      <vt:lpstr>AWS CloudTrail</vt:lpstr>
      <vt:lpstr>AWS CloudTrail</vt:lpstr>
      <vt:lpstr>Lesson 02: Amazon Virtual Private Cloud (Amazon VPC) Flow Logs</vt:lpstr>
      <vt:lpstr>Amazon Virtual Private Cloud (Amazon VPC) Flow Logs</vt:lpstr>
      <vt:lpstr>Amazon Virtual Private Cloud (Amazon VPC) Flow Logs</vt:lpstr>
      <vt:lpstr>Amazon Virtual Private Cloud (Amazon VPC) Flow Logs</vt:lpstr>
      <vt:lpstr>Lesson 03: AWS Config</vt:lpstr>
      <vt:lpstr>AWS Config</vt:lpstr>
      <vt:lpstr>AWS Config</vt:lpstr>
      <vt:lpstr>Lesson 04: Amazon Inspector</vt:lpstr>
      <vt:lpstr>Amazon Inspector</vt:lpstr>
      <vt:lpstr>Lesson 05: AWS Certificate Manager</vt:lpstr>
      <vt:lpstr>AWS Certificate Manager</vt:lpstr>
      <vt:lpstr>AWS Certificate Manager</vt:lpstr>
      <vt:lpstr>Lesson 06: AWS Web Application Firewall</vt:lpstr>
      <vt:lpstr>AWS Web Application Firewall</vt:lpstr>
      <vt:lpstr>AWS Web Application Firewall</vt:lpstr>
      <vt:lpstr>Lab Module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2019-10-14T12:29:36Z</dcterms:created>
  <dcterms:modified xsi:type="dcterms:W3CDTF">2021-03-23T23:05:50Z</dcterms:modified>
</cp:coreProperties>
</file>