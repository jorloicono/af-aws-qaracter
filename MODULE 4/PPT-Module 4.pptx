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29"/>
  </p:notesMasterIdLst>
  <p:sldIdLst>
    <p:sldId id="2237" r:id="rId2"/>
    <p:sldId id="2021" r:id="rId3"/>
    <p:sldId id="2253" r:id="rId4"/>
    <p:sldId id="2271" r:id="rId5"/>
    <p:sldId id="2278" r:id="rId6"/>
    <p:sldId id="2275" r:id="rId7"/>
    <p:sldId id="2276" r:id="rId8"/>
    <p:sldId id="2281" r:id="rId9"/>
    <p:sldId id="2282" r:id="rId10"/>
    <p:sldId id="2283" r:id="rId11"/>
    <p:sldId id="2284" r:id="rId12"/>
    <p:sldId id="2285" r:id="rId13"/>
    <p:sldId id="2277" r:id="rId14"/>
    <p:sldId id="2272" r:id="rId15"/>
    <p:sldId id="2279" r:id="rId16"/>
    <p:sldId id="2286" r:id="rId17"/>
    <p:sldId id="2287" r:id="rId18"/>
    <p:sldId id="2288" r:id="rId19"/>
    <p:sldId id="2289" r:id="rId20"/>
    <p:sldId id="2290" r:id="rId21"/>
    <p:sldId id="2294" r:id="rId22"/>
    <p:sldId id="2295" r:id="rId23"/>
    <p:sldId id="2296" r:id="rId24"/>
    <p:sldId id="2298" r:id="rId25"/>
    <p:sldId id="2239" r:id="rId26"/>
    <p:sldId id="2300" r:id="rId27"/>
    <p:sldId id="229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07D"/>
    <a:srgbClr val="FCF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33" autoAdjust="0"/>
    <p:restoredTop sz="82657" autoAdjust="0"/>
  </p:normalViewPr>
  <p:slideViewPr>
    <p:cSldViewPr snapToGrid="0">
      <p:cViewPr varScale="1">
        <p:scale>
          <a:sx n="57" d="100"/>
          <a:sy n="57" d="100"/>
        </p:scale>
        <p:origin x="90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74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F66F0-0810-43B6-89CA-8A60532D42CE}" type="datetimeFigureOut">
              <a:rPr lang="en-US" smtClean="0"/>
              <a:t>9/25/2021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7DC7E-BC41-4478-BA30-CBCC3A644F0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79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7DC7E-BC41-4478-BA30-CBCC3A644F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14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7DC7E-BC41-4478-BA30-CBCC3A644F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714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7DC7E-BC41-4478-BA30-CBCC3A644F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87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7DC7E-BC41-4478-BA30-CBCC3A644F0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0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7DC7E-BC41-4478-BA30-CBCC3A644F0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758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7DC7E-BC41-4478-BA30-CBCC3A644F0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06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7DC7E-BC41-4478-BA30-CBCC3A644F0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79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7DC7E-BC41-4478-BA30-CBCC3A644F0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85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7DC7E-BC41-4478-BA30-CBCC3A644F0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92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7DC7E-BC41-4478-BA30-CBCC3A644F0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5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7DC7E-BC41-4478-BA30-CBCC3A644F0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0178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7DC7E-BC41-4478-BA30-CBCC3A644F0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83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4572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572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F328AE-26F0-42B9-988D-535B1145C9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84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270E26-89BA-4369-9EF4-1B9EBAA3D00B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D2D2D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pic>
        <p:nvPicPr>
          <p:cNvPr id="9" name="MS logo gray - EMF" descr="Microsoft logo, gray text version">
            <a:extLst>
              <a:ext uri="{FF2B5EF4-FFF2-40B4-BE49-F238E27FC236}">
                <a16:creationId xmlns:a16="http://schemas.microsoft.com/office/drawing/2014/main" id="{D03FE64B-525F-4B73-8C45-B4BC3BAD6A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964678-FE6C-4226-A11B-8D452DA780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85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55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DDC08157-A48C-4ACA-A5BB-EE2A866E10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026004-6E63-4034-A1B0-34BE8CEF3D76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240D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C1A9B4-AD16-4E53-919C-38204BAF9E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3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954881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5683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23083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8108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797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5278796-7B84-4D67-88CD-BF78BB06D2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914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0461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49360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28797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997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31573B-58F8-43B4-8E3E-6F895442CB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7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029030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1C0FB-0396-463F-9527-BACCE96868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67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687369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9F059F-BD0F-4211-86F6-E960C3EC18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9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3023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634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4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90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1908215"/>
          </a:xfrm>
        </p:spPr>
        <p:txBody>
          <a:bodyPr/>
          <a:lstStyle>
            <a:lvl1pPr marL="0" indent="0">
              <a:buNone/>
              <a:defRPr sz="2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24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20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4522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4" name="MS logo gray - EMF" descr="Microsoft logo, gray text version">
            <a:extLst>
              <a:ext uri="{FF2B5EF4-FFF2-40B4-BE49-F238E27FC236}">
                <a16:creationId xmlns:a16="http://schemas.microsoft.com/office/drawing/2014/main" id="{59104CAE-91B8-4A7E-9F8E-214C5F8809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18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096692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58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Segoe UI Semilight" panose="020B0402040204020203" pitchFamily="34" charset="0"/>
          <a:ea typeface="+mn-ea"/>
          <a:cs typeface="Segoe UI Semilight" panose="020B04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svg"/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6.svg"/><Relationship Id="rId9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9164622-9367-4AED-975E-4749F29AC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20" y="262759"/>
            <a:ext cx="1590675" cy="10668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0CB6A12-09E9-4287-84AC-2544D6629667}"/>
              </a:ext>
            </a:extLst>
          </p:cNvPr>
          <p:cNvSpPr/>
          <p:nvPr/>
        </p:nvSpPr>
        <p:spPr bwMode="auto">
          <a:xfrm>
            <a:off x="5833240" y="0"/>
            <a:ext cx="6358759" cy="6858000"/>
          </a:xfrm>
          <a:prstGeom prst="rect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s-E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026" name="Picture 2" descr="AWS - Almeritek.com">
            <a:extLst>
              <a:ext uri="{FF2B5EF4-FFF2-40B4-BE49-F238E27FC236}">
                <a16:creationId xmlns:a16="http://schemas.microsoft.com/office/drawing/2014/main" id="{381E3D9A-2903-4E08-8F5D-B2F634485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85875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5D5D5B0-D2DF-4A15-8185-0FEEAB8C60B7}"/>
              </a:ext>
            </a:extLst>
          </p:cNvPr>
          <p:cNvSpPr/>
          <p:nvPr/>
        </p:nvSpPr>
        <p:spPr>
          <a:xfrm>
            <a:off x="556578" y="1715079"/>
            <a:ext cx="4977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b="1" dirty="0">
                <a:latin typeface="+mj-lt"/>
              </a:rPr>
              <a:t>AWS</a:t>
            </a:r>
            <a:r>
              <a:rPr lang="es-ES" b="1" dirty="0">
                <a:latin typeface="+mj-lt"/>
              </a:rPr>
              <a:t> SOLUTIONS ARCHITECT ASSOCIATE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2878CDE-ECC2-4813-836F-4CAC5E6BA312}"/>
              </a:ext>
            </a:extLst>
          </p:cNvPr>
          <p:cNvSpPr/>
          <p:nvPr/>
        </p:nvSpPr>
        <p:spPr>
          <a:xfrm>
            <a:off x="556579" y="2576928"/>
            <a:ext cx="527666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600" b="1" dirty="0">
                <a:latin typeface="+mj-lt"/>
              </a:rPr>
              <a:t>Module 4:</a:t>
            </a:r>
          </a:p>
          <a:p>
            <a:r>
              <a:rPr lang="es-ES" sz="3600" b="1" dirty="0">
                <a:latin typeface="+mj-lt"/>
              </a:rPr>
              <a:t>Amazon Virtual </a:t>
            </a:r>
            <a:r>
              <a:rPr lang="es-ES" sz="3600" b="1" dirty="0" err="1">
                <a:latin typeface="+mj-lt"/>
              </a:rPr>
              <a:t>Private</a:t>
            </a:r>
            <a:r>
              <a:rPr lang="es-ES" sz="3600" b="1" dirty="0">
                <a:latin typeface="+mj-lt"/>
              </a:rPr>
              <a:t> Cloud</a:t>
            </a:r>
            <a:endParaRPr lang="es-E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9713441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2437590"/>
          </a:xfrm>
        </p:spPr>
        <p:txBody>
          <a:bodyPr/>
          <a:lstStyle/>
          <a:p>
            <a:r>
              <a:rPr lang="pt-BR" sz="3600" dirty="0"/>
              <a:t>Amazon Virtual Private Cloud (VPC), Components</a:t>
            </a:r>
          </a:p>
          <a:p>
            <a:r>
              <a:rPr lang="en-US" sz="3600" dirty="0"/>
              <a:t>Amazon Virtual Private Cloud (VPC), Optional Components</a:t>
            </a:r>
          </a:p>
          <a:p>
            <a:r>
              <a:rPr lang="en-US" sz="3600" dirty="0"/>
              <a:t>Network Diagram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6EFCC887-B693-4C2F-8BD3-77F22818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5998" y="2908736"/>
            <a:ext cx="2560003" cy="29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58594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1107996"/>
          </a:xfrm>
        </p:spPr>
        <p:txBody>
          <a:bodyPr/>
          <a:lstStyle/>
          <a:p>
            <a:r>
              <a:rPr lang="en-US" dirty="0"/>
              <a:t>Lesson 01: </a:t>
            </a:r>
            <a:r>
              <a:rPr lang="pt-BR" dirty="0"/>
              <a:t>Amazon Virtual Private Cloud (VPC), </a:t>
            </a:r>
            <a:br>
              <a:rPr lang="pt-BR" dirty="0"/>
            </a:br>
            <a:r>
              <a:rPr lang="pt-BR" dirty="0"/>
              <a:t>Components</a:t>
            </a:r>
            <a:endParaRPr lang="en-US" dirty="0"/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2869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Components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FIGURE 4.1 VPC, subnets, and a route table">
            <a:extLst>
              <a:ext uri="{FF2B5EF4-FFF2-40B4-BE49-F238E27FC236}">
                <a16:creationId xmlns:a16="http://schemas.microsoft.com/office/drawing/2014/main" id="{4D8C1E37-0A50-490F-8644-B48A64283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422" y="1172201"/>
            <a:ext cx="6135645" cy="549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13672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Components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7905776" cy="3767185"/>
          </a:xfrm>
        </p:spPr>
        <p:txBody>
          <a:bodyPr/>
          <a:lstStyle/>
          <a:p>
            <a:r>
              <a:rPr lang="en-US" sz="3600" dirty="0"/>
              <a:t>Subnets</a:t>
            </a:r>
          </a:p>
          <a:p>
            <a:r>
              <a:rPr lang="en-US" sz="3600" dirty="0"/>
              <a:t>Route tables</a:t>
            </a:r>
          </a:p>
          <a:p>
            <a:r>
              <a:rPr lang="en-US" sz="3600" dirty="0"/>
              <a:t>Dynamic Host Configuration Protocol (DHCP) option sets</a:t>
            </a:r>
          </a:p>
          <a:p>
            <a:r>
              <a:rPr lang="en-US" sz="3600" dirty="0"/>
              <a:t>Security groups</a:t>
            </a:r>
          </a:p>
          <a:p>
            <a:r>
              <a:rPr lang="en-US" sz="3600" dirty="0"/>
              <a:t>Network Access Control Lists (ACLs)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E0BC750-E813-43E8-B894-562262DD6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9976" y="2264011"/>
            <a:ext cx="2040969" cy="163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9362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Components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7905776" cy="553998"/>
          </a:xfrm>
        </p:spPr>
        <p:txBody>
          <a:bodyPr/>
          <a:lstStyle/>
          <a:p>
            <a:r>
              <a:rPr lang="en-US" sz="3600" dirty="0"/>
              <a:t>Subnets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3AB121B-25E3-4D53-B493-6EE0F40DB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2166304"/>
            <a:ext cx="8422217" cy="414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42279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Components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7905776" cy="553998"/>
          </a:xfrm>
        </p:spPr>
        <p:txBody>
          <a:bodyPr/>
          <a:lstStyle/>
          <a:p>
            <a:r>
              <a:rPr lang="en-US" sz="3600" dirty="0"/>
              <a:t>Route Table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7F53578-4944-43C0-A69F-F7B02A41F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721" y="3747068"/>
            <a:ext cx="2569062" cy="872067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D9F5059-2746-4565-9BAB-9A1C42AA4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042" y="2186842"/>
            <a:ext cx="8082492" cy="3981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28574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Components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7905776" cy="3693319"/>
          </a:xfrm>
        </p:spPr>
        <p:txBody>
          <a:bodyPr/>
          <a:lstStyle/>
          <a:p>
            <a:r>
              <a:rPr lang="en-US" sz="3600" dirty="0"/>
              <a:t>Dynamic Host Configuration Protocol (DHCP) option sets</a:t>
            </a:r>
          </a:p>
          <a:p>
            <a:pPr lvl="1"/>
            <a:r>
              <a:rPr lang="en-US" sz="2800" dirty="0"/>
              <a:t>domain-name-servers</a:t>
            </a:r>
          </a:p>
          <a:p>
            <a:pPr lvl="1"/>
            <a:r>
              <a:rPr lang="en-US" sz="2800" dirty="0"/>
              <a:t>domain-name</a:t>
            </a:r>
          </a:p>
          <a:p>
            <a:pPr lvl="1"/>
            <a:r>
              <a:rPr lang="en-US" sz="2800" dirty="0" err="1"/>
              <a:t>ntp</a:t>
            </a:r>
            <a:r>
              <a:rPr lang="en-US" sz="2800" dirty="0"/>
              <a:t>-servers</a:t>
            </a:r>
          </a:p>
          <a:p>
            <a:pPr lvl="1"/>
            <a:r>
              <a:rPr lang="en-US" sz="2800" dirty="0" err="1"/>
              <a:t>netbios</a:t>
            </a:r>
            <a:r>
              <a:rPr lang="en-US" sz="2800" dirty="0"/>
              <a:t>-name-servers</a:t>
            </a:r>
          </a:p>
          <a:p>
            <a:pPr lvl="1"/>
            <a:r>
              <a:rPr lang="en-US" sz="2800" dirty="0" err="1"/>
              <a:t>netbios</a:t>
            </a:r>
            <a:r>
              <a:rPr lang="en-US" sz="2800" dirty="0"/>
              <a:t>-node-type</a:t>
            </a:r>
          </a:p>
        </p:txBody>
      </p:sp>
    </p:spTree>
    <p:extLst>
      <p:ext uri="{BB962C8B-B14F-4D97-AF65-F5344CB8AC3E}">
        <p14:creationId xmlns:p14="http://schemas.microsoft.com/office/powerpoint/2010/main" val="92811116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Components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10117666" cy="4345805"/>
          </a:xfrm>
        </p:spPr>
        <p:txBody>
          <a:bodyPr/>
          <a:lstStyle/>
          <a:p>
            <a:r>
              <a:rPr lang="en-US" sz="3600" dirty="0"/>
              <a:t>Security groups</a:t>
            </a:r>
          </a:p>
          <a:p>
            <a:pPr lvl="1"/>
            <a:r>
              <a:rPr lang="en-US" sz="2800" dirty="0"/>
              <a:t>You can create up to 500 security groups for each Amazon VPC.</a:t>
            </a:r>
          </a:p>
          <a:p>
            <a:pPr lvl="1"/>
            <a:r>
              <a:rPr lang="en-US" sz="2800" dirty="0"/>
              <a:t>You can add up to 50 inbound and 50 outbound rules to each security group.</a:t>
            </a:r>
          </a:p>
          <a:p>
            <a:pPr lvl="1"/>
            <a:r>
              <a:rPr lang="en-US" sz="2800" dirty="0"/>
              <a:t>You can specify allow rules, but not deny rules. This is an important difference between security groups and ACLs.</a:t>
            </a:r>
          </a:p>
          <a:p>
            <a:pPr lvl="1"/>
            <a:r>
              <a:rPr lang="en-US" sz="2800" dirty="0"/>
              <a:t>You can specify separate rules for inbound and outbound traffic.</a:t>
            </a:r>
          </a:p>
        </p:txBody>
      </p:sp>
    </p:spTree>
    <p:extLst>
      <p:ext uri="{BB962C8B-B14F-4D97-AF65-F5344CB8AC3E}">
        <p14:creationId xmlns:p14="http://schemas.microsoft.com/office/powerpoint/2010/main" val="399098599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Components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350621"/>
            <a:ext cx="10134599" cy="2966966"/>
          </a:xfrm>
        </p:spPr>
        <p:txBody>
          <a:bodyPr/>
          <a:lstStyle/>
          <a:p>
            <a:r>
              <a:rPr lang="en-US" sz="3600" dirty="0"/>
              <a:t>Security groups</a:t>
            </a:r>
          </a:p>
          <a:p>
            <a:pPr lvl="1"/>
            <a:r>
              <a:rPr lang="en-US" sz="2800" dirty="0"/>
              <a:t>By default, no inbound traffic is allowed until you add inbound rules to the security group.</a:t>
            </a:r>
          </a:p>
          <a:p>
            <a:pPr lvl="1"/>
            <a:r>
              <a:rPr lang="en-US" sz="2800" dirty="0"/>
              <a:t>By default, new security groups have an outbound rule that allows all outbound traffic.</a:t>
            </a:r>
          </a:p>
          <a:p>
            <a:pPr lvl="1"/>
            <a:r>
              <a:rPr lang="en-US" sz="2800" dirty="0"/>
              <a:t>Security groups are stateful. </a:t>
            </a:r>
          </a:p>
        </p:txBody>
      </p:sp>
    </p:spTree>
    <p:extLst>
      <p:ext uri="{BB962C8B-B14F-4D97-AF65-F5344CB8AC3E}">
        <p14:creationId xmlns:p14="http://schemas.microsoft.com/office/powerpoint/2010/main" val="76497469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Components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350621"/>
            <a:ext cx="10134599" cy="3311676"/>
          </a:xfrm>
        </p:spPr>
        <p:txBody>
          <a:bodyPr/>
          <a:lstStyle/>
          <a:p>
            <a:r>
              <a:rPr lang="en-US" sz="3600" dirty="0"/>
              <a:t>Security groups</a:t>
            </a:r>
          </a:p>
          <a:p>
            <a:pPr lvl="1"/>
            <a:r>
              <a:rPr lang="en-US" sz="2800" dirty="0"/>
              <a:t>Instances associated with the same security group can’t talk to each other unless you add rules allowing it (with the exception being the default security group).</a:t>
            </a:r>
          </a:p>
          <a:p>
            <a:pPr lvl="1"/>
            <a:r>
              <a:rPr lang="en-US" sz="2800" dirty="0"/>
              <a:t>You can change the security groups with which an instance is associated after launch, and the changes will take effect immediately.</a:t>
            </a:r>
          </a:p>
        </p:txBody>
      </p:sp>
    </p:spTree>
    <p:extLst>
      <p:ext uri="{BB962C8B-B14F-4D97-AF65-F5344CB8AC3E}">
        <p14:creationId xmlns:p14="http://schemas.microsoft.com/office/powerpoint/2010/main" val="326445361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Components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7905776" cy="553998"/>
          </a:xfrm>
        </p:spPr>
        <p:txBody>
          <a:bodyPr/>
          <a:lstStyle/>
          <a:p>
            <a:r>
              <a:rPr lang="en-US" sz="3600" dirty="0"/>
              <a:t>Network Access Control Lists (ACLs)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8E5E9968-61C9-4770-9916-162645B60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902613"/>
              </p:ext>
            </p:extLst>
          </p:nvPr>
        </p:nvGraphicFramePr>
        <p:xfrm>
          <a:off x="880533" y="1913461"/>
          <a:ext cx="9702799" cy="4346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6512">
                  <a:extLst>
                    <a:ext uri="{9D8B030D-6E8A-4147-A177-3AD203B41FA5}">
                      <a16:colId xmlns:a16="http://schemas.microsoft.com/office/drawing/2014/main" val="3452000895"/>
                    </a:ext>
                  </a:extLst>
                </a:gridCol>
                <a:gridCol w="4766287">
                  <a:extLst>
                    <a:ext uri="{9D8B030D-6E8A-4147-A177-3AD203B41FA5}">
                      <a16:colId xmlns:a16="http://schemas.microsoft.com/office/drawing/2014/main" val="2197320876"/>
                    </a:ext>
                  </a:extLst>
                </a:gridCol>
              </a:tblGrid>
              <a:tr h="404151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Security Group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ACL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802616"/>
                  </a:ext>
                </a:extLst>
              </a:tr>
              <a:tr h="831983">
                <a:tc>
                  <a:txBody>
                    <a:bodyPr/>
                    <a:lstStyle/>
                    <a:p>
                      <a:pPr marL="0" indent="0" algn="l" defTabSz="932742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Operates at the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instance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level (first layer of defense)</a:t>
                      </a:r>
                      <a:endParaRPr lang="es-E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CF0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Operates at the subnet level (second layer of defense)</a:t>
                      </a:r>
                      <a:endParaRPr lang="es-ES" sz="1600" dirty="0"/>
                    </a:p>
                  </a:txBody>
                  <a:tcPr>
                    <a:solidFill>
                      <a:srgbClr val="FC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77561"/>
                  </a:ext>
                </a:extLst>
              </a:tr>
              <a:tr h="404151">
                <a:tc>
                  <a:txBody>
                    <a:bodyPr/>
                    <a:lstStyle/>
                    <a:p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Supports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allow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rules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only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Supports allow rules and deny rules</a:t>
                      </a:r>
                      <a:endParaRPr lang="es-E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117668"/>
                  </a:ext>
                </a:extLst>
              </a:tr>
              <a:tr h="404151">
                <a:tc>
                  <a:txBody>
                    <a:bodyPr/>
                    <a:lstStyle/>
                    <a:p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Stateful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traffic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is automatically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allowed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regardless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any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rules</a:t>
                      </a:r>
                      <a:endParaRPr lang="es-ES" sz="1600" dirty="0"/>
                    </a:p>
                  </a:txBody>
                  <a:tcPr>
                    <a:solidFill>
                      <a:srgbClr val="FCF0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Stateless: Return traffic must be explicitly allowed by rules.</a:t>
                      </a:r>
                      <a:endParaRPr lang="es-ES" sz="1600" dirty="0"/>
                    </a:p>
                  </a:txBody>
                  <a:tcPr>
                    <a:solidFill>
                      <a:srgbClr val="FC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776927"/>
                  </a:ext>
                </a:extLst>
              </a:tr>
              <a:tr h="877326">
                <a:tc>
                  <a:txBody>
                    <a:bodyPr/>
                    <a:lstStyle/>
                    <a:p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AWS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evaluates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all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rules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before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deciding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whether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to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allow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Traffic.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AWS processes rules in number order when deciding whether to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allow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traffic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s-E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97792"/>
                  </a:ext>
                </a:extLst>
              </a:tr>
              <a:tr h="877326">
                <a:tc>
                  <a:txBody>
                    <a:bodyPr/>
                    <a:lstStyle/>
                    <a:p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Applied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selectively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to individual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instances</a:t>
                      </a:r>
                      <a:endParaRPr lang="es-E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CF0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Automatically applied to all instances in the associated subnets; this is a backup layer of defense, so you don’t have to rely on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someone specifying the security group.</a:t>
                      </a:r>
                      <a:endParaRPr lang="es-ES" sz="1600" dirty="0"/>
                    </a:p>
                  </a:txBody>
                  <a:tcPr>
                    <a:solidFill>
                      <a:srgbClr val="FC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947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604922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1107996"/>
          </a:xfrm>
        </p:spPr>
        <p:txBody>
          <a:bodyPr/>
          <a:lstStyle/>
          <a:p>
            <a:r>
              <a:rPr lang="en-US" dirty="0"/>
              <a:t>Lesson 02: </a:t>
            </a:r>
            <a:r>
              <a:rPr lang="pt-BR" dirty="0"/>
              <a:t>Amazon Virtual Private Cloud (VPC), </a:t>
            </a:r>
            <a:br>
              <a:rPr lang="pt-BR" dirty="0"/>
            </a:br>
            <a:r>
              <a:rPr lang="pt-BR" dirty="0"/>
              <a:t>Optional Components</a:t>
            </a:r>
            <a:endParaRPr lang="en-US" dirty="0"/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602818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pt-BR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Optional Components</a:t>
            </a:r>
            <a:endParaRPr lang="en-US" sz="3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81285"/>
            <a:ext cx="8915399" cy="3213187"/>
          </a:xfrm>
        </p:spPr>
        <p:txBody>
          <a:bodyPr/>
          <a:lstStyle/>
          <a:p>
            <a:r>
              <a:rPr lang="en-US" sz="3600" dirty="0"/>
              <a:t>Internet Gateways (IGWs)</a:t>
            </a:r>
          </a:p>
          <a:p>
            <a:r>
              <a:rPr lang="en-US" sz="3600" dirty="0"/>
              <a:t>Elastic IP (EIP) addresses</a:t>
            </a:r>
          </a:p>
          <a:p>
            <a:r>
              <a:rPr lang="en-US" sz="3600" dirty="0"/>
              <a:t>Elastic Network Interfaces (ENIs)</a:t>
            </a:r>
          </a:p>
          <a:p>
            <a:r>
              <a:rPr lang="en-US" sz="3600" dirty="0"/>
              <a:t>Endpoints</a:t>
            </a:r>
          </a:p>
          <a:p>
            <a:r>
              <a:rPr lang="en-US" sz="3600" dirty="0"/>
              <a:t>Peering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D8195D1-C2E3-4079-90F0-C88D672C5B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908" y="2247077"/>
            <a:ext cx="2040969" cy="163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231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pt-BR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Optional Components</a:t>
            </a:r>
            <a:endParaRPr lang="en-US" sz="3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232078"/>
            <a:ext cx="8593666" cy="2991588"/>
          </a:xfrm>
        </p:spPr>
        <p:txBody>
          <a:bodyPr/>
          <a:lstStyle/>
          <a:p>
            <a:r>
              <a:rPr lang="en-US" sz="3600" dirty="0"/>
              <a:t>Network Address Translation (NATs) instances and NAT gateways</a:t>
            </a:r>
          </a:p>
          <a:p>
            <a:r>
              <a:rPr lang="en-US" sz="3600" dirty="0"/>
              <a:t>Virtual Private Gateway (VPG), Customer Gateways (CGWs), and Virtual Private Networks (VPNs)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D8195D1-C2E3-4079-90F0-C88D672C5B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1041" y="2247078"/>
            <a:ext cx="2040969" cy="163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25241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pt-BR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Optional Components</a:t>
            </a:r>
            <a:endParaRPr lang="en-US" sz="3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180962"/>
            <a:ext cx="10422467" cy="553998"/>
          </a:xfrm>
        </p:spPr>
        <p:txBody>
          <a:bodyPr/>
          <a:lstStyle/>
          <a:p>
            <a:r>
              <a:rPr lang="en-US" sz="3600" dirty="0"/>
              <a:t>Internet Gateways (IGWs)</a:t>
            </a:r>
          </a:p>
        </p:txBody>
      </p:sp>
      <p:pic>
        <p:nvPicPr>
          <p:cNvPr id="1026" name="Picture 2" descr="FIGURE 4.2 VPC, subnet, route table, and an Internet gateway">
            <a:extLst>
              <a:ext uri="{FF2B5EF4-FFF2-40B4-BE49-F238E27FC236}">
                <a16:creationId xmlns:a16="http://schemas.microsoft.com/office/drawing/2014/main" id="{D45F4FA7-5C31-4F16-AD93-63BAD04D0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133" y="1763342"/>
            <a:ext cx="4873625" cy="4637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569805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pt-BR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Optional Components</a:t>
            </a:r>
            <a:endParaRPr lang="en-US" sz="3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81285"/>
            <a:ext cx="10439400" cy="3828740"/>
          </a:xfrm>
        </p:spPr>
        <p:txBody>
          <a:bodyPr/>
          <a:lstStyle/>
          <a:p>
            <a:r>
              <a:rPr lang="en-US" sz="3600" dirty="0"/>
              <a:t>Elastic IP (EIP) addresses</a:t>
            </a:r>
          </a:p>
          <a:p>
            <a:pPr lvl="1"/>
            <a:r>
              <a:rPr lang="en-US" sz="2800" dirty="0"/>
              <a:t>You must first allocate an EIP for use within a VPC and then assign it to an instance.</a:t>
            </a:r>
          </a:p>
          <a:p>
            <a:pPr lvl="1"/>
            <a:r>
              <a:rPr lang="en-US" sz="2800" dirty="0"/>
              <a:t>EIPs are specific to a region (that is, an EIP in one region cannot be assigned to an instance within an Amazon VPC in a different region).</a:t>
            </a:r>
          </a:p>
          <a:p>
            <a:pPr lvl="1"/>
            <a:r>
              <a:rPr lang="en-US" sz="2800" dirty="0"/>
              <a:t>There is a one-to-one relationship between network interfaces and EIPs.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E97C523A-58F5-4C86-86E8-2089247913BF}"/>
              </a:ext>
            </a:extLst>
          </p:cNvPr>
          <p:cNvGrpSpPr/>
          <p:nvPr/>
        </p:nvGrpSpPr>
        <p:grpSpPr>
          <a:xfrm>
            <a:off x="4915403" y="5010025"/>
            <a:ext cx="2361194" cy="974467"/>
            <a:chOff x="4915403" y="5010025"/>
            <a:chExt cx="2361194" cy="974467"/>
          </a:xfrm>
        </p:grpSpPr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C061C285-780A-4AA0-B0A3-3C3EE06DC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15403" y="5010025"/>
              <a:ext cx="2361194" cy="666690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7B85FC2E-597B-489E-AAD3-97317ACA3E16}"/>
                </a:ext>
              </a:extLst>
            </p:cNvPr>
            <p:cNvSpPr txBox="1"/>
            <p:nvPr/>
          </p:nvSpPr>
          <p:spPr>
            <a:xfrm>
              <a:off x="4927621" y="5676715"/>
              <a:ext cx="2348976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2000" b="1" dirty="0" err="1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Elastic</a:t>
              </a:r>
              <a:r>
                <a:rPr lang="es-ES" sz="20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IP </a:t>
              </a:r>
              <a:r>
                <a:rPr lang="es-ES" sz="2000" b="1" dirty="0" err="1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Addresses</a:t>
              </a:r>
              <a:endParaRPr lang="es-ES" sz="20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169508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pt-BR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Optional Components</a:t>
            </a:r>
            <a:endParaRPr lang="en-US" sz="3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81285"/>
            <a:ext cx="10439400" cy="3828740"/>
          </a:xfrm>
        </p:spPr>
        <p:txBody>
          <a:bodyPr/>
          <a:lstStyle/>
          <a:p>
            <a:r>
              <a:rPr lang="en-US" sz="3600" dirty="0"/>
              <a:t>Elastic IP (EIP) addresses</a:t>
            </a:r>
          </a:p>
          <a:p>
            <a:pPr lvl="1"/>
            <a:r>
              <a:rPr lang="en-US" sz="2800" dirty="0"/>
              <a:t>You can move EIPs from one instance to another, either in the same Amazon VPC or a different Amazon VPC within the same region.</a:t>
            </a:r>
          </a:p>
          <a:p>
            <a:pPr lvl="1"/>
            <a:r>
              <a:rPr lang="en-US" sz="2800" dirty="0"/>
              <a:t>EIPs remain associated with your AWS account until you explicitly release them.</a:t>
            </a:r>
          </a:p>
          <a:p>
            <a:pPr lvl="1"/>
            <a:r>
              <a:rPr lang="en-US" sz="2800" dirty="0"/>
              <a:t>There are charges for EIPs allocated to your account, even when they are not associated </a:t>
            </a:r>
            <a:r>
              <a:rPr lang="es-ES" sz="2800" dirty="0"/>
              <a:t>with a </a:t>
            </a:r>
            <a:r>
              <a:rPr lang="es-ES" sz="2800" dirty="0" err="1"/>
              <a:t>resource</a:t>
            </a:r>
            <a:r>
              <a:rPr lang="es-ES" sz="2800" dirty="0"/>
              <a:t>.</a:t>
            </a:r>
            <a:endParaRPr lang="en-US" sz="3600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77008F29-A54E-4395-9C8A-774ADB8B1A4A}"/>
              </a:ext>
            </a:extLst>
          </p:cNvPr>
          <p:cNvGrpSpPr/>
          <p:nvPr/>
        </p:nvGrpSpPr>
        <p:grpSpPr>
          <a:xfrm>
            <a:off x="4915403" y="5010025"/>
            <a:ext cx="2361194" cy="974467"/>
            <a:chOff x="4915403" y="5010025"/>
            <a:chExt cx="2361194" cy="974467"/>
          </a:xfrm>
        </p:grpSpPr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8D045CED-52C6-4C2C-BCC5-276F3397C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15403" y="5010025"/>
              <a:ext cx="2361194" cy="666690"/>
            </a:xfrm>
            <a:prstGeom prst="rect">
              <a:avLst/>
            </a:prstGeom>
          </p:spPr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34913D24-DD10-4BB9-8A32-9584914DC14F}"/>
                </a:ext>
              </a:extLst>
            </p:cNvPr>
            <p:cNvSpPr txBox="1"/>
            <p:nvPr/>
          </p:nvSpPr>
          <p:spPr>
            <a:xfrm>
              <a:off x="4927621" y="5676715"/>
              <a:ext cx="2348976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2000" b="1" dirty="0" err="1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Elastic</a:t>
              </a:r>
              <a:r>
                <a:rPr lang="es-ES" sz="20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IP </a:t>
              </a:r>
              <a:r>
                <a:rPr lang="es-ES" sz="2000" b="1" dirty="0" err="1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Addresses</a:t>
              </a:r>
              <a:endParaRPr lang="es-ES" sz="20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382462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pt-BR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Optional Components</a:t>
            </a:r>
            <a:endParaRPr lang="en-US" sz="3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81285"/>
            <a:ext cx="10471677" cy="553998"/>
          </a:xfrm>
        </p:spPr>
        <p:txBody>
          <a:bodyPr/>
          <a:lstStyle/>
          <a:p>
            <a:r>
              <a:rPr lang="en-US" sz="3600" dirty="0"/>
              <a:t>Elastic Network Interfaces (ENIs)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FE233C6-96A9-4B67-9882-B18D0A0BCA8A}"/>
              </a:ext>
            </a:extLst>
          </p:cNvPr>
          <p:cNvSpPr txBox="1"/>
          <p:nvPr/>
        </p:nvSpPr>
        <p:spPr>
          <a:xfrm>
            <a:off x="4990283" y="4753385"/>
            <a:ext cx="2192908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20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Virtual Interface</a:t>
            </a:r>
          </a:p>
          <a:p>
            <a:pPr algn="l"/>
            <a:r>
              <a:rPr lang="es-ES" sz="20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192.168.1.3</a:t>
            </a:r>
          </a:p>
          <a:p>
            <a:pPr algn="l"/>
            <a:r>
              <a:rPr lang="es-ES" sz="20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56:8A:C0:DD:EE:FF</a:t>
            </a: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70F305F3-3D49-42AF-9114-DA1F478CC1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2137" y="2310883"/>
            <a:ext cx="2442502" cy="244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235806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pt-BR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Optional Components</a:t>
            </a:r>
            <a:endParaRPr lang="en-US" sz="3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81285"/>
            <a:ext cx="10471677" cy="3053144"/>
          </a:xfrm>
        </p:spPr>
        <p:txBody>
          <a:bodyPr/>
          <a:lstStyle/>
          <a:p>
            <a:r>
              <a:rPr lang="en-US" sz="3600" dirty="0"/>
              <a:t>Endpoints</a:t>
            </a:r>
          </a:p>
          <a:p>
            <a:pPr lvl="1"/>
            <a:r>
              <a:rPr lang="es-ES" sz="2800" dirty="0" err="1"/>
              <a:t>Specify</a:t>
            </a:r>
            <a:r>
              <a:rPr lang="es-ES" sz="2800" dirty="0"/>
              <a:t> the Amazon VPC.</a:t>
            </a:r>
          </a:p>
          <a:p>
            <a:pPr lvl="1"/>
            <a:r>
              <a:rPr lang="en-US" sz="2800" dirty="0"/>
              <a:t>Specify the service. A service is identified by a prefix list of the form </a:t>
            </a:r>
            <a:r>
              <a:rPr lang="en-US" sz="2800" b="1" dirty="0" err="1"/>
              <a:t>com.amazonaws</a:t>
            </a:r>
            <a:r>
              <a:rPr lang="en-US" sz="2800" b="1" dirty="0"/>
              <a:t>.</a:t>
            </a:r>
            <a:r>
              <a:rPr lang="es-ES" sz="2800" b="1" dirty="0"/>
              <a:t>&lt;</a:t>
            </a:r>
            <a:r>
              <a:rPr lang="es-ES" sz="2800" b="1" dirty="0" err="1"/>
              <a:t>region</a:t>
            </a:r>
            <a:r>
              <a:rPr lang="es-ES" sz="2800" b="1" dirty="0"/>
              <a:t>&gt;.&lt;</a:t>
            </a:r>
            <a:r>
              <a:rPr lang="es-ES" sz="2800" b="1" dirty="0" err="1"/>
              <a:t>service</a:t>
            </a:r>
            <a:r>
              <a:rPr lang="es-ES" sz="2800" b="1" dirty="0"/>
              <a:t>&gt;.</a:t>
            </a:r>
          </a:p>
          <a:p>
            <a:pPr lvl="1"/>
            <a:r>
              <a:rPr lang="en-US" sz="2800" dirty="0"/>
              <a:t>Specify the policy.</a:t>
            </a:r>
            <a:endParaRPr lang="es-ES" sz="2800" dirty="0"/>
          </a:p>
          <a:p>
            <a:pPr lvl="1"/>
            <a:r>
              <a:rPr lang="en-US" sz="2800" dirty="0"/>
              <a:t>Specify the route tables.</a:t>
            </a:r>
            <a:endParaRPr lang="en-US" sz="3600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1E001D4B-4A26-4F7A-B6A2-95CB4DC89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2049" y="3858758"/>
            <a:ext cx="2247901" cy="224790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2684086-024B-4C2D-86CA-B7BD7B7ED47E}"/>
              </a:ext>
            </a:extLst>
          </p:cNvPr>
          <p:cNvSpPr txBox="1"/>
          <p:nvPr/>
        </p:nvSpPr>
        <p:spPr>
          <a:xfrm>
            <a:off x="5569470" y="6093023"/>
            <a:ext cx="120545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2000" b="1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Endpoints</a:t>
            </a:r>
            <a:endParaRPr lang="es-ES" sz="2000" b="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19466270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pt-BR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Optional Components</a:t>
            </a:r>
            <a:endParaRPr lang="en-US" sz="3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232078"/>
            <a:ext cx="10483849" cy="4949047"/>
          </a:xfrm>
        </p:spPr>
        <p:txBody>
          <a:bodyPr/>
          <a:lstStyle/>
          <a:p>
            <a:r>
              <a:rPr lang="en-US" sz="3600" dirty="0"/>
              <a:t>Network Address Translation (NATs) instances and NAT gateways</a:t>
            </a:r>
          </a:p>
          <a:p>
            <a:pPr lvl="1"/>
            <a:r>
              <a:rPr lang="es-ES" sz="2800" dirty="0"/>
              <a:t>NAT </a:t>
            </a:r>
            <a:r>
              <a:rPr lang="es-ES" sz="2800" dirty="0" err="1"/>
              <a:t>Instance</a:t>
            </a:r>
            <a:endParaRPr lang="es-ES" sz="2800" dirty="0"/>
          </a:p>
          <a:p>
            <a:pPr lvl="2"/>
            <a:r>
              <a:rPr lang="en-US" sz="2400" dirty="0"/>
              <a:t>Create a security group for the NAT with outbound rules that specify the needed Internet resources by port, protocol, and IP address.</a:t>
            </a:r>
          </a:p>
          <a:p>
            <a:pPr lvl="2"/>
            <a:r>
              <a:rPr lang="en-US" sz="2400" dirty="0"/>
              <a:t>Launch an Amazon Linux NAT AMI as an instance in a public subnet and associate it with the NAT security group.</a:t>
            </a:r>
          </a:p>
          <a:p>
            <a:pPr lvl="2"/>
            <a:r>
              <a:rPr lang="en-US" sz="2400" dirty="0"/>
              <a:t>Disable the Source/Destination Check attribute of the NAT.</a:t>
            </a:r>
          </a:p>
          <a:p>
            <a:pPr lvl="2"/>
            <a:r>
              <a:rPr lang="en-US" sz="2400" dirty="0"/>
              <a:t>Configure the route table associated with a private subnet to direct Internet-bound traffic to the NAT instance (for example, i-1a2b3c4d).</a:t>
            </a:r>
          </a:p>
          <a:p>
            <a:pPr lvl="2"/>
            <a:r>
              <a:rPr lang="en-US" sz="2400" dirty="0"/>
              <a:t>Allocate an EIP and associate it with the NAT instance.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67387066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pt-BR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Optional Components</a:t>
            </a:r>
            <a:endParaRPr lang="en-US" sz="3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232078"/>
            <a:ext cx="10483849" cy="2880789"/>
          </a:xfrm>
        </p:spPr>
        <p:txBody>
          <a:bodyPr/>
          <a:lstStyle/>
          <a:p>
            <a:r>
              <a:rPr lang="en-US" sz="3600" dirty="0"/>
              <a:t>Network Address Translation (NATs) instances and NAT gateways</a:t>
            </a:r>
          </a:p>
          <a:p>
            <a:pPr lvl="1"/>
            <a:r>
              <a:rPr lang="en-US" sz="2800" dirty="0"/>
              <a:t>NAT Gateway</a:t>
            </a:r>
          </a:p>
          <a:p>
            <a:pPr lvl="2"/>
            <a:r>
              <a:rPr lang="en-US" sz="2400" dirty="0"/>
              <a:t>Configure the route table associated with the private subnet to direct Internet-bound traffic to the NAT gateway (for example, nat-1a2b3c4d).</a:t>
            </a:r>
          </a:p>
          <a:p>
            <a:pPr lvl="2"/>
            <a:r>
              <a:rPr lang="en-US" sz="2400" dirty="0"/>
              <a:t>Allocate an EIP and associate it with the NAT gateway.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DD864BE-A55D-4B13-AB9D-898695E5BB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3617" y="4112867"/>
            <a:ext cx="2005013" cy="200501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32C3147-4ED7-4277-89A6-1878C62AF881}"/>
              </a:ext>
            </a:extLst>
          </p:cNvPr>
          <p:cNvSpPr txBox="1"/>
          <p:nvPr/>
        </p:nvSpPr>
        <p:spPr>
          <a:xfrm>
            <a:off x="5098089" y="6117880"/>
            <a:ext cx="162576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20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NAT Gateway</a:t>
            </a:r>
          </a:p>
        </p:txBody>
      </p:sp>
    </p:spTree>
    <p:extLst>
      <p:ext uri="{BB962C8B-B14F-4D97-AF65-F5344CB8AC3E}">
        <p14:creationId xmlns:p14="http://schemas.microsoft.com/office/powerpoint/2010/main" val="1677532321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pt-BR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Optional Components</a:t>
            </a:r>
            <a:endParaRPr lang="en-US" sz="3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232078"/>
            <a:ext cx="10437809" cy="1107996"/>
          </a:xfrm>
        </p:spPr>
        <p:txBody>
          <a:bodyPr/>
          <a:lstStyle/>
          <a:p>
            <a:r>
              <a:rPr lang="en-US" sz="3600" dirty="0"/>
              <a:t>Virtual Private Gateway (VPG), Customer Gateways (CGWs), and Virtual Private Network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9BAA22D-42CB-4D97-BA55-E7E29090E543}"/>
              </a:ext>
            </a:extLst>
          </p:cNvPr>
          <p:cNvSpPr/>
          <p:nvPr/>
        </p:nvSpPr>
        <p:spPr>
          <a:xfrm>
            <a:off x="342900" y="2527259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The VPG is the AWS end of the VPN tunnel.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The CGW is a hardware or software application on the customer’s side of the VPN </a:t>
            </a:r>
            <a:r>
              <a:rPr lang="es-ES" sz="2800" dirty="0" err="1"/>
              <a:t>tunnel</a:t>
            </a:r>
            <a:r>
              <a:rPr lang="es-ES" sz="2800" dirty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You must initiate the VPN tunnel from the CGW to the VPG.</a:t>
            </a:r>
          </a:p>
        </p:txBody>
      </p:sp>
      <p:pic>
        <p:nvPicPr>
          <p:cNvPr id="4098" name="Picture 2" descr="FIGURE 4.4 VPC with VPN connection to a customer network">
            <a:extLst>
              <a:ext uri="{FF2B5EF4-FFF2-40B4-BE49-F238E27FC236}">
                <a16:creationId xmlns:a16="http://schemas.microsoft.com/office/drawing/2014/main" id="{A744988A-0B84-459D-A4CA-CAED32BFB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968" y="2622509"/>
            <a:ext cx="5257815" cy="3114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178805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pt-BR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Virtual Private Cloud (VPC), Optional Components</a:t>
            </a:r>
            <a:endParaRPr lang="en-US" sz="3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232078"/>
            <a:ext cx="10437809" cy="1107996"/>
          </a:xfrm>
        </p:spPr>
        <p:txBody>
          <a:bodyPr/>
          <a:lstStyle/>
          <a:p>
            <a:r>
              <a:rPr lang="en-US" sz="3600" dirty="0"/>
              <a:t>Virtual Private Gateway (VPG), Customer Gateways (CGWs), and Virtual Private Network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9BAA22D-42CB-4D97-BA55-E7E29090E543}"/>
              </a:ext>
            </a:extLst>
          </p:cNvPr>
          <p:cNvSpPr/>
          <p:nvPr/>
        </p:nvSpPr>
        <p:spPr>
          <a:xfrm>
            <a:off x="342900" y="2527259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VPGs support both dynamic routing with BGP and static routing.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The VPN connection consists of two tunnels for higher availability to the VPC.</a:t>
            </a:r>
            <a:endParaRPr lang="en-US" sz="3600" dirty="0"/>
          </a:p>
        </p:txBody>
      </p:sp>
      <p:pic>
        <p:nvPicPr>
          <p:cNvPr id="5" name="Picture 2" descr="FIGURE 4.4 VPC with VPN connection to a customer network">
            <a:extLst>
              <a:ext uri="{FF2B5EF4-FFF2-40B4-BE49-F238E27FC236}">
                <a16:creationId xmlns:a16="http://schemas.microsoft.com/office/drawing/2014/main" id="{A9DF9FCF-F252-4D10-A505-39E906B63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968" y="2622509"/>
            <a:ext cx="5257815" cy="3114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622729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3: Network Diagram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7561226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pt-BR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Diagram</a:t>
            </a:r>
          </a:p>
        </p:txBody>
      </p:sp>
      <p:grpSp>
        <p:nvGrpSpPr>
          <p:cNvPr id="1034" name="Grupo 1033">
            <a:extLst>
              <a:ext uri="{FF2B5EF4-FFF2-40B4-BE49-F238E27FC236}">
                <a16:creationId xmlns:a16="http://schemas.microsoft.com/office/drawing/2014/main" id="{876E95B1-07A2-4B7A-82D6-58C3DC6FD665}"/>
              </a:ext>
            </a:extLst>
          </p:cNvPr>
          <p:cNvGrpSpPr/>
          <p:nvPr/>
        </p:nvGrpSpPr>
        <p:grpSpPr>
          <a:xfrm>
            <a:off x="800821" y="4043276"/>
            <a:ext cx="3567066" cy="2628691"/>
            <a:chOff x="800821" y="4043276"/>
            <a:chExt cx="3567066" cy="2628691"/>
          </a:xfrm>
        </p:grpSpPr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F23981BA-3491-4D95-81A7-022D49EDF5B2}"/>
                </a:ext>
              </a:extLst>
            </p:cNvPr>
            <p:cNvSpPr/>
            <p:nvPr/>
          </p:nvSpPr>
          <p:spPr bwMode="auto">
            <a:xfrm>
              <a:off x="800821" y="4137685"/>
              <a:ext cx="3567066" cy="2534282"/>
            </a:xfrm>
            <a:prstGeom prst="roundRect">
              <a:avLst>
                <a:gd name="adj" fmla="val 3774"/>
              </a:avLst>
            </a:prstGeom>
            <a:solidFill>
              <a:srgbClr val="FFE07D"/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s-ES" sz="20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13B803C4-56DE-4818-A157-B3A89A8F6D11}"/>
                </a:ext>
              </a:extLst>
            </p:cNvPr>
            <p:cNvGrpSpPr/>
            <p:nvPr/>
          </p:nvGrpSpPr>
          <p:grpSpPr>
            <a:xfrm>
              <a:off x="2210358" y="4254499"/>
              <a:ext cx="695063" cy="1055625"/>
              <a:chOff x="2084667" y="2838893"/>
              <a:chExt cx="695063" cy="1055625"/>
            </a:xfrm>
          </p:grpSpPr>
          <p:pic>
            <p:nvPicPr>
              <p:cNvPr id="10" name="Gráfico 9">
                <a:extLst>
                  <a:ext uri="{FF2B5EF4-FFF2-40B4-BE49-F238E27FC236}">
                    <a16:creationId xmlns:a16="http://schemas.microsoft.com/office/drawing/2014/main" id="{41D1A5F6-7F8D-490C-BFEA-681CF20B82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84667" y="2838893"/>
                <a:ext cx="650092" cy="746728"/>
              </a:xfrm>
              <a:prstGeom prst="rect">
                <a:avLst/>
              </a:prstGeom>
            </p:spPr>
          </p:pic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AD4F01EF-24BC-49E5-99D4-02AC8E694C44}"/>
                  </a:ext>
                </a:extLst>
              </p:cNvPr>
              <p:cNvSpPr txBox="1"/>
              <p:nvPr/>
            </p:nvSpPr>
            <p:spPr>
              <a:xfrm>
                <a:off x="2101660" y="3586741"/>
                <a:ext cx="67807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s-ES" sz="10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VPC01</a:t>
                </a:r>
              </a:p>
              <a:p>
                <a:pPr algn="ctr"/>
                <a:r>
                  <a:rPr lang="es-ES" sz="10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10.1.0.0/16</a:t>
                </a:r>
              </a:p>
            </p:txBody>
          </p:sp>
        </p:grp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D88310FA-58C6-4293-8EA9-52992A3695AD}"/>
                </a:ext>
              </a:extLst>
            </p:cNvPr>
            <p:cNvGrpSpPr/>
            <p:nvPr/>
          </p:nvGrpSpPr>
          <p:grpSpPr>
            <a:xfrm>
              <a:off x="958748" y="4043276"/>
              <a:ext cx="787484" cy="184666"/>
              <a:chOff x="3012486" y="1877643"/>
              <a:chExt cx="787484" cy="184666"/>
            </a:xfrm>
          </p:grpSpPr>
          <p:sp>
            <p:nvSpPr>
              <p:cNvPr id="32" name="Rectángulo: esquinas redondeadas 31">
                <a:extLst>
                  <a:ext uri="{FF2B5EF4-FFF2-40B4-BE49-F238E27FC236}">
                    <a16:creationId xmlns:a16="http://schemas.microsoft.com/office/drawing/2014/main" id="{CD72CE40-5FA4-404E-9D91-8ADD372BEBB5}"/>
                  </a:ext>
                </a:extLst>
              </p:cNvPr>
              <p:cNvSpPr/>
              <p:nvPr/>
            </p:nvSpPr>
            <p:spPr bwMode="auto">
              <a:xfrm>
                <a:off x="3012486" y="1878029"/>
                <a:ext cx="787484" cy="183895"/>
              </a:xfrm>
              <a:prstGeom prst="roundRect">
                <a:avLst/>
              </a:prstGeom>
              <a:solidFill>
                <a:schemeClr val="bg2"/>
              </a:solidFill>
              <a:ln w="635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900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7E7F6A26-C88C-4EA1-ACBC-831EB04242CF}"/>
                  </a:ext>
                </a:extLst>
              </p:cNvPr>
              <p:cNvSpPr txBox="1"/>
              <p:nvPr/>
            </p:nvSpPr>
            <p:spPr>
              <a:xfrm>
                <a:off x="3012486" y="1877643"/>
                <a:ext cx="787484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12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VPC01</a:t>
                </a:r>
              </a:p>
            </p:txBody>
          </p:sp>
        </p:grpSp>
      </p:grpSp>
      <p:grpSp>
        <p:nvGrpSpPr>
          <p:cNvPr id="1035" name="Grupo 1034">
            <a:extLst>
              <a:ext uri="{FF2B5EF4-FFF2-40B4-BE49-F238E27FC236}">
                <a16:creationId xmlns:a16="http://schemas.microsoft.com/office/drawing/2014/main" id="{BAFA7540-C15C-4ACF-BEC0-3EC674CF0528}"/>
              </a:ext>
            </a:extLst>
          </p:cNvPr>
          <p:cNvGrpSpPr/>
          <p:nvPr/>
        </p:nvGrpSpPr>
        <p:grpSpPr>
          <a:xfrm>
            <a:off x="890312" y="5323761"/>
            <a:ext cx="3353244" cy="1277093"/>
            <a:chOff x="890312" y="5323761"/>
            <a:chExt cx="3353244" cy="1277093"/>
          </a:xfrm>
        </p:grpSpPr>
        <p:sp>
          <p:nvSpPr>
            <p:cNvPr id="30" name="Abrir llave 29">
              <a:extLst>
                <a:ext uri="{FF2B5EF4-FFF2-40B4-BE49-F238E27FC236}">
                  <a16:creationId xmlns:a16="http://schemas.microsoft.com/office/drawing/2014/main" id="{1DCCDB3E-30B8-4D59-AA5D-A7C5CD431968}"/>
                </a:ext>
              </a:extLst>
            </p:cNvPr>
            <p:cNvSpPr/>
            <p:nvPr/>
          </p:nvSpPr>
          <p:spPr>
            <a:xfrm rot="5400000">
              <a:off x="2370048" y="4493460"/>
              <a:ext cx="375684" cy="2036285"/>
            </a:xfrm>
            <a:prstGeom prst="leftBrace">
              <a:avLst/>
            </a:prstGeom>
            <a:ln w="6350">
              <a:solidFill>
                <a:schemeClr val="tx1"/>
              </a:solidFill>
              <a:prstDash val="lgDash"/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59" name="Grupo 58">
              <a:extLst>
                <a:ext uri="{FF2B5EF4-FFF2-40B4-BE49-F238E27FC236}">
                  <a16:creationId xmlns:a16="http://schemas.microsoft.com/office/drawing/2014/main" id="{CA6666CE-62E8-40F2-86E0-29E022305B60}"/>
                </a:ext>
              </a:extLst>
            </p:cNvPr>
            <p:cNvGrpSpPr/>
            <p:nvPr/>
          </p:nvGrpSpPr>
          <p:grpSpPr>
            <a:xfrm>
              <a:off x="890312" y="5732239"/>
              <a:ext cx="1711841" cy="863131"/>
              <a:chOff x="446726" y="4403127"/>
              <a:chExt cx="1711841" cy="863131"/>
            </a:xfrm>
          </p:grpSpPr>
          <p:sp>
            <p:nvSpPr>
              <p:cNvPr id="19" name="Rectángulo: esquinas redondeadas 18">
                <a:extLst>
                  <a:ext uri="{FF2B5EF4-FFF2-40B4-BE49-F238E27FC236}">
                    <a16:creationId xmlns:a16="http://schemas.microsoft.com/office/drawing/2014/main" id="{9D21B816-9743-4ADF-8007-D3B31EF2A0B6}"/>
                  </a:ext>
                </a:extLst>
              </p:cNvPr>
              <p:cNvSpPr/>
              <p:nvPr/>
            </p:nvSpPr>
            <p:spPr bwMode="auto">
              <a:xfrm>
                <a:off x="446726" y="4403127"/>
                <a:ext cx="1711841" cy="863131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prstDash val="lgDash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2000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grpSp>
            <p:nvGrpSpPr>
              <p:cNvPr id="17" name="Grupo 16">
                <a:extLst>
                  <a:ext uri="{FF2B5EF4-FFF2-40B4-BE49-F238E27FC236}">
                    <a16:creationId xmlns:a16="http://schemas.microsoft.com/office/drawing/2014/main" id="{017D12DF-2B3E-42B2-A27C-8207D343942A}"/>
                  </a:ext>
                </a:extLst>
              </p:cNvPr>
              <p:cNvGrpSpPr/>
              <p:nvPr/>
            </p:nvGrpSpPr>
            <p:grpSpPr>
              <a:xfrm>
                <a:off x="574516" y="4460339"/>
                <a:ext cx="1467094" cy="528936"/>
                <a:chOff x="1134099" y="3862311"/>
                <a:chExt cx="1969502" cy="538964"/>
              </a:xfrm>
            </p:grpSpPr>
            <p:pic>
              <p:nvPicPr>
                <p:cNvPr id="9" name="Gráfico 8" descr="Ordenador">
                  <a:extLst>
                    <a:ext uri="{FF2B5EF4-FFF2-40B4-BE49-F238E27FC236}">
                      <a16:creationId xmlns:a16="http://schemas.microsoft.com/office/drawing/2014/main" id="{D13B6259-AF41-4615-9805-96939F31BB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64637" y="3862311"/>
                  <a:ext cx="538964" cy="538964"/>
                </a:xfrm>
                <a:prstGeom prst="rect">
                  <a:avLst/>
                </a:prstGeom>
              </p:spPr>
            </p:pic>
            <p:pic>
              <p:nvPicPr>
                <p:cNvPr id="15" name="Gráfico 14" descr="Ordenador">
                  <a:extLst>
                    <a:ext uri="{FF2B5EF4-FFF2-40B4-BE49-F238E27FC236}">
                      <a16:creationId xmlns:a16="http://schemas.microsoft.com/office/drawing/2014/main" id="{F80F0EC0-198E-4AA2-A265-238D35B8EE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49368" y="3862311"/>
                  <a:ext cx="538964" cy="538964"/>
                </a:xfrm>
                <a:prstGeom prst="rect">
                  <a:avLst/>
                </a:prstGeom>
              </p:spPr>
            </p:pic>
            <p:pic>
              <p:nvPicPr>
                <p:cNvPr id="16" name="Gráfico 15" descr="Ordenador">
                  <a:extLst>
                    <a:ext uri="{FF2B5EF4-FFF2-40B4-BE49-F238E27FC236}">
                      <a16:creationId xmlns:a16="http://schemas.microsoft.com/office/drawing/2014/main" id="{AB27F6AE-A7B7-4256-8AF7-8F87488CA5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34099" y="3862311"/>
                  <a:ext cx="538964" cy="538964"/>
                </a:xfrm>
                <a:prstGeom prst="rect">
                  <a:avLst/>
                </a:prstGeom>
              </p:spPr>
            </p:pic>
          </p:grpSp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8B4C84F1-F36D-4ADE-B616-DF659961E3B1}"/>
                  </a:ext>
                </a:extLst>
              </p:cNvPr>
              <p:cNvSpPr txBox="1"/>
              <p:nvPr/>
            </p:nvSpPr>
            <p:spPr>
              <a:xfrm>
                <a:off x="788082" y="4920002"/>
                <a:ext cx="1029128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s-ES" sz="1050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VPC01-SubNet01</a:t>
                </a:r>
              </a:p>
              <a:p>
                <a:pPr algn="ctr"/>
                <a:r>
                  <a:rPr lang="es-ES" sz="1050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10.1.1.0/24</a:t>
                </a:r>
              </a:p>
            </p:txBody>
          </p:sp>
        </p:grpSp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B3C7DCA3-0C9A-4F77-90C8-1F9B573AB958}"/>
                </a:ext>
              </a:extLst>
            </p:cNvPr>
            <p:cNvGrpSpPr/>
            <p:nvPr/>
          </p:nvGrpSpPr>
          <p:grpSpPr>
            <a:xfrm>
              <a:off x="2856228" y="5732239"/>
              <a:ext cx="1387328" cy="868615"/>
              <a:chOff x="2412642" y="4403127"/>
              <a:chExt cx="1387328" cy="868615"/>
            </a:xfrm>
          </p:grpSpPr>
          <p:sp>
            <p:nvSpPr>
              <p:cNvPr id="24" name="Rectángulo: esquinas redondeadas 23">
                <a:extLst>
                  <a:ext uri="{FF2B5EF4-FFF2-40B4-BE49-F238E27FC236}">
                    <a16:creationId xmlns:a16="http://schemas.microsoft.com/office/drawing/2014/main" id="{69543C1B-B85C-4F03-891C-1B88E7687AF0}"/>
                  </a:ext>
                </a:extLst>
              </p:cNvPr>
              <p:cNvSpPr/>
              <p:nvPr/>
            </p:nvSpPr>
            <p:spPr bwMode="auto">
              <a:xfrm>
                <a:off x="2412642" y="4403127"/>
                <a:ext cx="1387328" cy="868615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prstDash val="lgDash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2000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27" name="Gráfico 26" descr="Ordenador">
                <a:extLst>
                  <a:ext uri="{FF2B5EF4-FFF2-40B4-BE49-F238E27FC236}">
                    <a16:creationId xmlns:a16="http://schemas.microsoft.com/office/drawing/2014/main" id="{2187116A-2927-4582-9CCD-91B80565A8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186377" y="4430082"/>
                <a:ext cx="436290" cy="552393"/>
              </a:xfrm>
              <a:prstGeom prst="rect">
                <a:avLst/>
              </a:prstGeom>
            </p:spPr>
          </p:pic>
          <p:pic>
            <p:nvPicPr>
              <p:cNvPr id="28" name="Gráfico 27" descr="Ordenador">
                <a:extLst>
                  <a:ext uri="{FF2B5EF4-FFF2-40B4-BE49-F238E27FC236}">
                    <a16:creationId xmlns:a16="http://schemas.microsoft.com/office/drawing/2014/main" id="{9B10B00E-7BD1-4D9E-9080-06ECC51915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607370" y="4430082"/>
                <a:ext cx="436290" cy="552393"/>
              </a:xfrm>
              <a:prstGeom prst="rect">
                <a:avLst/>
              </a:prstGeom>
            </p:spPr>
          </p:pic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9180CCF2-F596-469C-85D0-F3C785D65A23}"/>
                  </a:ext>
                </a:extLst>
              </p:cNvPr>
              <p:cNvSpPr txBox="1"/>
              <p:nvPr/>
            </p:nvSpPr>
            <p:spPr>
              <a:xfrm>
                <a:off x="2551511" y="4926226"/>
                <a:ext cx="1118362" cy="3374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s-ES" sz="1050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VPC01-SubNet02</a:t>
                </a:r>
              </a:p>
              <a:p>
                <a:pPr algn="ctr"/>
                <a:r>
                  <a:rPr lang="es-ES" sz="1050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10.1.2.0/24</a:t>
                </a:r>
              </a:p>
            </p:txBody>
          </p:sp>
        </p:grpSp>
      </p:grpSp>
      <p:grpSp>
        <p:nvGrpSpPr>
          <p:cNvPr id="1038" name="Grupo 1037">
            <a:extLst>
              <a:ext uri="{FF2B5EF4-FFF2-40B4-BE49-F238E27FC236}">
                <a16:creationId xmlns:a16="http://schemas.microsoft.com/office/drawing/2014/main" id="{EFEB2C85-3746-4E0F-AF7C-6CF36AE645BF}"/>
              </a:ext>
            </a:extLst>
          </p:cNvPr>
          <p:cNvGrpSpPr/>
          <p:nvPr/>
        </p:nvGrpSpPr>
        <p:grpSpPr>
          <a:xfrm>
            <a:off x="7818382" y="3999949"/>
            <a:ext cx="3567066" cy="2672017"/>
            <a:chOff x="7818382" y="3999949"/>
            <a:chExt cx="3567066" cy="2672017"/>
          </a:xfrm>
        </p:grpSpPr>
        <p:sp>
          <p:nvSpPr>
            <p:cNvPr id="35" name="Rectángulo: esquinas redondeadas 34">
              <a:extLst>
                <a:ext uri="{FF2B5EF4-FFF2-40B4-BE49-F238E27FC236}">
                  <a16:creationId xmlns:a16="http://schemas.microsoft.com/office/drawing/2014/main" id="{64FA01ED-2093-485D-9216-9BF0C4B0DAB3}"/>
                </a:ext>
              </a:extLst>
            </p:cNvPr>
            <p:cNvSpPr/>
            <p:nvPr/>
          </p:nvSpPr>
          <p:spPr bwMode="auto">
            <a:xfrm>
              <a:off x="7818382" y="4102391"/>
              <a:ext cx="3567066" cy="2569575"/>
            </a:xfrm>
            <a:prstGeom prst="roundRect">
              <a:avLst>
                <a:gd name="adj" fmla="val 3774"/>
              </a:avLst>
            </a:prstGeom>
            <a:solidFill>
              <a:srgbClr val="FFE07D"/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s-ES" sz="20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271DDD2D-F85B-4F5A-9B7B-AAA4735778A1}"/>
                </a:ext>
              </a:extLst>
            </p:cNvPr>
            <p:cNvGrpSpPr/>
            <p:nvPr/>
          </p:nvGrpSpPr>
          <p:grpSpPr>
            <a:xfrm>
              <a:off x="9227919" y="4243984"/>
              <a:ext cx="695064" cy="1055625"/>
              <a:chOff x="2084667" y="2838893"/>
              <a:chExt cx="695064" cy="1055625"/>
            </a:xfrm>
          </p:grpSpPr>
          <p:pic>
            <p:nvPicPr>
              <p:cNvPr id="42" name="Gráfico 41">
                <a:extLst>
                  <a:ext uri="{FF2B5EF4-FFF2-40B4-BE49-F238E27FC236}">
                    <a16:creationId xmlns:a16="http://schemas.microsoft.com/office/drawing/2014/main" id="{C38FE63A-742C-4DF0-ABCC-AF540DFD4C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84667" y="2838893"/>
                <a:ext cx="650092" cy="746728"/>
              </a:xfrm>
              <a:prstGeom prst="rect">
                <a:avLst/>
              </a:prstGeom>
            </p:spPr>
          </p:pic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CC4F0C4E-AA4F-4F01-8E38-4CA9E2208F02}"/>
                  </a:ext>
                </a:extLst>
              </p:cNvPr>
              <p:cNvSpPr txBox="1"/>
              <p:nvPr/>
            </p:nvSpPr>
            <p:spPr>
              <a:xfrm>
                <a:off x="2101660" y="3586741"/>
                <a:ext cx="67807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s-ES" sz="10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VPC02</a:t>
                </a:r>
              </a:p>
              <a:p>
                <a:pPr algn="ctr"/>
                <a:r>
                  <a:rPr lang="es-ES" sz="10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10.2.0.0/16</a:t>
                </a:r>
              </a:p>
            </p:txBody>
          </p:sp>
        </p:grpSp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6B2C7611-A932-4511-9B53-95567C25806C}"/>
                </a:ext>
              </a:extLst>
            </p:cNvPr>
            <p:cNvGrpSpPr/>
            <p:nvPr/>
          </p:nvGrpSpPr>
          <p:grpSpPr>
            <a:xfrm>
              <a:off x="10448948" y="3999949"/>
              <a:ext cx="787484" cy="184666"/>
              <a:chOff x="3012486" y="1877643"/>
              <a:chExt cx="787484" cy="184666"/>
            </a:xfrm>
          </p:grpSpPr>
          <p:sp>
            <p:nvSpPr>
              <p:cNvPr id="52" name="Rectángulo: esquinas redondeadas 51">
                <a:extLst>
                  <a:ext uri="{FF2B5EF4-FFF2-40B4-BE49-F238E27FC236}">
                    <a16:creationId xmlns:a16="http://schemas.microsoft.com/office/drawing/2014/main" id="{4F37BE3B-2A36-4243-A48A-2F56D632703D}"/>
                  </a:ext>
                </a:extLst>
              </p:cNvPr>
              <p:cNvSpPr/>
              <p:nvPr/>
            </p:nvSpPr>
            <p:spPr bwMode="auto">
              <a:xfrm>
                <a:off x="3012486" y="1878029"/>
                <a:ext cx="787484" cy="183895"/>
              </a:xfrm>
              <a:prstGeom prst="roundRect">
                <a:avLst/>
              </a:prstGeom>
              <a:solidFill>
                <a:schemeClr val="bg2"/>
              </a:solidFill>
              <a:ln w="635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900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D001B8D6-83C0-42A0-8A62-27BB09896C52}"/>
                  </a:ext>
                </a:extLst>
              </p:cNvPr>
              <p:cNvSpPr txBox="1"/>
              <p:nvPr/>
            </p:nvSpPr>
            <p:spPr>
              <a:xfrm>
                <a:off x="3012486" y="1877643"/>
                <a:ext cx="787484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12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VPC02</a:t>
                </a:r>
              </a:p>
            </p:txBody>
          </p:sp>
        </p:grpSp>
      </p:grp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DCC0B3B8-5352-48AC-B5AE-02C28008923C}"/>
              </a:ext>
            </a:extLst>
          </p:cNvPr>
          <p:cNvGrpSpPr/>
          <p:nvPr/>
        </p:nvGrpSpPr>
        <p:grpSpPr>
          <a:xfrm>
            <a:off x="3294349" y="3779749"/>
            <a:ext cx="2057326" cy="1332746"/>
            <a:chOff x="3285247" y="3620000"/>
            <a:chExt cx="2057326" cy="1332746"/>
          </a:xfrm>
        </p:grpSpPr>
        <p:grpSp>
          <p:nvGrpSpPr>
            <p:cNvPr id="95" name="Grupo 94">
              <a:extLst>
                <a:ext uri="{FF2B5EF4-FFF2-40B4-BE49-F238E27FC236}">
                  <a16:creationId xmlns:a16="http://schemas.microsoft.com/office/drawing/2014/main" id="{B09BCE07-7F1C-4693-A63D-72261FAEA7A4}"/>
                </a:ext>
              </a:extLst>
            </p:cNvPr>
            <p:cNvGrpSpPr/>
            <p:nvPr/>
          </p:nvGrpSpPr>
          <p:grpSpPr>
            <a:xfrm>
              <a:off x="3285247" y="3620000"/>
              <a:ext cx="1597377" cy="1332746"/>
              <a:chOff x="3301289" y="2946608"/>
              <a:chExt cx="1597377" cy="1332746"/>
            </a:xfrm>
          </p:grpSpPr>
          <p:pic>
            <p:nvPicPr>
              <p:cNvPr id="63" name="Gráfico 62">
                <a:extLst>
                  <a:ext uri="{FF2B5EF4-FFF2-40B4-BE49-F238E27FC236}">
                    <a16:creationId xmlns:a16="http://schemas.microsoft.com/office/drawing/2014/main" id="{2680CBD2-38A4-4366-B1C4-6ECBFA76BD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784448" y="2946608"/>
                <a:ext cx="1114218" cy="1114218"/>
              </a:xfrm>
              <a:prstGeom prst="rect">
                <a:avLst/>
              </a:prstGeom>
            </p:spPr>
          </p:pic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35E076C2-2375-4777-8228-8BA556E381D0}"/>
                  </a:ext>
                </a:extLst>
              </p:cNvPr>
              <p:cNvSpPr txBox="1"/>
              <p:nvPr/>
            </p:nvSpPr>
            <p:spPr>
              <a:xfrm>
                <a:off x="3928010" y="3971577"/>
                <a:ext cx="8992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s-ES" sz="10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VPC01-SG01</a:t>
                </a:r>
              </a:p>
              <a:p>
                <a:pPr algn="ctr"/>
                <a:r>
                  <a:rPr lang="es-ES" sz="10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Security Group</a:t>
                </a:r>
              </a:p>
            </p:txBody>
          </p: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67766BBA-EF53-4B6F-B5F4-3120AD2DEE67}"/>
                  </a:ext>
                </a:extLst>
              </p:cNvPr>
              <p:cNvSpPr txBox="1"/>
              <p:nvPr/>
            </p:nvSpPr>
            <p:spPr>
              <a:xfrm>
                <a:off x="4125579" y="3331175"/>
                <a:ext cx="461452" cy="461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10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Rules</a:t>
                </a:r>
              </a:p>
              <a:p>
                <a:pPr algn="ctr"/>
                <a:r>
                  <a:rPr lang="es-ES" sz="10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RDP</a:t>
                </a:r>
              </a:p>
              <a:p>
                <a:pPr algn="ctr"/>
                <a:r>
                  <a:rPr lang="es-ES" sz="10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ICMP</a:t>
                </a:r>
              </a:p>
            </p:txBody>
          </p:sp>
          <p:grpSp>
            <p:nvGrpSpPr>
              <p:cNvPr id="66" name="Grupo 65">
                <a:extLst>
                  <a:ext uri="{FF2B5EF4-FFF2-40B4-BE49-F238E27FC236}">
                    <a16:creationId xmlns:a16="http://schemas.microsoft.com/office/drawing/2014/main" id="{59AE773B-7531-40A6-86BF-5CCA14D27B41}"/>
                  </a:ext>
                </a:extLst>
              </p:cNvPr>
              <p:cNvGrpSpPr/>
              <p:nvPr/>
            </p:nvGrpSpPr>
            <p:grpSpPr>
              <a:xfrm>
                <a:off x="3301289" y="3753049"/>
                <a:ext cx="787484" cy="184281"/>
                <a:chOff x="3012486" y="1877643"/>
                <a:chExt cx="787484" cy="184281"/>
              </a:xfrm>
            </p:grpSpPr>
            <p:sp>
              <p:nvSpPr>
                <p:cNvPr id="67" name="Rectángulo: esquinas redondeadas 66">
                  <a:extLst>
                    <a:ext uri="{FF2B5EF4-FFF2-40B4-BE49-F238E27FC236}">
                      <a16:creationId xmlns:a16="http://schemas.microsoft.com/office/drawing/2014/main" id="{9A37422E-AB4B-4CD7-A317-AC533A69CC12}"/>
                    </a:ext>
                  </a:extLst>
                </p:cNvPr>
                <p:cNvSpPr/>
                <p:nvPr/>
              </p:nvSpPr>
              <p:spPr bwMode="auto">
                <a:xfrm>
                  <a:off x="3012486" y="1878029"/>
                  <a:ext cx="787484" cy="183895"/>
                </a:xfrm>
                <a:prstGeom prst="roundRect">
                  <a:avLst/>
                </a:prstGeom>
                <a:solidFill>
                  <a:schemeClr val="bg2"/>
                </a:solidFill>
                <a:ln w="6350"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s-ES" sz="900" dirty="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F51C422A-941A-48AC-908D-D0BA0B587C6A}"/>
                    </a:ext>
                  </a:extLst>
                </p:cNvPr>
                <p:cNvSpPr txBox="1"/>
                <p:nvPr/>
              </p:nvSpPr>
              <p:spPr>
                <a:xfrm>
                  <a:off x="3012486" y="1877643"/>
                  <a:ext cx="787484" cy="1692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s-ES" sz="1100" b="1" dirty="0">
                      <a:gradFill>
                        <a:gsLst>
                          <a:gs pos="2917">
                            <a:schemeClr val="tx1"/>
                          </a:gs>
                          <a:gs pos="30000">
                            <a:schemeClr val="tx1"/>
                          </a:gs>
                        </a:gsLst>
                        <a:lin ang="5400000" scaled="0"/>
                      </a:gradFill>
                    </a:rPr>
                    <a:t>10.1.0.0/16</a:t>
                  </a:r>
                </a:p>
              </p:txBody>
            </p:sp>
          </p:grpSp>
        </p:grpSp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53C429EE-2808-4E56-B6C2-A285553809CB}"/>
                </a:ext>
              </a:extLst>
            </p:cNvPr>
            <p:cNvGrpSpPr/>
            <p:nvPr/>
          </p:nvGrpSpPr>
          <p:grpSpPr>
            <a:xfrm>
              <a:off x="4570988" y="3766058"/>
              <a:ext cx="771585" cy="184281"/>
              <a:chOff x="3012485" y="1877643"/>
              <a:chExt cx="787485" cy="184281"/>
            </a:xfrm>
          </p:grpSpPr>
          <p:sp>
            <p:nvSpPr>
              <p:cNvPr id="70" name="Rectángulo: esquinas redondeadas 69">
                <a:extLst>
                  <a:ext uri="{FF2B5EF4-FFF2-40B4-BE49-F238E27FC236}">
                    <a16:creationId xmlns:a16="http://schemas.microsoft.com/office/drawing/2014/main" id="{97515860-7737-4F92-8828-D820C7F6FD9C}"/>
                  </a:ext>
                </a:extLst>
              </p:cNvPr>
              <p:cNvSpPr/>
              <p:nvPr/>
            </p:nvSpPr>
            <p:spPr bwMode="auto">
              <a:xfrm>
                <a:off x="3012486" y="1878029"/>
                <a:ext cx="787484" cy="183895"/>
              </a:xfrm>
              <a:prstGeom prst="roundRect">
                <a:avLst/>
              </a:prstGeom>
              <a:solidFill>
                <a:schemeClr val="bg2"/>
              </a:solidFill>
              <a:ln w="635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900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FE97F8F3-40A0-49D9-804B-5D3298E797FF}"/>
                  </a:ext>
                </a:extLst>
              </p:cNvPr>
              <p:cNvSpPr txBox="1"/>
              <p:nvPr/>
            </p:nvSpPr>
            <p:spPr>
              <a:xfrm>
                <a:off x="3012485" y="1877643"/>
                <a:ext cx="787484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11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0.0.0.0/0</a:t>
                </a:r>
              </a:p>
            </p:txBody>
          </p:sp>
        </p:grp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84C97F35-F89A-4454-975C-D0C36BDAE429}"/>
              </a:ext>
            </a:extLst>
          </p:cNvPr>
          <p:cNvGrpSpPr/>
          <p:nvPr/>
        </p:nvGrpSpPr>
        <p:grpSpPr>
          <a:xfrm>
            <a:off x="6761211" y="3729386"/>
            <a:ext cx="2081901" cy="1332746"/>
            <a:chOff x="6656627" y="2914734"/>
            <a:chExt cx="2081901" cy="1332746"/>
          </a:xfrm>
        </p:grpSpPr>
        <p:pic>
          <p:nvPicPr>
            <p:cNvPr id="81" name="Gráfico 80">
              <a:extLst>
                <a:ext uri="{FF2B5EF4-FFF2-40B4-BE49-F238E27FC236}">
                  <a16:creationId xmlns:a16="http://schemas.microsoft.com/office/drawing/2014/main" id="{46CA7DDE-EE54-4737-9AF9-6476E886D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48461" y="2914734"/>
              <a:ext cx="1114218" cy="1114218"/>
            </a:xfrm>
            <a:prstGeom prst="rect">
              <a:avLst/>
            </a:prstGeom>
          </p:spPr>
        </p:pic>
        <p:sp>
          <p:nvSpPr>
            <p:cNvPr id="82" name="CuadroTexto 81">
              <a:extLst>
                <a:ext uri="{FF2B5EF4-FFF2-40B4-BE49-F238E27FC236}">
                  <a16:creationId xmlns:a16="http://schemas.microsoft.com/office/drawing/2014/main" id="{0547C52E-48DB-40D1-9E1F-F70CC498AE6B}"/>
                </a:ext>
              </a:extLst>
            </p:cNvPr>
            <p:cNvSpPr txBox="1"/>
            <p:nvPr/>
          </p:nvSpPr>
          <p:spPr>
            <a:xfrm>
              <a:off x="7292023" y="3939703"/>
              <a:ext cx="899285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s-ES" sz="10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VPC02-SG01</a:t>
              </a:r>
            </a:p>
            <a:p>
              <a:pPr algn="ctr"/>
              <a:r>
                <a:rPr lang="es-ES" sz="10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Security Group</a:t>
              </a:r>
            </a:p>
          </p:txBody>
        </p: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19DD37BD-9A43-4359-AE17-A260527EB989}"/>
                </a:ext>
              </a:extLst>
            </p:cNvPr>
            <p:cNvSpPr txBox="1"/>
            <p:nvPr/>
          </p:nvSpPr>
          <p:spPr>
            <a:xfrm>
              <a:off x="7489592" y="3299301"/>
              <a:ext cx="461452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s-ES" sz="10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Rules</a:t>
              </a:r>
            </a:p>
            <a:p>
              <a:pPr algn="ctr"/>
              <a:r>
                <a:rPr lang="es-ES" sz="10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RDP</a:t>
              </a:r>
            </a:p>
            <a:p>
              <a:pPr algn="ctr"/>
              <a:r>
                <a:rPr lang="es-ES" sz="10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ICMP</a:t>
              </a:r>
            </a:p>
          </p:txBody>
        </p: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2047B213-B531-4A40-BB3F-257C583D6B48}"/>
                </a:ext>
              </a:extLst>
            </p:cNvPr>
            <p:cNvGrpSpPr/>
            <p:nvPr/>
          </p:nvGrpSpPr>
          <p:grpSpPr>
            <a:xfrm>
              <a:off x="7951044" y="3702584"/>
              <a:ext cx="787484" cy="184281"/>
              <a:chOff x="3012486" y="1877643"/>
              <a:chExt cx="787484" cy="184281"/>
            </a:xfrm>
          </p:grpSpPr>
          <p:sp>
            <p:nvSpPr>
              <p:cNvPr id="88" name="Rectángulo: esquinas redondeadas 87">
                <a:extLst>
                  <a:ext uri="{FF2B5EF4-FFF2-40B4-BE49-F238E27FC236}">
                    <a16:creationId xmlns:a16="http://schemas.microsoft.com/office/drawing/2014/main" id="{C809DA12-43E0-44F9-9853-4EF89C9ED87A}"/>
                  </a:ext>
                </a:extLst>
              </p:cNvPr>
              <p:cNvSpPr/>
              <p:nvPr/>
            </p:nvSpPr>
            <p:spPr bwMode="auto">
              <a:xfrm>
                <a:off x="3012486" y="1878029"/>
                <a:ext cx="787484" cy="183895"/>
              </a:xfrm>
              <a:prstGeom prst="roundRect">
                <a:avLst/>
              </a:prstGeom>
              <a:solidFill>
                <a:schemeClr val="bg2"/>
              </a:solidFill>
              <a:ln w="635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900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CAA56BE4-C93F-4E2F-A810-C44271CE01F6}"/>
                  </a:ext>
                </a:extLst>
              </p:cNvPr>
              <p:cNvSpPr txBox="1"/>
              <p:nvPr/>
            </p:nvSpPr>
            <p:spPr>
              <a:xfrm>
                <a:off x="3012486" y="1877643"/>
                <a:ext cx="787484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11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10.2.0.0/16</a:t>
                </a:r>
              </a:p>
            </p:txBody>
          </p:sp>
        </p:grpSp>
        <p:grpSp>
          <p:nvGrpSpPr>
            <p:cNvPr id="85" name="Grupo 84">
              <a:extLst>
                <a:ext uri="{FF2B5EF4-FFF2-40B4-BE49-F238E27FC236}">
                  <a16:creationId xmlns:a16="http://schemas.microsoft.com/office/drawing/2014/main" id="{5246696A-115B-402F-ABDE-4CE863A07E3E}"/>
                </a:ext>
              </a:extLst>
            </p:cNvPr>
            <p:cNvGrpSpPr/>
            <p:nvPr/>
          </p:nvGrpSpPr>
          <p:grpSpPr>
            <a:xfrm>
              <a:off x="6656627" y="3096846"/>
              <a:ext cx="771585" cy="184281"/>
              <a:chOff x="3012486" y="1877643"/>
              <a:chExt cx="787485" cy="184281"/>
            </a:xfrm>
          </p:grpSpPr>
          <p:sp>
            <p:nvSpPr>
              <p:cNvPr id="86" name="Rectángulo: esquinas redondeadas 85">
                <a:extLst>
                  <a:ext uri="{FF2B5EF4-FFF2-40B4-BE49-F238E27FC236}">
                    <a16:creationId xmlns:a16="http://schemas.microsoft.com/office/drawing/2014/main" id="{5A9EC01C-4B31-4E44-AAC0-9C43722BD348}"/>
                  </a:ext>
                </a:extLst>
              </p:cNvPr>
              <p:cNvSpPr/>
              <p:nvPr/>
            </p:nvSpPr>
            <p:spPr bwMode="auto">
              <a:xfrm>
                <a:off x="3012486" y="1878029"/>
                <a:ext cx="787484" cy="183895"/>
              </a:xfrm>
              <a:prstGeom prst="roundRect">
                <a:avLst/>
              </a:prstGeom>
              <a:solidFill>
                <a:schemeClr val="bg2"/>
              </a:solidFill>
              <a:ln w="635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900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08946E7F-CA39-43D5-B411-BC667E60792D}"/>
                  </a:ext>
                </a:extLst>
              </p:cNvPr>
              <p:cNvSpPr txBox="1"/>
              <p:nvPr/>
            </p:nvSpPr>
            <p:spPr>
              <a:xfrm>
                <a:off x="3012487" y="1877643"/>
                <a:ext cx="787484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11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0.0.0.0/0</a:t>
                </a:r>
              </a:p>
            </p:txBody>
          </p:sp>
        </p:grpSp>
      </p:grp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D6189C79-706C-409F-B6B4-690A3CD00EF2}"/>
              </a:ext>
            </a:extLst>
          </p:cNvPr>
          <p:cNvGrpSpPr/>
          <p:nvPr/>
        </p:nvGrpSpPr>
        <p:grpSpPr>
          <a:xfrm>
            <a:off x="3266714" y="2778811"/>
            <a:ext cx="835290" cy="1140346"/>
            <a:chOff x="3266714" y="2778811"/>
            <a:chExt cx="835290" cy="1140346"/>
          </a:xfrm>
        </p:grpSpPr>
        <p:grpSp>
          <p:nvGrpSpPr>
            <p:cNvPr id="100" name="Grupo 99">
              <a:extLst>
                <a:ext uri="{FF2B5EF4-FFF2-40B4-BE49-F238E27FC236}">
                  <a16:creationId xmlns:a16="http://schemas.microsoft.com/office/drawing/2014/main" id="{49796B38-9B43-4E7C-965A-104FD6A9E6F3}"/>
                </a:ext>
              </a:extLst>
            </p:cNvPr>
            <p:cNvGrpSpPr/>
            <p:nvPr/>
          </p:nvGrpSpPr>
          <p:grpSpPr>
            <a:xfrm>
              <a:off x="3266714" y="2778811"/>
              <a:ext cx="835290" cy="966609"/>
              <a:chOff x="5044941" y="1914731"/>
              <a:chExt cx="835290" cy="966609"/>
            </a:xfrm>
          </p:grpSpPr>
          <p:sp>
            <p:nvSpPr>
              <p:cNvPr id="91" name="Rectángulo: esquinas redondeadas 90">
                <a:extLst>
                  <a:ext uri="{FF2B5EF4-FFF2-40B4-BE49-F238E27FC236}">
                    <a16:creationId xmlns:a16="http://schemas.microsoft.com/office/drawing/2014/main" id="{15D56E19-E893-4C2D-89A0-D5F40116EE92}"/>
                  </a:ext>
                </a:extLst>
              </p:cNvPr>
              <p:cNvSpPr/>
              <p:nvPr/>
            </p:nvSpPr>
            <p:spPr bwMode="auto">
              <a:xfrm>
                <a:off x="5044941" y="1914731"/>
                <a:ext cx="835290" cy="966609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2000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3" name="Rectángulo: esquinas redondeadas 92">
                <a:extLst>
                  <a:ext uri="{FF2B5EF4-FFF2-40B4-BE49-F238E27FC236}">
                    <a16:creationId xmlns:a16="http://schemas.microsoft.com/office/drawing/2014/main" id="{B3EBCAB2-C65B-47D6-B812-A4A8C94D001E}"/>
                  </a:ext>
                </a:extLst>
              </p:cNvPr>
              <p:cNvSpPr/>
              <p:nvPr/>
            </p:nvSpPr>
            <p:spPr bwMode="auto">
              <a:xfrm>
                <a:off x="5076795" y="2097566"/>
                <a:ext cx="771584" cy="183895"/>
              </a:xfrm>
              <a:prstGeom prst="roundRect">
                <a:avLst/>
              </a:prstGeom>
              <a:solidFill>
                <a:srgbClr val="FFE07D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900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4" name="CuadroTexto 93">
                <a:extLst>
                  <a:ext uri="{FF2B5EF4-FFF2-40B4-BE49-F238E27FC236}">
                    <a16:creationId xmlns:a16="http://schemas.microsoft.com/office/drawing/2014/main" id="{AC06E965-A6AC-46B7-A104-CFE815616EC8}"/>
                  </a:ext>
                </a:extLst>
              </p:cNvPr>
              <p:cNvSpPr txBox="1"/>
              <p:nvPr/>
            </p:nvSpPr>
            <p:spPr>
              <a:xfrm>
                <a:off x="5108647" y="2106630"/>
                <a:ext cx="709223" cy="169277"/>
              </a:xfrm>
              <a:prstGeom prst="rect">
                <a:avLst/>
              </a:prstGeom>
              <a:solidFill>
                <a:srgbClr val="FFE07D"/>
              </a:solidFill>
              <a:ln w="63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11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0.0.0.0/0</a:t>
                </a:r>
              </a:p>
            </p:txBody>
          </p:sp>
          <p:sp>
            <p:nvSpPr>
              <p:cNvPr id="96" name="Rectángulo: esquinas redondeadas 95">
                <a:extLst>
                  <a:ext uri="{FF2B5EF4-FFF2-40B4-BE49-F238E27FC236}">
                    <a16:creationId xmlns:a16="http://schemas.microsoft.com/office/drawing/2014/main" id="{6700C1EE-4ECA-4BCC-9192-C598208489D6}"/>
                  </a:ext>
                </a:extLst>
              </p:cNvPr>
              <p:cNvSpPr/>
              <p:nvPr/>
            </p:nvSpPr>
            <p:spPr bwMode="auto">
              <a:xfrm>
                <a:off x="5080634" y="2580785"/>
                <a:ext cx="771584" cy="183895"/>
              </a:xfrm>
              <a:prstGeom prst="roundRect">
                <a:avLst/>
              </a:prstGeom>
              <a:solidFill>
                <a:srgbClr val="FFE07D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900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7" name="CuadroTexto 96">
                <a:extLst>
                  <a:ext uri="{FF2B5EF4-FFF2-40B4-BE49-F238E27FC236}">
                    <a16:creationId xmlns:a16="http://schemas.microsoft.com/office/drawing/2014/main" id="{E998C02A-82E9-4CB0-9A23-8B27E7A0D6CF}"/>
                  </a:ext>
                </a:extLst>
              </p:cNvPr>
              <p:cNvSpPr txBox="1"/>
              <p:nvPr/>
            </p:nvSpPr>
            <p:spPr>
              <a:xfrm>
                <a:off x="5112486" y="2589849"/>
                <a:ext cx="709223" cy="161583"/>
              </a:xfrm>
              <a:prstGeom prst="rect">
                <a:avLst/>
              </a:prstGeom>
              <a:solidFill>
                <a:srgbClr val="FFE07D"/>
              </a:solidFill>
              <a:ln w="63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105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10.1.0.0/16</a:t>
                </a:r>
              </a:p>
            </p:txBody>
          </p:sp>
          <p:sp>
            <p:nvSpPr>
              <p:cNvPr id="98" name="Rectángulo: esquinas redondeadas 97">
                <a:extLst>
                  <a:ext uri="{FF2B5EF4-FFF2-40B4-BE49-F238E27FC236}">
                    <a16:creationId xmlns:a16="http://schemas.microsoft.com/office/drawing/2014/main" id="{C2FDA041-D979-470E-8B82-57682ACCCEBF}"/>
                  </a:ext>
                </a:extLst>
              </p:cNvPr>
              <p:cNvSpPr/>
              <p:nvPr/>
            </p:nvSpPr>
            <p:spPr bwMode="auto">
              <a:xfrm>
                <a:off x="5074386" y="2349970"/>
                <a:ext cx="771584" cy="183895"/>
              </a:xfrm>
              <a:prstGeom prst="roundRect">
                <a:avLst/>
              </a:prstGeom>
              <a:solidFill>
                <a:srgbClr val="FFE07D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900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8D544910-E281-4C76-9A67-DA2EAC9A883A}"/>
                  </a:ext>
                </a:extLst>
              </p:cNvPr>
              <p:cNvSpPr txBox="1"/>
              <p:nvPr/>
            </p:nvSpPr>
            <p:spPr>
              <a:xfrm>
                <a:off x="5106238" y="2359034"/>
                <a:ext cx="709223" cy="161583"/>
              </a:xfrm>
              <a:prstGeom prst="rect">
                <a:avLst/>
              </a:prstGeom>
              <a:solidFill>
                <a:srgbClr val="FFE07D"/>
              </a:solidFill>
              <a:ln w="63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105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10.2.0.0/16</a:t>
                </a:r>
              </a:p>
            </p:txBody>
          </p:sp>
        </p:grpSp>
        <p:sp>
          <p:nvSpPr>
            <p:cNvPr id="105" name="CuadroTexto 104">
              <a:extLst>
                <a:ext uri="{FF2B5EF4-FFF2-40B4-BE49-F238E27FC236}">
                  <a16:creationId xmlns:a16="http://schemas.microsoft.com/office/drawing/2014/main" id="{B65C1B34-E75D-44EE-9B51-E3B79299D733}"/>
                </a:ext>
              </a:extLst>
            </p:cNvPr>
            <p:cNvSpPr txBox="1"/>
            <p:nvPr/>
          </p:nvSpPr>
          <p:spPr>
            <a:xfrm>
              <a:off x="3320807" y="3765269"/>
              <a:ext cx="722955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s-ES" sz="1000" b="1" dirty="0" err="1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Route</a:t>
              </a:r>
              <a:r>
                <a:rPr lang="es-ES" sz="10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Table</a:t>
              </a:r>
            </a:p>
          </p:txBody>
        </p:sp>
      </p:grpSp>
      <p:grpSp>
        <p:nvGrpSpPr>
          <p:cNvPr id="1036" name="Grupo 1035">
            <a:extLst>
              <a:ext uri="{FF2B5EF4-FFF2-40B4-BE49-F238E27FC236}">
                <a16:creationId xmlns:a16="http://schemas.microsoft.com/office/drawing/2014/main" id="{4C293AD1-5FC1-461C-90F1-1C2A5101BC1A}"/>
              </a:ext>
            </a:extLst>
          </p:cNvPr>
          <p:cNvGrpSpPr/>
          <p:nvPr/>
        </p:nvGrpSpPr>
        <p:grpSpPr>
          <a:xfrm>
            <a:off x="3944552" y="2020935"/>
            <a:ext cx="1366605" cy="1851407"/>
            <a:chOff x="3944552" y="2020935"/>
            <a:chExt cx="1366605" cy="1851407"/>
          </a:xfrm>
        </p:grpSpPr>
        <p:cxnSp>
          <p:nvCxnSpPr>
            <p:cNvPr id="113" name="Conector recto de flecha 112">
              <a:extLst>
                <a:ext uri="{FF2B5EF4-FFF2-40B4-BE49-F238E27FC236}">
                  <a16:creationId xmlns:a16="http://schemas.microsoft.com/office/drawing/2014/main" id="{73FBA184-48E7-4414-A57E-712A5A2995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59103" y="3008579"/>
              <a:ext cx="10034" cy="86376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3" name="Grupo 1032">
              <a:extLst>
                <a:ext uri="{FF2B5EF4-FFF2-40B4-BE49-F238E27FC236}">
                  <a16:creationId xmlns:a16="http://schemas.microsoft.com/office/drawing/2014/main" id="{1F0B60BD-9626-4A1B-A3C3-985F0F7CE285}"/>
                </a:ext>
              </a:extLst>
            </p:cNvPr>
            <p:cNvGrpSpPr/>
            <p:nvPr/>
          </p:nvGrpSpPr>
          <p:grpSpPr>
            <a:xfrm>
              <a:off x="3944552" y="2020935"/>
              <a:ext cx="1366605" cy="972640"/>
              <a:chOff x="3944552" y="2020935"/>
              <a:chExt cx="1366605" cy="972640"/>
            </a:xfrm>
          </p:grpSpPr>
          <p:pic>
            <p:nvPicPr>
              <p:cNvPr id="79" name="Gráfico 78">
                <a:extLst>
                  <a:ext uri="{FF2B5EF4-FFF2-40B4-BE49-F238E27FC236}">
                    <a16:creationId xmlns:a16="http://schemas.microsoft.com/office/drawing/2014/main" id="{751EF42D-8A46-4318-9B6E-06C9C70356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944552" y="2020935"/>
                <a:ext cx="809625" cy="809625"/>
              </a:xfrm>
              <a:prstGeom prst="rect">
                <a:avLst/>
              </a:prstGeom>
            </p:spPr>
          </p:pic>
          <p:sp>
            <p:nvSpPr>
              <p:cNvPr id="115" name="CuadroTexto 114">
                <a:extLst>
                  <a:ext uri="{FF2B5EF4-FFF2-40B4-BE49-F238E27FC236}">
                    <a16:creationId xmlns:a16="http://schemas.microsoft.com/office/drawing/2014/main" id="{3D216FF9-0ACE-4093-8144-BDA04B3B5DF3}"/>
                  </a:ext>
                </a:extLst>
              </p:cNvPr>
              <p:cNvSpPr txBox="1"/>
              <p:nvPr/>
            </p:nvSpPr>
            <p:spPr>
              <a:xfrm>
                <a:off x="4274014" y="2839687"/>
                <a:ext cx="103714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s-ES" sz="10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Internet Gateway</a:t>
                </a:r>
              </a:p>
            </p:txBody>
          </p:sp>
        </p:grpSp>
      </p:grpSp>
      <p:grpSp>
        <p:nvGrpSpPr>
          <p:cNvPr id="1037" name="Grupo 1036">
            <a:extLst>
              <a:ext uri="{FF2B5EF4-FFF2-40B4-BE49-F238E27FC236}">
                <a16:creationId xmlns:a16="http://schemas.microsoft.com/office/drawing/2014/main" id="{E4CFEEF9-53BD-4510-9B53-63D9951D2A82}"/>
              </a:ext>
            </a:extLst>
          </p:cNvPr>
          <p:cNvGrpSpPr/>
          <p:nvPr/>
        </p:nvGrpSpPr>
        <p:grpSpPr>
          <a:xfrm>
            <a:off x="4754177" y="518019"/>
            <a:ext cx="1936162" cy="1790387"/>
            <a:chOff x="4754177" y="518019"/>
            <a:chExt cx="1936162" cy="179038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641A330-C077-4642-BCC2-63EF93CB3C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1674" y="518019"/>
              <a:ext cx="1338665" cy="13386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9" name="Conector recto de flecha 118">
              <a:extLst>
                <a:ext uri="{FF2B5EF4-FFF2-40B4-BE49-F238E27FC236}">
                  <a16:creationId xmlns:a16="http://schemas.microsoft.com/office/drawing/2014/main" id="{74B3359D-1237-478C-8497-7BB6353F24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4177" y="1715210"/>
              <a:ext cx="829397" cy="59319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10B7E241-5C7F-4398-8F13-CF41C82C9F84}"/>
              </a:ext>
            </a:extLst>
          </p:cNvPr>
          <p:cNvGrpSpPr/>
          <p:nvPr/>
        </p:nvGrpSpPr>
        <p:grpSpPr>
          <a:xfrm>
            <a:off x="8002564" y="2691942"/>
            <a:ext cx="835290" cy="1140346"/>
            <a:chOff x="3266714" y="2778811"/>
            <a:chExt cx="835290" cy="1140346"/>
          </a:xfrm>
        </p:grpSpPr>
        <p:grpSp>
          <p:nvGrpSpPr>
            <p:cNvPr id="131" name="Grupo 130">
              <a:extLst>
                <a:ext uri="{FF2B5EF4-FFF2-40B4-BE49-F238E27FC236}">
                  <a16:creationId xmlns:a16="http://schemas.microsoft.com/office/drawing/2014/main" id="{132B4F0A-4FF9-40AA-A40E-9CEB4518B836}"/>
                </a:ext>
              </a:extLst>
            </p:cNvPr>
            <p:cNvGrpSpPr/>
            <p:nvPr/>
          </p:nvGrpSpPr>
          <p:grpSpPr>
            <a:xfrm>
              <a:off x="3266714" y="2778811"/>
              <a:ext cx="835290" cy="966609"/>
              <a:chOff x="5044941" y="1914731"/>
              <a:chExt cx="835290" cy="966609"/>
            </a:xfrm>
          </p:grpSpPr>
          <p:sp>
            <p:nvSpPr>
              <p:cNvPr id="133" name="Rectángulo: esquinas redondeadas 132">
                <a:extLst>
                  <a:ext uri="{FF2B5EF4-FFF2-40B4-BE49-F238E27FC236}">
                    <a16:creationId xmlns:a16="http://schemas.microsoft.com/office/drawing/2014/main" id="{4E9D7D97-C0B5-4611-9511-3330C139B351}"/>
                  </a:ext>
                </a:extLst>
              </p:cNvPr>
              <p:cNvSpPr/>
              <p:nvPr/>
            </p:nvSpPr>
            <p:spPr bwMode="auto">
              <a:xfrm>
                <a:off x="5044941" y="1914731"/>
                <a:ext cx="835290" cy="966609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2000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4" name="Rectángulo: esquinas redondeadas 133">
                <a:extLst>
                  <a:ext uri="{FF2B5EF4-FFF2-40B4-BE49-F238E27FC236}">
                    <a16:creationId xmlns:a16="http://schemas.microsoft.com/office/drawing/2014/main" id="{A06B502A-8BAB-49C5-A20A-C338B037EBED}"/>
                  </a:ext>
                </a:extLst>
              </p:cNvPr>
              <p:cNvSpPr/>
              <p:nvPr/>
            </p:nvSpPr>
            <p:spPr bwMode="auto">
              <a:xfrm>
                <a:off x="5076795" y="2097566"/>
                <a:ext cx="771584" cy="183895"/>
              </a:xfrm>
              <a:prstGeom prst="roundRect">
                <a:avLst/>
              </a:prstGeom>
              <a:solidFill>
                <a:srgbClr val="FFE07D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900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5" name="CuadroTexto 134">
                <a:extLst>
                  <a:ext uri="{FF2B5EF4-FFF2-40B4-BE49-F238E27FC236}">
                    <a16:creationId xmlns:a16="http://schemas.microsoft.com/office/drawing/2014/main" id="{EB8CAF4B-9971-45BE-8464-F19EF0EB7370}"/>
                  </a:ext>
                </a:extLst>
              </p:cNvPr>
              <p:cNvSpPr txBox="1"/>
              <p:nvPr/>
            </p:nvSpPr>
            <p:spPr>
              <a:xfrm>
                <a:off x="5108647" y="2106630"/>
                <a:ext cx="709223" cy="169277"/>
              </a:xfrm>
              <a:prstGeom prst="rect">
                <a:avLst/>
              </a:prstGeom>
              <a:solidFill>
                <a:srgbClr val="FFE07D"/>
              </a:solidFill>
              <a:ln w="63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11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0.0.0.0/0</a:t>
                </a:r>
              </a:p>
            </p:txBody>
          </p:sp>
          <p:sp>
            <p:nvSpPr>
              <p:cNvPr id="136" name="Rectángulo: esquinas redondeadas 135">
                <a:extLst>
                  <a:ext uri="{FF2B5EF4-FFF2-40B4-BE49-F238E27FC236}">
                    <a16:creationId xmlns:a16="http://schemas.microsoft.com/office/drawing/2014/main" id="{B244F440-C132-460B-B4DB-A5299133E243}"/>
                  </a:ext>
                </a:extLst>
              </p:cNvPr>
              <p:cNvSpPr/>
              <p:nvPr/>
            </p:nvSpPr>
            <p:spPr bwMode="auto">
              <a:xfrm>
                <a:off x="5080634" y="2580785"/>
                <a:ext cx="771584" cy="183895"/>
              </a:xfrm>
              <a:prstGeom prst="roundRect">
                <a:avLst/>
              </a:prstGeom>
              <a:solidFill>
                <a:srgbClr val="FFE07D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900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7" name="CuadroTexto 136">
                <a:extLst>
                  <a:ext uri="{FF2B5EF4-FFF2-40B4-BE49-F238E27FC236}">
                    <a16:creationId xmlns:a16="http://schemas.microsoft.com/office/drawing/2014/main" id="{D990E4B6-5A26-4347-9073-6F38820426B5}"/>
                  </a:ext>
                </a:extLst>
              </p:cNvPr>
              <p:cNvSpPr txBox="1"/>
              <p:nvPr/>
            </p:nvSpPr>
            <p:spPr>
              <a:xfrm>
                <a:off x="5112486" y="2589849"/>
                <a:ext cx="709223" cy="161583"/>
              </a:xfrm>
              <a:prstGeom prst="rect">
                <a:avLst/>
              </a:prstGeom>
              <a:solidFill>
                <a:srgbClr val="FFE07D"/>
              </a:solidFill>
              <a:ln w="63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105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10.1.0.0/16</a:t>
                </a:r>
              </a:p>
            </p:txBody>
          </p:sp>
          <p:sp>
            <p:nvSpPr>
              <p:cNvPr id="138" name="Rectángulo: esquinas redondeadas 137">
                <a:extLst>
                  <a:ext uri="{FF2B5EF4-FFF2-40B4-BE49-F238E27FC236}">
                    <a16:creationId xmlns:a16="http://schemas.microsoft.com/office/drawing/2014/main" id="{8CA1B3BC-DBA7-4A21-82CC-0A799366B863}"/>
                  </a:ext>
                </a:extLst>
              </p:cNvPr>
              <p:cNvSpPr/>
              <p:nvPr/>
            </p:nvSpPr>
            <p:spPr bwMode="auto">
              <a:xfrm>
                <a:off x="5074386" y="2349970"/>
                <a:ext cx="771584" cy="183895"/>
              </a:xfrm>
              <a:prstGeom prst="roundRect">
                <a:avLst/>
              </a:prstGeom>
              <a:solidFill>
                <a:srgbClr val="FFE07D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900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9" name="CuadroTexto 138">
                <a:extLst>
                  <a:ext uri="{FF2B5EF4-FFF2-40B4-BE49-F238E27FC236}">
                    <a16:creationId xmlns:a16="http://schemas.microsoft.com/office/drawing/2014/main" id="{0E8A7A24-66CD-4562-8EED-BE8325D46D5F}"/>
                  </a:ext>
                </a:extLst>
              </p:cNvPr>
              <p:cNvSpPr txBox="1"/>
              <p:nvPr/>
            </p:nvSpPr>
            <p:spPr>
              <a:xfrm>
                <a:off x="5106238" y="2359034"/>
                <a:ext cx="709223" cy="161583"/>
              </a:xfrm>
              <a:prstGeom prst="rect">
                <a:avLst/>
              </a:prstGeom>
              <a:solidFill>
                <a:srgbClr val="FFE07D"/>
              </a:solidFill>
              <a:ln w="63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105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10.2.0.0/16</a:t>
                </a:r>
              </a:p>
            </p:txBody>
          </p:sp>
        </p:grpSp>
        <p:sp>
          <p:nvSpPr>
            <p:cNvPr id="132" name="CuadroTexto 131">
              <a:extLst>
                <a:ext uri="{FF2B5EF4-FFF2-40B4-BE49-F238E27FC236}">
                  <a16:creationId xmlns:a16="http://schemas.microsoft.com/office/drawing/2014/main" id="{EBC79736-C58C-435C-82B5-D9E0E091BFA5}"/>
                </a:ext>
              </a:extLst>
            </p:cNvPr>
            <p:cNvSpPr txBox="1"/>
            <p:nvPr/>
          </p:nvSpPr>
          <p:spPr>
            <a:xfrm>
              <a:off x="3320807" y="3765269"/>
              <a:ext cx="722955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s-ES" sz="1000" b="1" dirty="0" err="1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Route</a:t>
              </a:r>
              <a:r>
                <a:rPr lang="es-ES" sz="10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Table</a:t>
              </a:r>
            </a:p>
          </p:txBody>
        </p:sp>
      </p:grpSp>
      <p:grpSp>
        <p:nvGrpSpPr>
          <p:cNvPr id="1041" name="Grupo 1040">
            <a:extLst>
              <a:ext uri="{FF2B5EF4-FFF2-40B4-BE49-F238E27FC236}">
                <a16:creationId xmlns:a16="http://schemas.microsoft.com/office/drawing/2014/main" id="{FB3FE848-B519-4D1A-8975-0105DEF3B130}"/>
              </a:ext>
            </a:extLst>
          </p:cNvPr>
          <p:cNvGrpSpPr/>
          <p:nvPr/>
        </p:nvGrpSpPr>
        <p:grpSpPr>
          <a:xfrm>
            <a:off x="6602908" y="1999354"/>
            <a:ext cx="1516081" cy="1811464"/>
            <a:chOff x="6602908" y="1999354"/>
            <a:chExt cx="1516081" cy="1811464"/>
          </a:xfrm>
        </p:grpSpPr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12B6DCF8-7AD2-4040-A0BA-F803C68085B1}"/>
                </a:ext>
              </a:extLst>
            </p:cNvPr>
            <p:cNvGrpSpPr/>
            <p:nvPr/>
          </p:nvGrpSpPr>
          <p:grpSpPr>
            <a:xfrm>
              <a:off x="6602908" y="1999354"/>
              <a:ext cx="1516081" cy="996845"/>
              <a:chOff x="3238096" y="2020935"/>
              <a:chExt cx="1516081" cy="996845"/>
            </a:xfrm>
          </p:grpSpPr>
          <p:pic>
            <p:nvPicPr>
              <p:cNvPr id="122" name="Gráfico 121">
                <a:extLst>
                  <a:ext uri="{FF2B5EF4-FFF2-40B4-BE49-F238E27FC236}">
                    <a16:creationId xmlns:a16="http://schemas.microsoft.com/office/drawing/2014/main" id="{EA08C2FE-1DE5-4F74-84B4-7371B2A29C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944552" y="2020935"/>
                <a:ext cx="809625" cy="809625"/>
              </a:xfrm>
              <a:prstGeom prst="rect">
                <a:avLst/>
              </a:prstGeom>
            </p:spPr>
          </p:pic>
          <p:sp>
            <p:nvSpPr>
              <p:cNvPr id="123" name="CuadroTexto 122">
                <a:extLst>
                  <a:ext uri="{FF2B5EF4-FFF2-40B4-BE49-F238E27FC236}">
                    <a16:creationId xmlns:a16="http://schemas.microsoft.com/office/drawing/2014/main" id="{D2770A17-8718-42EE-ABCB-2EBD3962B4E8}"/>
                  </a:ext>
                </a:extLst>
              </p:cNvPr>
              <p:cNvSpPr txBox="1"/>
              <p:nvPr/>
            </p:nvSpPr>
            <p:spPr>
              <a:xfrm>
                <a:off x="3238096" y="2863892"/>
                <a:ext cx="103714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s-ES" sz="10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Internet Gateway</a:t>
                </a:r>
              </a:p>
            </p:txBody>
          </p:sp>
        </p:grpSp>
        <p:cxnSp>
          <p:nvCxnSpPr>
            <p:cNvPr id="140" name="Conector recto de flecha 139">
              <a:extLst>
                <a:ext uri="{FF2B5EF4-FFF2-40B4-BE49-F238E27FC236}">
                  <a16:creationId xmlns:a16="http://schemas.microsoft.com/office/drawing/2014/main" id="{A06EDEA4-EC3D-4226-B66C-73A0E6BFFB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0050" y="2947055"/>
              <a:ext cx="10034" cy="86376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1" name="Conector recto de flecha 140">
            <a:extLst>
              <a:ext uri="{FF2B5EF4-FFF2-40B4-BE49-F238E27FC236}">
                <a16:creationId xmlns:a16="http://schemas.microsoft.com/office/drawing/2014/main" id="{C69FFC27-29B6-4CA0-A8A0-EB1F371EA098}"/>
              </a:ext>
            </a:extLst>
          </p:cNvPr>
          <p:cNvCxnSpPr>
            <a:cxnSpLocks/>
          </p:cNvCxnSpPr>
          <p:nvPr/>
        </p:nvCxnSpPr>
        <p:spPr>
          <a:xfrm flipH="1" flipV="1">
            <a:off x="6393199" y="1715210"/>
            <a:ext cx="859846" cy="688413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47463296-16D1-426D-9693-279159B8252D}"/>
              </a:ext>
            </a:extLst>
          </p:cNvPr>
          <p:cNvGrpSpPr/>
          <p:nvPr/>
        </p:nvGrpSpPr>
        <p:grpSpPr>
          <a:xfrm>
            <a:off x="4744049" y="5462829"/>
            <a:ext cx="835290" cy="1140346"/>
            <a:chOff x="3266714" y="2778811"/>
            <a:chExt cx="835290" cy="1140346"/>
          </a:xfrm>
        </p:grpSpPr>
        <p:grpSp>
          <p:nvGrpSpPr>
            <p:cNvPr id="147" name="Grupo 146">
              <a:extLst>
                <a:ext uri="{FF2B5EF4-FFF2-40B4-BE49-F238E27FC236}">
                  <a16:creationId xmlns:a16="http://schemas.microsoft.com/office/drawing/2014/main" id="{88C481E0-5515-4B06-A818-5820D8FB7BEC}"/>
                </a:ext>
              </a:extLst>
            </p:cNvPr>
            <p:cNvGrpSpPr/>
            <p:nvPr/>
          </p:nvGrpSpPr>
          <p:grpSpPr>
            <a:xfrm>
              <a:off x="3266714" y="2778811"/>
              <a:ext cx="835290" cy="966609"/>
              <a:chOff x="5044941" y="1914731"/>
              <a:chExt cx="835290" cy="966609"/>
            </a:xfrm>
          </p:grpSpPr>
          <p:sp>
            <p:nvSpPr>
              <p:cNvPr id="149" name="Rectángulo: esquinas redondeadas 148">
                <a:extLst>
                  <a:ext uri="{FF2B5EF4-FFF2-40B4-BE49-F238E27FC236}">
                    <a16:creationId xmlns:a16="http://schemas.microsoft.com/office/drawing/2014/main" id="{C83D5229-980D-48B6-80A5-515B91ED88E6}"/>
                  </a:ext>
                </a:extLst>
              </p:cNvPr>
              <p:cNvSpPr/>
              <p:nvPr/>
            </p:nvSpPr>
            <p:spPr bwMode="auto">
              <a:xfrm>
                <a:off x="5044941" y="1914731"/>
                <a:ext cx="835290" cy="966609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2000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50" name="Rectángulo: esquinas redondeadas 149">
                <a:extLst>
                  <a:ext uri="{FF2B5EF4-FFF2-40B4-BE49-F238E27FC236}">
                    <a16:creationId xmlns:a16="http://schemas.microsoft.com/office/drawing/2014/main" id="{4F3FBFF3-7533-4B70-A9F2-85F3FD3F4312}"/>
                  </a:ext>
                </a:extLst>
              </p:cNvPr>
              <p:cNvSpPr/>
              <p:nvPr/>
            </p:nvSpPr>
            <p:spPr bwMode="auto">
              <a:xfrm>
                <a:off x="5076795" y="2097566"/>
                <a:ext cx="771584" cy="183895"/>
              </a:xfrm>
              <a:prstGeom prst="roundRect">
                <a:avLst/>
              </a:prstGeom>
              <a:solidFill>
                <a:srgbClr val="FFE07D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900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51" name="CuadroTexto 150">
                <a:extLst>
                  <a:ext uri="{FF2B5EF4-FFF2-40B4-BE49-F238E27FC236}">
                    <a16:creationId xmlns:a16="http://schemas.microsoft.com/office/drawing/2014/main" id="{34192499-1B00-4482-87BB-7BD650D78EF8}"/>
                  </a:ext>
                </a:extLst>
              </p:cNvPr>
              <p:cNvSpPr txBox="1"/>
              <p:nvPr/>
            </p:nvSpPr>
            <p:spPr>
              <a:xfrm>
                <a:off x="5108647" y="2106630"/>
                <a:ext cx="709223" cy="169277"/>
              </a:xfrm>
              <a:prstGeom prst="rect">
                <a:avLst/>
              </a:prstGeom>
              <a:solidFill>
                <a:srgbClr val="FFE07D"/>
              </a:solidFill>
              <a:ln w="63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11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0.0.0.0/0</a:t>
                </a:r>
              </a:p>
            </p:txBody>
          </p:sp>
          <p:sp>
            <p:nvSpPr>
              <p:cNvPr id="152" name="Rectángulo: esquinas redondeadas 151">
                <a:extLst>
                  <a:ext uri="{FF2B5EF4-FFF2-40B4-BE49-F238E27FC236}">
                    <a16:creationId xmlns:a16="http://schemas.microsoft.com/office/drawing/2014/main" id="{FA761415-F8E1-4B74-A673-BA473B327AE3}"/>
                  </a:ext>
                </a:extLst>
              </p:cNvPr>
              <p:cNvSpPr/>
              <p:nvPr/>
            </p:nvSpPr>
            <p:spPr bwMode="auto">
              <a:xfrm>
                <a:off x="5080634" y="2580785"/>
                <a:ext cx="771584" cy="183895"/>
              </a:xfrm>
              <a:prstGeom prst="roundRect">
                <a:avLst/>
              </a:prstGeom>
              <a:solidFill>
                <a:srgbClr val="FFE07D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900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53" name="CuadroTexto 152">
                <a:extLst>
                  <a:ext uri="{FF2B5EF4-FFF2-40B4-BE49-F238E27FC236}">
                    <a16:creationId xmlns:a16="http://schemas.microsoft.com/office/drawing/2014/main" id="{C55EDD94-2A48-4104-AD21-7A13619F3564}"/>
                  </a:ext>
                </a:extLst>
              </p:cNvPr>
              <p:cNvSpPr txBox="1"/>
              <p:nvPr/>
            </p:nvSpPr>
            <p:spPr>
              <a:xfrm>
                <a:off x="5112486" y="2589849"/>
                <a:ext cx="709223" cy="161583"/>
              </a:xfrm>
              <a:prstGeom prst="rect">
                <a:avLst/>
              </a:prstGeom>
              <a:solidFill>
                <a:srgbClr val="FFE07D"/>
              </a:solidFill>
              <a:ln w="63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105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10.2.0.0/16</a:t>
                </a:r>
              </a:p>
            </p:txBody>
          </p:sp>
          <p:sp>
            <p:nvSpPr>
              <p:cNvPr id="154" name="Rectángulo: esquinas redondeadas 153">
                <a:extLst>
                  <a:ext uri="{FF2B5EF4-FFF2-40B4-BE49-F238E27FC236}">
                    <a16:creationId xmlns:a16="http://schemas.microsoft.com/office/drawing/2014/main" id="{E8DBD790-2947-4529-8C0F-6AD33CDB9712}"/>
                  </a:ext>
                </a:extLst>
              </p:cNvPr>
              <p:cNvSpPr/>
              <p:nvPr/>
            </p:nvSpPr>
            <p:spPr bwMode="auto">
              <a:xfrm>
                <a:off x="5074386" y="2349970"/>
                <a:ext cx="771584" cy="183895"/>
              </a:xfrm>
              <a:prstGeom prst="roundRect">
                <a:avLst/>
              </a:prstGeom>
              <a:solidFill>
                <a:srgbClr val="FFE07D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900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55" name="CuadroTexto 154">
                <a:extLst>
                  <a:ext uri="{FF2B5EF4-FFF2-40B4-BE49-F238E27FC236}">
                    <a16:creationId xmlns:a16="http://schemas.microsoft.com/office/drawing/2014/main" id="{85D78995-0341-45F7-A400-41C24C1B671B}"/>
                  </a:ext>
                </a:extLst>
              </p:cNvPr>
              <p:cNvSpPr txBox="1"/>
              <p:nvPr/>
            </p:nvSpPr>
            <p:spPr>
              <a:xfrm>
                <a:off x="5106238" y="2359034"/>
                <a:ext cx="709223" cy="161583"/>
              </a:xfrm>
              <a:prstGeom prst="rect">
                <a:avLst/>
              </a:prstGeom>
              <a:solidFill>
                <a:srgbClr val="FFE07D"/>
              </a:solidFill>
              <a:ln w="63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105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10.1.0.0/16</a:t>
                </a:r>
              </a:p>
            </p:txBody>
          </p:sp>
        </p:grpSp>
        <p:sp>
          <p:nvSpPr>
            <p:cNvPr id="148" name="CuadroTexto 147">
              <a:extLst>
                <a:ext uri="{FF2B5EF4-FFF2-40B4-BE49-F238E27FC236}">
                  <a16:creationId xmlns:a16="http://schemas.microsoft.com/office/drawing/2014/main" id="{32AD818A-15D7-451E-901C-F9E0CFC502EB}"/>
                </a:ext>
              </a:extLst>
            </p:cNvPr>
            <p:cNvSpPr txBox="1"/>
            <p:nvPr/>
          </p:nvSpPr>
          <p:spPr>
            <a:xfrm>
              <a:off x="3320807" y="3765269"/>
              <a:ext cx="722955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s-ES" sz="1000" b="1" dirty="0" err="1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Route</a:t>
              </a:r>
              <a:r>
                <a:rPr lang="es-ES" sz="10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Table</a:t>
              </a:r>
            </a:p>
          </p:txBody>
        </p:sp>
      </p:grpSp>
      <p:grpSp>
        <p:nvGrpSpPr>
          <p:cNvPr id="156" name="Grupo 155">
            <a:extLst>
              <a:ext uri="{FF2B5EF4-FFF2-40B4-BE49-F238E27FC236}">
                <a16:creationId xmlns:a16="http://schemas.microsoft.com/office/drawing/2014/main" id="{54DB3100-DDCA-4038-BDEC-EF6527C52846}"/>
              </a:ext>
            </a:extLst>
          </p:cNvPr>
          <p:cNvGrpSpPr/>
          <p:nvPr/>
        </p:nvGrpSpPr>
        <p:grpSpPr>
          <a:xfrm>
            <a:off x="6680667" y="5452489"/>
            <a:ext cx="835290" cy="1140346"/>
            <a:chOff x="3266714" y="2778811"/>
            <a:chExt cx="835290" cy="1140346"/>
          </a:xfrm>
        </p:grpSpPr>
        <p:grpSp>
          <p:nvGrpSpPr>
            <p:cNvPr id="157" name="Grupo 156">
              <a:extLst>
                <a:ext uri="{FF2B5EF4-FFF2-40B4-BE49-F238E27FC236}">
                  <a16:creationId xmlns:a16="http://schemas.microsoft.com/office/drawing/2014/main" id="{B3BB5EE1-BD2A-4A39-99FE-9E8BB828A3CC}"/>
                </a:ext>
              </a:extLst>
            </p:cNvPr>
            <p:cNvGrpSpPr/>
            <p:nvPr/>
          </p:nvGrpSpPr>
          <p:grpSpPr>
            <a:xfrm>
              <a:off x="3266714" y="2778811"/>
              <a:ext cx="835290" cy="966609"/>
              <a:chOff x="5044941" y="1914731"/>
              <a:chExt cx="835290" cy="966609"/>
            </a:xfrm>
          </p:grpSpPr>
          <p:sp>
            <p:nvSpPr>
              <p:cNvPr id="159" name="Rectángulo: esquinas redondeadas 158">
                <a:extLst>
                  <a:ext uri="{FF2B5EF4-FFF2-40B4-BE49-F238E27FC236}">
                    <a16:creationId xmlns:a16="http://schemas.microsoft.com/office/drawing/2014/main" id="{94F72316-B688-42DF-9800-A087B382FB00}"/>
                  </a:ext>
                </a:extLst>
              </p:cNvPr>
              <p:cNvSpPr/>
              <p:nvPr/>
            </p:nvSpPr>
            <p:spPr bwMode="auto">
              <a:xfrm>
                <a:off x="5044941" y="1914731"/>
                <a:ext cx="835290" cy="966609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FFC000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2000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60" name="Rectángulo: esquinas redondeadas 159">
                <a:extLst>
                  <a:ext uri="{FF2B5EF4-FFF2-40B4-BE49-F238E27FC236}">
                    <a16:creationId xmlns:a16="http://schemas.microsoft.com/office/drawing/2014/main" id="{B974A4EA-710E-4563-87D2-EB16467AEED0}"/>
                  </a:ext>
                </a:extLst>
              </p:cNvPr>
              <p:cNvSpPr/>
              <p:nvPr/>
            </p:nvSpPr>
            <p:spPr bwMode="auto">
              <a:xfrm>
                <a:off x="5076795" y="2097566"/>
                <a:ext cx="771584" cy="183895"/>
              </a:xfrm>
              <a:prstGeom prst="roundRect">
                <a:avLst/>
              </a:prstGeom>
              <a:solidFill>
                <a:srgbClr val="FFE07D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900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61" name="CuadroTexto 160">
                <a:extLst>
                  <a:ext uri="{FF2B5EF4-FFF2-40B4-BE49-F238E27FC236}">
                    <a16:creationId xmlns:a16="http://schemas.microsoft.com/office/drawing/2014/main" id="{5DDDEB0A-E3EC-4367-B3E5-348D512E1336}"/>
                  </a:ext>
                </a:extLst>
              </p:cNvPr>
              <p:cNvSpPr txBox="1"/>
              <p:nvPr/>
            </p:nvSpPr>
            <p:spPr>
              <a:xfrm>
                <a:off x="5108647" y="2106630"/>
                <a:ext cx="709223" cy="169277"/>
              </a:xfrm>
              <a:prstGeom prst="rect">
                <a:avLst/>
              </a:prstGeom>
              <a:solidFill>
                <a:srgbClr val="FFE07D"/>
              </a:solidFill>
              <a:ln w="63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110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0.0.0.0/0</a:t>
                </a:r>
              </a:p>
            </p:txBody>
          </p:sp>
          <p:sp>
            <p:nvSpPr>
              <p:cNvPr id="162" name="Rectángulo: esquinas redondeadas 161">
                <a:extLst>
                  <a:ext uri="{FF2B5EF4-FFF2-40B4-BE49-F238E27FC236}">
                    <a16:creationId xmlns:a16="http://schemas.microsoft.com/office/drawing/2014/main" id="{DD4F938D-DE2E-4AE8-A2B0-3CAB03ED9780}"/>
                  </a:ext>
                </a:extLst>
              </p:cNvPr>
              <p:cNvSpPr/>
              <p:nvPr/>
            </p:nvSpPr>
            <p:spPr bwMode="auto">
              <a:xfrm>
                <a:off x="5080634" y="2580785"/>
                <a:ext cx="771584" cy="183895"/>
              </a:xfrm>
              <a:prstGeom prst="roundRect">
                <a:avLst/>
              </a:prstGeom>
              <a:solidFill>
                <a:srgbClr val="FFE07D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900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63" name="CuadroTexto 162">
                <a:extLst>
                  <a:ext uri="{FF2B5EF4-FFF2-40B4-BE49-F238E27FC236}">
                    <a16:creationId xmlns:a16="http://schemas.microsoft.com/office/drawing/2014/main" id="{203CD164-6DAD-4AC3-8F93-ED4B0DB175D0}"/>
                  </a:ext>
                </a:extLst>
              </p:cNvPr>
              <p:cNvSpPr txBox="1"/>
              <p:nvPr/>
            </p:nvSpPr>
            <p:spPr>
              <a:xfrm>
                <a:off x="5112486" y="2589849"/>
                <a:ext cx="709223" cy="161583"/>
              </a:xfrm>
              <a:prstGeom prst="rect">
                <a:avLst/>
              </a:prstGeom>
              <a:solidFill>
                <a:srgbClr val="FFE07D"/>
              </a:solidFill>
              <a:ln w="63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105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10.1.0.0/16</a:t>
                </a:r>
              </a:p>
            </p:txBody>
          </p:sp>
          <p:sp>
            <p:nvSpPr>
              <p:cNvPr id="164" name="Rectángulo: esquinas redondeadas 163">
                <a:extLst>
                  <a:ext uri="{FF2B5EF4-FFF2-40B4-BE49-F238E27FC236}">
                    <a16:creationId xmlns:a16="http://schemas.microsoft.com/office/drawing/2014/main" id="{D2985DC4-295F-4010-B170-ED9FED4DDE10}"/>
                  </a:ext>
                </a:extLst>
              </p:cNvPr>
              <p:cNvSpPr/>
              <p:nvPr/>
            </p:nvSpPr>
            <p:spPr bwMode="auto">
              <a:xfrm>
                <a:off x="5074386" y="2349970"/>
                <a:ext cx="771584" cy="183895"/>
              </a:xfrm>
              <a:prstGeom prst="roundRect">
                <a:avLst/>
              </a:prstGeom>
              <a:solidFill>
                <a:srgbClr val="FFE07D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900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65" name="CuadroTexto 164">
                <a:extLst>
                  <a:ext uri="{FF2B5EF4-FFF2-40B4-BE49-F238E27FC236}">
                    <a16:creationId xmlns:a16="http://schemas.microsoft.com/office/drawing/2014/main" id="{150100C6-579F-43D6-BE1D-26297C86C6AD}"/>
                  </a:ext>
                </a:extLst>
              </p:cNvPr>
              <p:cNvSpPr txBox="1"/>
              <p:nvPr/>
            </p:nvSpPr>
            <p:spPr>
              <a:xfrm>
                <a:off x="5106238" y="2359034"/>
                <a:ext cx="709223" cy="161583"/>
              </a:xfrm>
              <a:prstGeom prst="rect">
                <a:avLst/>
              </a:prstGeom>
              <a:solidFill>
                <a:srgbClr val="FFE07D"/>
              </a:solidFill>
              <a:ln w="63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1050" b="1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10.2.0.0/16</a:t>
                </a:r>
              </a:p>
            </p:txBody>
          </p:sp>
        </p:grpSp>
        <p:sp>
          <p:nvSpPr>
            <p:cNvPr id="158" name="CuadroTexto 157">
              <a:extLst>
                <a:ext uri="{FF2B5EF4-FFF2-40B4-BE49-F238E27FC236}">
                  <a16:creationId xmlns:a16="http://schemas.microsoft.com/office/drawing/2014/main" id="{236C0283-A974-4F69-B98C-6670B1B00D7B}"/>
                </a:ext>
              </a:extLst>
            </p:cNvPr>
            <p:cNvSpPr txBox="1"/>
            <p:nvPr/>
          </p:nvSpPr>
          <p:spPr>
            <a:xfrm>
              <a:off x="3320807" y="3765269"/>
              <a:ext cx="722955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s-ES" sz="1000" b="1" dirty="0" err="1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Route</a:t>
              </a:r>
              <a:r>
                <a:rPr lang="es-ES" sz="10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Table</a:t>
              </a:r>
            </a:p>
          </p:txBody>
        </p:sp>
      </p:grpSp>
      <p:cxnSp>
        <p:nvCxnSpPr>
          <p:cNvPr id="166" name="Conector recto de flecha 165">
            <a:extLst>
              <a:ext uri="{FF2B5EF4-FFF2-40B4-BE49-F238E27FC236}">
                <a16:creationId xmlns:a16="http://schemas.microsoft.com/office/drawing/2014/main" id="{68676D8E-E849-4CB7-B761-A0F2380039AB}"/>
              </a:ext>
            </a:extLst>
          </p:cNvPr>
          <p:cNvCxnSpPr>
            <a:cxnSpLocks/>
          </p:cNvCxnSpPr>
          <p:nvPr/>
        </p:nvCxnSpPr>
        <p:spPr>
          <a:xfrm flipV="1">
            <a:off x="4473959" y="5112495"/>
            <a:ext cx="1017160" cy="18569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ector recto de flecha 168">
            <a:extLst>
              <a:ext uri="{FF2B5EF4-FFF2-40B4-BE49-F238E27FC236}">
                <a16:creationId xmlns:a16="http://schemas.microsoft.com/office/drawing/2014/main" id="{421E0DE1-CB3C-4E75-803D-6B2E8EC38D28}"/>
              </a:ext>
            </a:extLst>
          </p:cNvPr>
          <p:cNvCxnSpPr>
            <a:cxnSpLocks/>
          </p:cNvCxnSpPr>
          <p:nvPr/>
        </p:nvCxnSpPr>
        <p:spPr>
          <a:xfrm>
            <a:off x="6741964" y="5120748"/>
            <a:ext cx="988198" cy="20301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3" name="Grupo 1042">
            <a:extLst>
              <a:ext uri="{FF2B5EF4-FFF2-40B4-BE49-F238E27FC236}">
                <a16:creationId xmlns:a16="http://schemas.microsoft.com/office/drawing/2014/main" id="{AF866386-29A5-46CC-A784-62DC10ED9062}"/>
              </a:ext>
            </a:extLst>
          </p:cNvPr>
          <p:cNvGrpSpPr/>
          <p:nvPr/>
        </p:nvGrpSpPr>
        <p:grpSpPr>
          <a:xfrm>
            <a:off x="5598428" y="4473615"/>
            <a:ext cx="1055224" cy="1247717"/>
            <a:chOff x="5598428" y="4473615"/>
            <a:chExt cx="1055224" cy="1247717"/>
          </a:xfrm>
        </p:grpSpPr>
        <p:pic>
          <p:nvPicPr>
            <p:cNvPr id="1027" name="Gráfico 1026">
              <a:extLst>
                <a:ext uri="{FF2B5EF4-FFF2-40B4-BE49-F238E27FC236}">
                  <a16:creationId xmlns:a16="http://schemas.microsoft.com/office/drawing/2014/main" id="{37BF972B-36FF-454B-8D7D-9B3A56449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98428" y="4473615"/>
              <a:ext cx="1055224" cy="1055224"/>
            </a:xfrm>
            <a:prstGeom prst="rect">
              <a:avLst/>
            </a:prstGeom>
          </p:spPr>
        </p:pic>
        <p:sp>
          <p:nvSpPr>
            <p:cNvPr id="173" name="CuadroTexto 172">
              <a:extLst>
                <a:ext uri="{FF2B5EF4-FFF2-40B4-BE49-F238E27FC236}">
                  <a16:creationId xmlns:a16="http://schemas.microsoft.com/office/drawing/2014/main" id="{8AC23E77-A734-4AF5-99BE-5F690F4138A8}"/>
                </a:ext>
              </a:extLst>
            </p:cNvPr>
            <p:cNvSpPr txBox="1"/>
            <p:nvPr/>
          </p:nvSpPr>
          <p:spPr>
            <a:xfrm>
              <a:off x="5788867" y="5567444"/>
              <a:ext cx="74058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s-ES" sz="10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VPC Peering</a:t>
              </a:r>
            </a:p>
          </p:txBody>
        </p:sp>
      </p:grpSp>
      <p:grpSp>
        <p:nvGrpSpPr>
          <p:cNvPr id="1040" name="Grupo 1039">
            <a:extLst>
              <a:ext uri="{FF2B5EF4-FFF2-40B4-BE49-F238E27FC236}">
                <a16:creationId xmlns:a16="http://schemas.microsoft.com/office/drawing/2014/main" id="{67986432-1999-4282-BB2F-DCC394C71FB3}"/>
              </a:ext>
            </a:extLst>
          </p:cNvPr>
          <p:cNvGrpSpPr/>
          <p:nvPr/>
        </p:nvGrpSpPr>
        <p:grpSpPr>
          <a:xfrm>
            <a:off x="7998637" y="5273378"/>
            <a:ext cx="3182270" cy="1325088"/>
            <a:chOff x="7998637" y="5273378"/>
            <a:chExt cx="3182270" cy="1325088"/>
          </a:xfrm>
        </p:grpSpPr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283BA6F5-4180-4586-BBBB-61556EED2070}"/>
                </a:ext>
              </a:extLst>
            </p:cNvPr>
            <p:cNvGrpSpPr/>
            <p:nvPr/>
          </p:nvGrpSpPr>
          <p:grpSpPr>
            <a:xfrm>
              <a:off x="9793579" y="5683403"/>
              <a:ext cx="1387328" cy="901409"/>
              <a:chOff x="2499227" y="4193781"/>
              <a:chExt cx="1276633" cy="863131"/>
            </a:xfrm>
          </p:grpSpPr>
          <p:sp>
            <p:nvSpPr>
              <p:cNvPr id="46" name="Rectángulo: esquinas redondeadas 45">
                <a:extLst>
                  <a:ext uri="{FF2B5EF4-FFF2-40B4-BE49-F238E27FC236}">
                    <a16:creationId xmlns:a16="http://schemas.microsoft.com/office/drawing/2014/main" id="{42B7C25C-A645-4A0D-AAC6-E2AB83E5CD56}"/>
                  </a:ext>
                </a:extLst>
              </p:cNvPr>
              <p:cNvSpPr/>
              <p:nvPr/>
            </p:nvSpPr>
            <p:spPr bwMode="auto">
              <a:xfrm>
                <a:off x="2499227" y="4193781"/>
                <a:ext cx="1276633" cy="863131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prstDash val="lgDash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2000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47" name="Gráfico 46" descr="Ordenador">
                <a:extLst>
                  <a:ext uri="{FF2B5EF4-FFF2-40B4-BE49-F238E27FC236}">
                    <a16:creationId xmlns:a16="http://schemas.microsoft.com/office/drawing/2014/main" id="{4C72D73C-1517-435D-966F-F15B64A6BA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159824" y="4250993"/>
                <a:ext cx="401478" cy="528936"/>
              </a:xfrm>
              <a:prstGeom prst="rect">
                <a:avLst/>
              </a:prstGeom>
            </p:spPr>
          </p:pic>
          <p:pic>
            <p:nvPicPr>
              <p:cNvPr id="48" name="Gráfico 47" descr="Ordenador">
                <a:extLst>
                  <a:ext uri="{FF2B5EF4-FFF2-40B4-BE49-F238E27FC236}">
                    <a16:creationId xmlns:a16="http://schemas.microsoft.com/office/drawing/2014/main" id="{F48F58B5-8FBD-4C3F-B29E-BD8A3C6103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627016" y="4250993"/>
                <a:ext cx="401478" cy="528936"/>
              </a:xfrm>
              <a:prstGeom prst="rect">
                <a:avLst/>
              </a:prstGeom>
            </p:spPr>
          </p:pic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AE6A4FA0-C962-4C31-A1EA-8805FA92ECDC}"/>
                  </a:ext>
                </a:extLst>
              </p:cNvPr>
              <p:cNvSpPr txBox="1"/>
              <p:nvPr/>
            </p:nvSpPr>
            <p:spPr>
              <a:xfrm>
                <a:off x="2668073" y="4726068"/>
                <a:ext cx="947014" cy="3094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s-ES" sz="1050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VPC02-SubNet02</a:t>
                </a:r>
              </a:p>
              <a:p>
                <a:pPr algn="ctr"/>
                <a:r>
                  <a:rPr lang="es-ES" sz="1050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10.2.2.0/24</a:t>
                </a:r>
              </a:p>
            </p:txBody>
          </p:sp>
        </p:grpSp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228429EA-5FE1-48C8-AD92-6A3F7C2A7C27}"/>
                </a:ext>
              </a:extLst>
            </p:cNvPr>
            <p:cNvGrpSpPr/>
            <p:nvPr/>
          </p:nvGrpSpPr>
          <p:grpSpPr>
            <a:xfrm>
              <a:off x="7998637" y="5697057"/>
              <a:ext cx="1387328" cy="901409"/>
              <a:chOff x="2499227" y="4193781"/>
              <a:chExt cx="1276633" cy="863131"/>
            </a:xfrm>
          </p:grpSpPr>
          <p:sp>
            <p:nvSpPr>
              <p:cNvPr id="55" name="Rectángulo: esquinas redondeadas 54">
                <a:extLst>
                  <a:ext uri="{FF2B5EF4-FFF2-40B4-BE49-F238E27FC236}">
                    <a16:creationId xmlns:a16="http://schemas.microsoft.com/office/drawing/2014/main" id="{FB8937AB-700A-4FE6-B6AB-635B83675791}"/>
                  </a:ext>
                </a:extLst>
              </p:cNvPr>
              <p:cNvSpPr/>
              <p:nvPr/>
            </p:nvSpPr>
            <p:spPr bwMode="auto">
              <a:xfrm>
                <a:off x="2499227" y="4193781"/>
                <a:ext cx="1276633" cy="863131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prstDash val="lgDash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" sz="2000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56" name="Gráfico 55" descr="Ordenador">
                <a:extLst>
                  <a:ext uri="{FF2B5EF4-FFF2-40B4-BE49-F238E27FC236}">
                    <a16:creationId xmlns:a16="http://schemas.microsoft.com/office/drawing/2014/main" id="{B2D4F9A1-D8A6-4146-90F3-332DDA0380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159824" y="4250993"/>
                <a:ext cx="401478" cy="528936"/>
              </a:xfrm>
              <a:prstGeom prst="rect">
                <a:avLst/>
              </a:prstGeom>
            </p:spPr>
          </p:pic>
          <p:pic>
            <p:nvPicPr>
              <p:cNvPr id="57" name="Gráfico 56" descr="Ordenador">
                <a:extLst>
                  <a:ext uri="{FF2B5EF4-FFF2-40B4-BE49-F238E27FC236}">
                    <a16:creationId xmlns:a16="http://schemas.microsoft.com/office/drawing/2014/main" id="{7F7436D1-2040-4660-AB46-2EA27CEB34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627016" y="4250993"/>
                <a:ext cx="401478" cy="528936"/>
              </a:xfrm>
              <a:prstGeom prst="rect">
                <a:avLst/>
              </a:prstGeom>
            </p:spPr>
          </p:pic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AF218185-D6AE-4ED0-911A-7D52D83C349D}"/>
                  </a:ext>
                </a:extLst>
              </p:cNvPr>
              <p:cNvSpPr txBox="1"/>
              <p:nvPr/>
            </p:nvSpPr>
            <p:spPr>
              <a:xfrm>
                <a:off x="2668073" y="4726068"/>
                <a:ext cx="947014" cy="3094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s-ES" sz="1050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VPC02-SubNet01</a:t>
                </a:r>
              </a:p>
              <a:p>
                <a:pPr algn="ctr"/>
                <a:r>
                  <a:rPr lang="es-ES" sz="1050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10.2.1.0/24</a:t>
                </a:r>
              </a:p>
            </p:txBody>
          </p:sp>
        </p:grpSp>
        <p:sp>
          <p:nvSpPr>
            <p:cNvPr id="1039" name="Abrir llave 1038">
              <a:extLst>
                <a:ext uri="{FF2B5EF4-FFF2-40B4-BE49-F238E27FC236}">
                  <a16:creationId xmlns:a16="http://schemas.microsoft.com/office/drawing/2014/main" id="{74C257E9-974C-47AB-9451-11E099C1F920}"/>
                </a:ext>
              </a:extLst>
            </p:cNvPr>
            <p:cNvSpPr/>
            <p:nvPr/>
          </p:nvSpPr>
          <p:spPr>
            <a:xfrm rot="5400000">
              <a:off x="9359562" y="4787399"/>
              <a:ext cx="386805" cy="1358763"/>
            </a:xfrm>
            <a:prstGeom prst="leftBrace">
              <a:avLst/>
            </a:prstGeom>
            <a:ln>
              <a:solidFill>
                <a:schemeClr val="tx1"/>
              </a:solidFill>
              <a:prstDash val="dash"/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725184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Lab Module 4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14400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WHITE TEMPLATE">
  <a:themeElements>
    <a:clrScheme name="ST_Illustration_White_Blue">
      <a:dk1>
        <a:srgbClr val="1A1A1A"/>
      </a:dk1>
      <a:lt1>
        <a:srgbClr val="FFFFFF"/>
      </a:lt1>
      <a:dk2>
        <a:srgbClr val="0D0D0D"/>
      </a:dk2>
      <a:lt2>
        <a:srgbClr val="D2D2D2"/>
      </a:lt2>
      <a:accent1>
        <a:srgbClr val="0078D4"/>
      </a:accent1>
      <a:accent2>
        <a:srgbClr val="002050"/>
      </a:accent2>
      <a:accent3>
        <a:srgbClr val="107C10"/>
      </a:accent3>
      <a:accent4>
        <a:srgbClr val="D73B01"/>
      </a:accent4>
      <a:accent5>
        <a:srgbClr val="737373"/>
      </a:accent5>
      <a:accent6>
        <a:srgbClr val="E6E6E6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-9_Illustration_2018_Cloud_011.potx" id="{762B47AA-A827-4F63-8EDD-1F6B4767BB62}" vid="{53DB83EF-4F78-4F48-A301-01610C79C1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1123</Words>
  <Application>Microsoft Office PowerPoint</Application>
  <PresentationFormat>Panorámica</PresentationFormat>
  <Paragraphs>178</Paragraphs>
  <Slides>27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5" baseType="lpstr">
      <vt:lpstr>Arial</vt:lpstr>
      <vt:lpstr>Calibri</vt:lpstr>
      <vt:lpstr>Consolas</vt:lpstr>
      <vt:lpstr>Segoe UI</vt:lpstr>
      <vt:lpstr>Segoe UI Semibold</vt:lpstr>
      <vt:lpstr>Segoe UI Semilight</vt:lpstr>
      <vt:lpstr>Wingdings</vt:lpstr>
      <vt:lpstr>WHITE TEMPLATE</vt:lpstr>
      <vt:lpstr>Presentación de PowerPoint</vt:lpstr>
      <vt:lpstr>Module Overview</vt:lpstr>
      <vt:lpstr>Lesson 01: Amazon Virtual Private Cloud (VPC),  Components</vt:lpstr>
      <vt:lpstr>Amazon Virtual Private Cloud (VPC), Components</vt:lpstr>
      <vt:lpstr>Amazon Virtual Private Cloud (VPC), Components</vt:lpstr>
      <vt:lpstr>Amazon Virtual Private Cloud (VPC), Components</vt:lpstr>
      <vt:lpstr>Amazon Virtual Private Cloud (VPC), Components</vt:lpstr>
      <vt:lpstr>Amazon Virtual Private Cloud (VPC), Components</vt:lpstr>
      <vt:lpstr>Amazon Virtual Private Cloud (VPC), Components</vt:lpstr>
      <vt:lpstr>Amazon Virtual Private Cloud (VPC), Components</vt:lpstr>
      <vt:lpstr>Amazon Virtual Private Cloud (VPC), Components</vt:lpstr>
      <vt:lpstr>Amazon Virtual Private Cloud (VPC), Components</vt:lpstr>
      <vt:lpstr>Lesson 02: Amazon Virtual Private Cloud (VPC),  Optional Components</vt:lpstr>
      <vt:lpstr>Amazon Virtual Private Cloud (VPC), Optional Components</vt:lpstr>
      <vt:lpstr>Amazon Virtual Private Cloud (VPC), Optional Components</vt:lpstr>
      <vt:lpstr>Amazon Virtual Private Cloud (VPC), Optional Components</vt:lpstr>
      <vt:lpstr>Amazon Virtual Private Cloud (VPC), Optional Components</vt:lpstr>
      <vt:lpstr>Amazon Virtual Private Cloud (VPC), Optional Components</vt:lpstr>
      <vt:lpstr>Amazon Virtual Private Cloud (VPC), Optional Components</vt:lpstr>
      <vt:lpstr>Amazon Virtual Private Cloud (VPC), Optional Components</vt:lpstr>
      <vt:lpstr>Amazon Virtual Private Cloud (VPC), Optional Components</vt:lpstr>
      <vt:lpstr>Amazon Virtual Private Cloud (VPC), Optional Components</vt:lpstr>
      <vt:lpstr>Amazon Virtual Private Cloud (VPC), Optional Components</vt:lpstr>
      <vt:lpstr>Amazon Virtual Private Cloud (VPC), Optional Components</vt:lpstr>
      <vt:lpstr>Lesson 3: Network Diagram</vt:lpstr>
      <vt:lpstr>Network Diagram</vt:lpstr>
      <vt:lpstr>Lab Module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2019-10-14T12:29:36Z</dcterms:created>
  <dcterms:modified xsi:type="dcterms:W3CDTF">2021-09-25T10:41:17Z</dcterms:modified>
</cp:coreProperties>
</file>