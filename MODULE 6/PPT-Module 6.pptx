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15"/>
  </p:notesMasterIdLst>
  <p:sldIdLst>
    <p:sldId id="2237" r:id="rId2"/>
    <p:sldId id="2021" r:id="rId3"/>
    <p:sldId id="2253" r:id="rId4"/>
    <p:sldId id="2278" r:id="rId5"/>
    <p:sldId id="2303" r:id="rId6"/>
    <p:sldId id="2300" r:id="rId7"/>
    <p:sldId id="2301" r:id="rId8"/>
    <p:sldId id="2302" r:id="rId9"/>
    <p:sldId id="2304" r:id="rId10"/>
    <p:sldId id="2306" r:id="rId11"/>
    <p:sldId id="2307" r:id="rId12"/>
    <p:sldId id="2308" r:id="rId13"/>
    <p:sldId id="229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07D"/>
    <a:srgbClr val="FCF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15" autoAdjust="0"/>
    <p:restoredTop sz="82657" autoAdjust="0"/>
  </p:normalViewPr>
  <p:slideViewPr>
    <p:cSldViewPr snapToGrid="0">
      <p:cViewPr varScale="1">
        <p:scale>
          <a:sx n="57" d="100"/>
          <a:sy n="57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74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F66F0-0810-43B6-89CA-8A60532D42CE}" type="datetimeFigureOut">
              <a:rPr lang="en-US" smtClean="0"/>
              <a:t>5/31/2020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7DC7E-BC41-4478-BA30-CBCC3A644F0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79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4572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572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F328AE-26F0-42B9-988D-535B1145C9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84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270E26-89BA-4369-9EF4-1B9EBAA3D00B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D2D2D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pic>
        <p:nvPicPr>
          <p:cNvPr id="9" name="MS logo gray - EMF" descr="Microsoft logo, gray text version">
            <a:extLst>
              <a:ext uri="{FF2B5EF4-FFF2-40B4-BE49-F238E27FC236}">
                <a16:creationId xmlns:a16="http://schemas.microsoft.com/office/drawing/2014/main" id="{D03FE64B-525F-4B73-8C45-B4BC3BAD6A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964678-FE6C-4226-A11B-8D452DA780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85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55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DDC08157-A48C-4ACA-A5BB-EE2A866E10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026004-6E63-4034-A1B0-34BE8CEF3D76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240D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C1A9B4-AD16-4E53-919C-38204BAF9E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3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954881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5683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23083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8108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797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5278796-7B84-4D67-88CD-BF78BB06D2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914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0461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49360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28797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997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31573B-58F8-43B4-8E3E-6F895442CB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7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029030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1C0FB-0396-463F-9527-BACCE96868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67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687369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9F059F-BD0F-4211-86F6-E960C3EC18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9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3023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634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4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90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1908215"/>
          </a:xfrm>
        </p:spPr>
        <p:txBody>
          <a:bodyPr/>
          <a:lstStyle>
            <a:lvl1pPr marL="0" indent="0">
              <a:buNone/>
              <a:defRPr sz="2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24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20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4522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4" name="MS logo gray - EMF" descr="Microsoft logo, gray text version">
            <a:extLst>
              <a:ext uri="{FF2B5EF4-FFF2-40B4-BE49-F238E27FC236}">
                <a16:creationId xmlns:a16="http://schemas.microsoft.com/office/drawing/2014/main" id="{59104CAE-91B8-4A7E-9F8E-214C5F8809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18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096692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58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Segoe UI Semilight" panose="020B0402040204020203" pitchFamily="34" charset="0"/>
          <a:ea typeface="+mn-ea"/>
          <a:cs typeface="Segoe UI Semilight" panose="020B04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9164622-9367-4AED-975E-4749F29AC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20" y="262759"/>
            <a:ext cx="1590675" cy="10668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0CB6A12-09E9-4287-84AC-2544D6629667}"/>
              </a:ext>
            </a:extLst>
          </p:cNvPr>
          <p:cNvSpPr/>
          <p:nvPr/>
        </p:nvSpPr>
        <p:spPr bwMode="auto">
          <a:xfrm>
            <a:off x="5833240" y="0"/>
            <a:ext cx="6358759" cy="6858000"/>
          </a:xfrm>
          <a:prstGeom prst="rect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s-E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026" name="Picture 2" descr="AWS - Almeritek.com">
            <a:extLst>
              <a:ext uri="{FF2B5EF4-FFF2-40B4-BE49-F238E27FC236}">
                <a16:creationId xmlns:a16="http://schemas.microsoft.com/office/drawing/2014/main" id="{381E3D9A-2903-4E08-8F5D-B2F634485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85875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5D5D5B0-D2DF-4A15-8185-0FEEAB8C60B7}"/>
              </a:ext>
            </a:extLst>
          </p:cNvPr>
          <p:cNvSpPr/>
          <p:nvPr/>
        </p:nvSpPr>
        <p:spPr>
          <a:xfrm>
            <a:off x="556578" y="1715079"/>
            <a:ext cx="4977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b="1" dirty="0">
                <a:latin typeface="+mj-lt"/>
              </a:rPr>
              <a:t>AWS</a:t>
            </a:r>
            <a:r>
              <a:rPr lang="es-ES" b="1" dirty="0">
                <a:latin typeface="+mj-lt"/>
              </a:rPr>
              <a:t> SOLUTIONS ARCHITECT ASSOCIATE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2878CDE-ECC2-4813-836F-4CAC5E6BA312}"/>
              </a:ext>
            </a:extLst>
          </p:cNvPr>
          <p:cNvSpPr/>
          <p:nvPr/>
        </p:nvSpPr>
        <p:spPr>
          <a:xfrm>
            <a:off x="556579" y="2576928"/>
            <a:ext cx="527666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600" b="1" dirty="0">
                <a:latin typeface="+mj-lt"/>
              </a:rPr>
              <a:t>Module 6:</a:t>
            </a:r>
          </a:p>
          <a:p>
            <a:r>
              <a:rPr lang="en-US" sz="3600" b="1" dirty="0">
                <a:latin typeface="+mj-lt"/>
              </a:rPr>
              <a:t>AWS Identity and Access Management (IAM)</a:t>
            </a:r>
            <a:endParaRPr lang="es-E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9713441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2548390"/>
          </a:xfrm>
        </p:spPr>
        <p:txBody>
          <a:bodyPr/>
          <a:lstStyle/>
          <a:p>
            <a:r>
              <a:rPr lang="en-US" sz="3600" dirty="0"/>
              <a:t>Principals</a:t>
            </a:r>
          </a:p>
          <a:p>
            <a:r>
              <a:rPr lang="en-US" sz="3600" dirty="0"/>
              <a:t>Authentication</a:t>
            </a:r>
          </a:p>
          <a:p>
            <a:r>
              <a:rPr lang="en-US" sz="3600" dirty="0"/>
              <a:t>Authorization</a:t>
            </a:r>
          </a:p>
          <a:p>
            <a:r>
              <a:rPr lang="en-US" sz="3600" dirty="0"/>
              <a:t>Other Key Features</a:t>
            </a:r>
          </a:p>
        </p:txBody>
      </p:sp>
    </p:spTree>
    <p:extLst>
      <p:ext uri="{BB962C8B-B14F-4D97-AF65-F5344CB8AC3E}">
        <p14:creationId xmlns:p14="http://schemas.microsoft.com/office/powerpoint/2010/main" val="53258594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01: </a:t>
            </a:r>
            <a:r>
              <a:rPr lang="pt-BR" dirty="0" err="1"/>
              <a:t>Principals</a:t>
            </a:r>
            <a:endParaRPr lang="en-US" dirty="0"/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2869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Principals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350621"/>
            <a:ext cx="8590405" cy="3434786"/>
          </a:xfrm>
        </p:spPr>
        <p:txBody>
          <a:bodyPr/>
          <a:lstStyle/>
          <a:p>
            <a:r>
              <a:rPr lang="en-US" sz="3600" dirty="0"/>
              <a:t>Root User</a:t>
            </a:r>
          </a:p>
          <a:p>
            <a:r>
              <a:rPr lang="en-US" sz="3600" dirty="0"/>
              <a:t>IAM Users</a:t>
            </a:r>
          </a:p>
          <a:p>
            <a:r>
              <a:rPr lang="en-US" sz="3600" dirty="0"/>
              <a:t>Roles/Temporary Security Tokens</a:t>
            </a:r>
          </a:p>
          <a:p>
            <a:pPr lvl="1"/>
            <a:r>
              <a:rPr lang="en-US" sz="2800" dirty="0"/>
              <a:t>Amazon EC2 Roles</a:t>
            </a:r>
          </a:p>
          <a:p>
            <a:pPr lvl="1"/>
            <a:r>
              <a:rPr lang="en-US" sz="2800" dirty="0"/>
              <a:t>Cross-Account Access</a:t>
            </a:r>
          </a:p>
          <a:p>
            <a:pPr lvl="1"/>
            <a:r>
              <a:rPr lang="en-US" sz="2800" dirty="0"/>
              <a:t>Federation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ACF17196-2DCF-4725-AFE3-FAD5DB362F23}"/>
              </a:ext>
            </a:extLst>
          </p:cNvPr>
          <p:cNvGrpSpPr/>
          <p:nvPr/>
        </p:nvGrpSpPr>
        <p:grpSpPr>
          <a:xfrm>
            <a:off x="9174607" y="2362119"/>
            <a:ext cx="1374859" cy="2133762"/>
            <a:chOff x="8683541" y="2031640"/>
            <a:chExt cx="1374859" cy="2133762"/>
          </a:xfrm>
        </p:grpSpPr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3F5B76CA-0D89-42F6-8513-B1DB31142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83541" y="2031640"/>
              <a:ext cx="1374859" cy="1825985"/>
            </a:xfrm>
            <a:prstGeom prst="rect">
              <a:avLst/>
            </a:prstGeom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B05CD0A1-28F8-49DF-A0A8-FED03301B78A}"/>
                </a:ext>
              </a:extLst>
            </p:cNvPr>
            <p:cNvSpPr txBox="1"/>
            <p:nvPr/>
          </p:nvSpPr>
          <p:spPr>
            <a:xfrm>
              <a:off x="9116894" y="3857625"/>
              <a:ext cx="508152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20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IAM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499362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Principals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54B6B92A-C2A8-4E4B-BA8F-C2CF1FD61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635838"/>
              </p:ext>
            </p:extLst>
          </p:nvPr>
        </p:nvGraphicFramePr>
        <p:xfrm>
          <a:off x="880533" y="1913461"/>
          <a:ext cx="9702799" cy="2935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0267">
                  <a:extLst>
                    <a:ext uri="{9D8B030D-6E8A-4147-A177-3AD203B41FA5}">
                      <a16:colId xmlns:a16="http://schemas.microsoft.com/office/drawing/2014/main" val="3452000895"/>
                    </a:ext>
                  </a:extLst>
                </a:gridCol>
                <a:gridCol w="5452532">
                  <a:extLst>
                    <a:ext uri="{9D8B030D-6E8A-4147-A177-3AD203B41FA5}">
                      <a16:colId xmlns:a16="http://schemas.microsoft.com/office/drawing/2014/main" val="2197320876"/>
                    </a:ext>
                  </a:extLst>
                </a:gridCol>
              </a:tblGrid>
              <a:tr h="404151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>
                          <a:solidFill>
                            <a:schemeClr val="tx1"/>
                          </a:solidFill>
                          <a:effectLst/>
                        </a:rPr>
                        <a:t>Principal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Traits</a:t>
                      </a:r>
                      <a:endParaRPr lang="es-ES" sz="2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802616"/>
                  </a:ext>
                </a:extLst>
              </a:tr>
              <a:tr h="831983">
                <a:tc>
                  <a:txBody>
                    <a:bodyPr/>
                    <a:lstStyle/>
                    <a:p>
                      <a:pPr marL="0" indent="0" algn="l" defTabSz="932742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s-ES" sz="2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Root</a:t>
                      </a:r>
                      <a:r>
                        <a:rPr lang="es-E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User</a:t>
                      </a:r>
                    </a:p>
                  </a:txBody>
                  <a:tcPr>
                    <a:solidFill>
                      <a:srgbClr val="FCF0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Cannot be limited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Permanent</a:t>
                      </a:r>
                      <a:endParaRPr lang="es-ES" sz="2000" dirty="0"/>
                    </a:p>
                  </a:txBody>
                  <a:tcPr>
                    <a:solidFill>
                      <a:srgbClr val="FC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77561"/>
                  </a:ext>
                </a:extLst>
              </a:tr>
              <a:tr h="404151">
                <a:tc>
                  <a:txBody>
                    <a:bodyPr/>
                    <a:lstStyle/>
                    <a:p>
                      <a:r>
                        <a:rPr lang="es-ES" sz="2400" dirty="0"/>
                        <a:t>IAM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Access controlled by policy Durable</a:t>
                      </a:r>
                    </a:p>
                    <a:p>
                      <a:r>
                        <a:rPr lang="en-US" sz="2400" dirty="0"/>
                        <a:t>Can be removed by IAM administrator</a:t>
                      </a:r>
                      <a:endParaRPr lang="es-E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117668"/>
                  </a:ext>
                </a:extLst>
              </a:tr>
              <a:tr h="404151">
                <a:tc>
                  <a:txBody>
                    <a:bodyPr/>
                    <a:lstStyle/>
                    <a:p>
                      <a:r>
                        <a:rPr lang="es-ES" sz="2400" dirty="0"/>
                        <a:t>Roles/</a:t>
                      </a:r>
                      <a:r>
                        <a:rPr lang="es-ES" sz="2400" dirty="0" err="1"/>
                        <a:t>Temporary</a:t>
                      </a:r>
                      <a:r>
                        <a:rPr lang="es-ES" sz="2400" dirty="0"/>
                        <a:t> Security Tokens</a:t>
                      </a:r>
                    </a:p>
                  </a:txBody>
                  <a:tcPr>
                    <a:solidFill>
                      <a:srgbClr val="FCF0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Access controlled by policy Temporary</a:t>
                      </a:r>
                    </a:p>
                    <a:p>
                      <a:r>
                        <a:rPr lang="en-US" sz="2400" dirty="0"/>
                        <a:t>Expire after specific time interval</a:t>
                      </a:r>
                      <a:endParaRPr lang="es-ES" sz="2400" dirty="0"/>
                    </a:p>
                  </a:txBody>
                  <a:tcPr>
                    <a:solidFill>
                      <a:srgbClr val="FC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776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723119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02: </a:t>
            </a:r>
            <a:r>
              <a:rPr lang="pt-BR" dirty="0" err="1"/>
              <a:t>Authentication</a:t>
            </a:r>
            <a:endParaRPr lang="en-US" dirty="0"/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61040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Authentication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6190455" cy="1883593"/>
          </a:xfrm>
        </p:spPr>
        <p:txBody>
          <a:bodyPr/>
          <a:lstStyle/>
          <a:p>
            <a:r>
              <a:rPr lang="en-US" sz="3600" dirty="0"/>
              <a:t>User Name/Password</a:t>
            </a:r>
          </a:p>
          <a:p>
            <a:r>
              <a:rPr lang="en-US" sz="3600" dirty="0"/>
              <a:t>Access Key</a:t>
            </a:r>
          </a:p>
          <a:p>
            <a:r>
              <a:rPr lang="en-US" sz="3600" dirty="0"/>
              <a:t>Access Key/Session Token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81E41FB-47F9-4237-8C34-42D06BC7E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656" y="1138948"/>
            <a:ext cx="4637087" cy="520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906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03: </a:t>
            </a:r>
            <a:r>
              <a:rPr lang="pt-BR" dirty="0" err="1"/>
              <a:t>Authorization</a:t>
            </a:r>
            <a:endParaRPr lang="en-US" dirty="0"/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49269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Authorization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7086599" cy="3139321"/>
          </a:xfrm>
        </p:spPr>
        <p:txBody>
          <a:bodyPr/>
          <a:lstStyle/>
          <a:p>
            <a:r>
              <a:rPr lang="en-US" sz="3600" dirty="0"/>
              <a:t>Policies</a:t>
            </a:r>
          </a:p>
          <a:p>
            <a:pPr lvl="1"/>
            <a:r>
              <a:rPr lang="en-US" sz="2800" dirty="0"/>
              <a:t>Effect</a:t>
            </a:r>
          </a:p>
          <a:p>
            <a:pPr lvl="1"/>
            <a:r>
              <a:rPr lang="en-US" sz="2800" dirty="0"/>
              <a:t>Service</a:t>
            </a:r>
          </a:p>
          <a:p>
            <a:pPr lvl="1"/>
            <a:r>
              <a:rPr lang="en-US" sz="2800" dirty="0"/>
              <a:t>Resource</a:t>
            </a:r>
          </a:p>
          <a:p>
            <a:pPr lvl="1"/>
            <a:r>
              <a:rPr lang="en-US" sz="2800" dirty="0"/>
              <a:t>Action</a:t>
            </a:r>
          </a:p>
          <a:p>
            <a:pPr lvl="1"/>
            <a:r>
              <a:rPr lang="en-US" sz="2800" dirty="0"/>
              <a:t>Condition</a:t>
            </a:r>
          </a:p>
        </p:txBody>
      </p:sp>
    </p:spTree>
    <p:extLst>
      <p:ext uri="{BB962C8B-B14F-4D97-AF65-F5344CB8AC3E}">
        <p14:creationId xmlns:p14="http://schemas.microsoft.com/office/powerpoint/2010/main" val="364541636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Authorization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6344179" cy="3139321"/>
          </a:xfrm>
        </p:spPr>
        <p:txBody>
          <a:bodyPr/>
          <a:lstStyle/>
          <a:p>
            <a:r>
              <a:rPr lang="en-US" sz="3600" dirty="0"/>
              <a:t>Associating Policies with Principals</a:t>
            </a:r>
          </a:p>
          <a:p>
            <a:pPr lvl="1"/>
            <a:r>
              <a:rPr lang="en-US" sz="2800" dirty="0"/>
              <a:t>User Policy</a:t>
            </a:r>
          </a:p>
          <a:p>
            <a:pPr lvl="1"/>
            <a:r>
              <a:rPr lang="en-US" sz="2800" dirty="0"/>
              <a:t>Managed Policies</a:t>
            </a:r>
          </a:p>
          <a:p>
            <a:pPr lvl="1"/>
            <a:r>
              <a:rPr lang="en-US" sz="2800" dirty="0"/>
              <a:t>Group Policy</a:t>
            </a:r>
          </a:p>
          <a:p>
            <a:pPr lvl="1"/>
            <a:r>
              <a:rPr lang="en-US" sz="2800" dirty="0"/>
              <a:t>Managed Policies</a:t>
            </a:r>
          </a:p>
          <a:p>
            <a:pPr lvl="1"/>
            <a:endParaRPr lang="en-US" sz="2800" dirty="0"/>
          </a:p>
        </p:txBody>
      </p:sp>
      <p:pic>
        <p:nvPicPr>
          <p:cNvPr id="2050" name="Picture 2" descr="FIGURE 6.2 Associating IAM users with policies">
            <a:extLst>
              <a:ext uri="{FF2B5EF4-FFF2-40B4-BE49-F238E27FC236}">
                <a16:creationId xmlns:a16="http://schemas.microsoft.com/office/drawing/2014/main" id="{D2381422-91F6-47E3-AB15-1EA0C182C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380" y="1439336"/>
            <a:ext cx="4364896" cy="480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776030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04: </a:t>
            </a:r>
            <a:r>
              <a:rPr lang="pt-BR" dirty="0" err="1"/>
              <a:t>Other</a:t>
            </a:r>
            <a:r>
              <a:rPr lang="pt-BR" dirty="0"/>
              <a:t> Key Features</a:t>
            </a:r>
            <a:endParaRPr lang="en-US" dirty="0"/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598544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</a:t>
            </a:r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Key Features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7086599" cy="1883593"/>
          </a:xfrm>
        </p:spPr>
        <p:txBody>
          <a:bodyPr/>
          <a:lstStyle/>
          <a:p>
            <a:r>
              <a:rPr lang="en-US" sz="3600" dirty="0"/>
              <a:t>Multi-Factor Authentication (MFA)</a:t>
            </a:r>
          </a:p>
          <a:p>
            <a:r>
              <a:rPr lang="en-US" sz="3600" dirty="0"/>
              <a:t>Rotating Keys</a:t>
            </a:r>
          </a:p>
          <a:p>
            <a:r>
              <a:rPr lang="en-US" sz="3600" dirty="0"/>
              <a:t>Resolving Multiple Permissions</a:t>
            </a:r>
          </a:p>
        </p:txBody>
      </p:sp>
    </p:spTree>
    <p:extLst>
      <p:ext uri="{BB962C8B-B14F-4D97-AF65-F5344CB8AC3E}">
        <p14:creationId xmlns:p14="http://schemas.microsoft.com/office/powerpoint/2010/main" val="163307763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Lab Module 6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14400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WHITE TEMPLATE">
  <a:themeElements>
    <a:clrScheme name="ST_Illustration_White_Blue">
      <a:dk1>
        <a:srgbClr val="1A1A1A"/>
      </a:dk1>
      <a:lt1>
        <a:srgbClr val="FFFFFF"/>
      </a:lt1>
      <a:dk2>
        <a:srgbClr val="0D0D0D"/>
      </a:dk2>
      <a:lt2>
        <a:srgbClr val="D2D2D2"/>
      </a:lt2>
      <a:accent1>
        <a:srgbClr val="0078D4"/>
      </a:accent1>
      <a:accent2>
        <a:srgbClr val="002050"/>
      </a:accent2>
      <a:accent3>
        <a:srgbClr val="107C10"/>
      </a:accent3>
      <a:accent4>
        <a:srgbClr val="D73B01"/>
      </a:accent4>
      <a:accent5>
        <a:srgbClr val="737373"/>
      </a:accent5>
      <a:accent6>
        <a:srgbClr val="E6E6E6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-9_Illustration_2018_Cloud_011.potx" id="{762B47AA-A827-4F63-8EDD-1F6B4767BB62}" vid="{53DB83EF-4F78-4F48-A301-01610C79C1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</Words>
  <Application>Microsoft Office PowerPoint</Application>
  <PresentationFormat>Panorámica</PresentationFormat>
  <Paragraphs>54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Arial</vt:lpstr>
      <vt:lpstr>Calibri</vt:lpstr>
      <vt:lpstr>Consolas</vt:lpstr>
      <vt:lpstr>Segoe UI</vt:lpstr>
      <vt:lpstr>Segoe UI Semibold</vt:lpstr>
      <vt:lpstr>Segoe UI Semilight</vt:lpstr>
      <vt:lpstr>Wingdings</vt:lpstr>
      <vt:lpstr>WHITE TEMPLATE</vt:lpstr>
      <vt:lpstr>Presentación de PowerPoint</vt:lpstr>
      <vt:lpstr>Module Overview</vt:lpstr>
      <vt:lpstr>Lesson 01: Principals</vt:lpstr>
      <vt:lpstr>Principals</vt:lpstr>
      <vt:lpstr>Principals</vt:lpstr>
      <vt:lpstr>Lesson 02: Authentication</vt:lpstr>
      <vt:lpstr>Authentication</vt:lpstr>
      <vt:lpstr>Lesson 03: Authorization</vt:lpstr>
      <vt:lpstr>Authorization</vt:lpstr>
      <vt:lpstr>Authorization</vt:lpstr>
      <vt:lpstr>Lesson 04: Other Key Features</vt:lpstr>
      <vt:lpstr>Other Key Features</vt:lpstr>
      <vt:lpstr>Lab Module 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2019-10-14T12:29:36Z</dcterms:created>
  <dcterms:modified xsi:type="dcterms:W3CDTF">2020-05-31T18:57:22Z</dcterms:modified>
</cp:coreProperties>
</file>