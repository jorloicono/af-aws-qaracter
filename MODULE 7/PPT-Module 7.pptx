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25"/>
  </p:notesMasterIdLst>
  <p:sldIdLst>
    <p:sldId id="2237" r:id="rId2"/>
    <p:sldId id="2021" r:id="rId3"/>
    <p:sldId id="2253" r:id="rId4"/>
    <p:sldId id="2323" r:id="rId5"/>
    <p:sldId id="2300" r:id="rId6"/>
    <p:sldId id="2334" r:id="rId7"/>
    <p:sldId id="2336" r:id="rId8"/>
    <p:sldId id="2337" r:id="rId9"/>
    <p:sldId id="2338" r:id="rId10"/>
    <p:sldId id="2324" r:id="rId11"/>
    <p:sldId id="2339" r:id="rId12"/>
    <p:sldId id="2325" r:id="rId13"/>
    <p:sldId id="2340" r:id="rId14"/>
    <p:sldId id="2326" r:id="rId15"/>
    <p:sldId id="2327" r:id="rId16"/>
    <p:sldId id="2341" r:id="rId17"/>
    <p:sldId id="2342" r:id="rId18"/>
    <p:sldId id="2343" r:id="rId19"/>
    <p:sldId id="2344" r:id="rId20"/>
    <p:sldId id="2345" r:id="rId21"/>
    <p:sldId id="2346" r:id="rId22"/>
    <p:sldId id="2347" r:id="rId23"/>
    <p:sldId id="229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07D"/>
    <a:srgbClr val="FCF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 autoAdjust="0"/>
    <p:restoredTop sz="82657" autoAdjust="0"/>
  </p:normalViewPr>
  <p:slideViewPr>
    <p:cSldViewPr snapToGrid="0">
      <p:cViewPr varScale="1">
        <p:scale>
          <a:sx n="56" d="100"/>
          <a:sy n="56" d="100"/>
        </p:scale>
        <p:origin x="108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F66F0-0810-43B6-89CA-8A60532D42CE}" type="datetimeFigureOut">
              <a:rPr lang="en-US" smtClean="0"/>
              <a:t>9/26/2021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7DC7E-BC41-4478-BA30-CBCC3A644F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7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4572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572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328AE-26F0-42B9-988D-535B1145C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84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270E26-89BA-4369-9EF4-1B9EBAA3D00B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D2D2D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9" name="MS logo gray - EMF" descr="Microsoft logo, gray text version">
            <a:extLst>
              <a:ext uri="{FF2B5EF4-FFF2-40B4-BE49-F238E27FC236}">
                <a16:creationId xmlns:a16="http://schemas.microsoft.com/office/drawing/2014/main" id="{D03FE64B-525F-4B73-8C45-B4BC3BAD6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964678-FE6C-4226-A11B-8D452DA78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8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DC08157-A48C-4ACA-A5BB-EE2A866E10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26004-6E63-4034-A1B0-34BE8CEF3D76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240D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C1A9B4-AD16-4E53-919C-38204BAF9E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3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54881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68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810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79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0461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9360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8797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99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31573B-58F8-43B4-8E3E-6F895442CB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02903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C0FB-0396-463F-9527-BACCE9686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67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68736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F059F-BD0F-4211-86F6-E960C3EC18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3023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34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0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1908215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24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20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522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59104CAE-91B8-4A7E-9F8E-214C5F880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18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096692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164622-9367-4AED-975E-4749F29A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0" y="262759"/>
            <a:ext cx="1590675" cy="10668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0CB6A12-09E9-4287-84AC-2544D6629667}"/>
              </a:ext>
            </a:extLst>
          </p:cNvPr>
          <p:cNvSpPr/>
          <p:nvPr/>
        </p:nvSpPr>
        <p:spPr bwMode="auto">
          <a:xfrm>
            <a:off x="5833240" y="0"/>
            <a:ext cx="6358759" cy="6858000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s-E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26" name="Picture 2" descr="AWS - Almeritek.com">
            <a:extLst>
              <a:ext uri="{FF2B5EF4-FFF2-40B4-BE49-F238E27FC236}">
                <a16:creationId xmlns:a16="http://schemas.microsoft.com/office/drawing/2014/main" id="{381E3D9A-2903-4E08-8F5D-B2F634485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8587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5D5D5B0-D2DF-4A15-8185-0FEEAB8C60B7}"/>
              </a:ext>
            </a:extLst>
          </p:cNvPr>
          <p:cNvSpPr/>
          <p:nvPr/>
        </p:nvSpPr>
        <p:spPr>
          <a:xfrm>
            <a:off x="556578" y="1715079"/>
            <a:ext cx="4977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AWS</a:t>
            </a:r>
            <a:r>
              <a:rPr lang="es-ES" b="1" dirty="0">
                <a:latin typeface="+mj-lt"/>
              </a:rPr>
              <a:t> SOLUTIONS ARCHITECT ASSOCIATE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878CDE-ECC2-4813-836F-4CAC5E6BA312}"/>
              </a:ext>
            </a:extLst>
          </p:cNvPr>
          <p:cNvSpPr/>
          <p:nvPr/>
        </p:nvSpPr>
        <p:spPr>
          <a:xfrm>
            <a:off x="556579" y="2576928"/>
            <a:ext cx="52766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 dirty="0">
                <a:latin typeface="+mj-lt"/>
              </a:rPr>
              <a:t>Module 12:</a:t>
            </a:r>
          </a:p>
          <a:p>
            <a:r>
              <a:rPr lang="en-US" sz="3600" b="1" dirty="0">
                <a:latin typeface="+mj-lt"/>
              </a:rPr>
              <a:t>Security on AWS</a:t>
            </a:r>
            <a:endParaRPr lang="es-E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713441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3213187"/>
          </a:xfrm>
        </p:spPr>
        <p:txBody>
          <a:bodyPr/>
          <a:lstStyle/>
          <a:p>
            <a:r>
              <a:rPr lang="en-US" sz="3600" dirty="0"/>
              <a:t>Shared Responsibility Model</a:t>
            </a:r>
          </a:p>
          <a:p>
            <a:r>
              <a:rPr lang="en-US" sz="3600" dirty="0"/>
              <a:t>AWS Compliance Program</a:t>
            </a:r>
          </a:p>
          <a:p>
            <a:r>
              <a:rPr lang="en-US" sz="3600" dirty="0"/>
              <a:t>AWS Global Infrastructure Security</a:t>
            </a:r>
          </a:p>
          <a:p>
            <a:r>
              <a:rPr lang="en-US" sz="3600" dirty="0"/>
              <a:t>AWS Account Security Features</a:t>
            </a:r>
          </a:p>
          <a:p>
            <a:r>
              <a:rPr lang="en-US" sz="3600" dirty="0"/>
              <a:t>AWS Cloud Service-Specific Security</a:t>
            </a:r>
          </a:p>
        </p:txBody>
      </p:sp>
    </p:spTree>
    <p:extLst>
      <p:ext uri="{BB962C8B-B14F-4D97-AF65-F5344CB8AC3E}">
        <p14:creationId xmlns:p14="http://schemas.microsoft.com/office/powerpoint/2010/main" val="532585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01: Shared Responsibility Model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2869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Shared Responsibility Model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8E5738B-EF4A-4A16-9CA7-9487C657E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466" y="1313230"/>
            <a:ext cx="8111067" cy="521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71805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02: AWS Compliance Program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61040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Compliance Program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73200"/>
            <a:ext cx="10287000" cy="4875181"/>
          </a:xfrm>
        </p:spPr>
        <p:txBody>
          <a:bodyPr/>
          <a:lstStyle/>
          <a:p>
            <a:r>
              <a:rPr lang="en-US" sz="3600" dirty="0"/>
              <a:t>Service Organization Control (SOC) 1/Statement on Standards for Attestation</a:t>
            </a:r>
          </a:p>
          <a:p>
            <a:r>
              <a:rPr lang="en-US" sz="3600" dirty="0"/>
              <a:t>Engagements (SSAE)16/International Standards for Assurance Engagements No. 3402</a:t>
            </a:r>
          </a:p>
          <a:p>
            <a:r>
              <a:rPr lang="en-US" sz="3600" dirty="0"/>
              <a:t>(ISAE) 3402 (formerly Statement on Auditing Standards [SAS] 70)</a:t>
            </a:r>
          </a:p>
          <a:p>
            <a:r>
              <a:rPr lang="en-US" sz="3600" dirty="0"/>
              <a:t>SOC 2</a:t>
            </a:r>
          </a:p>
          <a:p>
            <a:r>
              <a:rPr lang="en-US" sz="3600" dirty="0"/>
              <a:t>SOC 3</a:t>
            </a:r>
          </a:p>
        </p:txBody>
      </p:sp>
    </p:spTree>
    <p:extLst>
      <p:ext uri="{BB962C8B-B14F-4D97-AF65-F5344CB8AC3E}">
        <p14:creationId xmlns:p14="http://schemas.microsoft.com/office/powerpoint/2010/main" val="38674249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Compliance Program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73200"/>
            <a:ext cx="10287000" cy="4764381"/>
          </a:xfrm>
        </p:spPr>
        <p:txBody>
          <a:bodyPr/>
          <a:lstStyle/>
          <a:p>
            <a:r>
              <a:rPr lang="en-US" sz="3600" dirty="0"/>
              <a:t>Federal Information Security Management Act (FISMA), Department of Defense (DoD)</a:t>
            </a:r>
          </a:p>
          <a:p>
            <a:r>
              <a:rPr lang="en-US" sz="3600" dirty="0"/>
              <a:t>Information Assurance Certification and Accreditation Process (DIACAP), and Federal</a:t>
            </a:r>
          </a:p>
          <a:p>
            <a:r>
              <a:rPr lang="en-US" sz="3600" dirty="0"/>
              <a:t>Risk and Authorization Management Program (FedRAMP)</a:t>
            </a:r>
          </a:p>
          <a:p>
            <a:r>
              <a:rPr lang="en-US" sz="3600" dirty="0"/>
              <a:t>DoD Cloud Computing Security Requirements Guide (SRG) Levels 2 and 4</a:t>
            </a:r>
          </a:p>
        </p:txBody>
      </p:sp>
    </p:spTree>
    <p:extLst>
      <p:ext uri="{BB962C8B-B14F-4D97-AF65-F5344CB8AC3E}">
        <p14:creationId xmlns:p14="http://schemas.microsoft.com/office/powerpoint/2010/main" val="260038401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Compliance Program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73200"/>
            <a:ext cx="10287000" cy="4210383"/>
          </a:xfrm>
        </p:spPr>
        <p:txBody>
          <a:bodyPr/>
          <a:lstStyle/>
          <a:p>
            <a:r>
              <a:rPr lang="en-US" sz="3600" dirty="0"/>
              <a:t>Payment Card Industry Data Security Standard (PCI DSS) Level 1</a:t>
            </a:r>
          </a:p>
          <a:p>
            <a:r>
              <a:rPr lang="en-US" sz="3600" dirty="0"/>
              <a:t>International Organization for Standardization (ISO) 9001 and ISO 27001</a:t>
            </a:r>
          </a:p>
          <a:p>
            <a:r>
              <a:rPr lang="en-US" sz="3600" dirty="0"/>
              <a:t>International Traffic in Arms Regulations (ITAR)</a:t>
            </a:r>
          </a:p>
          <a:p>
            <a:r>
              <a:rPr lang="en-US" sz="3600" dirty="0"/>
              <a:t>Federal Information Processing Standard (FIPS) 140-2</a:t>
            </a:r>
          </a:p>
        </p:txBody>
      </p:sp>
    </p:spTree>
    <p:extLst>
      <p:ext uri="{BB962C8B-B14F-4D97-AF65-F5344CB8AC3E}">
        <p14:creationId xmlns:p14="http://schemas.microsoft.com/office/powerpoint/2010/main" val="359493446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Compliance Program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73200"/>
            <a:ext cx="10287000" cy="3767185"/>
          </a:xfrm>
        </p:spPr>
        <p:txBody>
          <a:bodyPr/>
          <a:lstStyle/>
          <a:p>
            <a:r>
              <a:rPr lang="en-US" sz="3600" dirty="0"/>
              <a:t>Criminal Justice Information Services (CJIS)</a:t>
            </a:r>
          </a:p>
          <a:p>
            <a:r>
              <a:rPr lang="en-US" sz="3600" dirty="0"/>
              <a:t>Cloud Security Alliance (CSA)</a:t>
            </a:r>
          </a:p>
          <a:p>
            <a:r>
              <a:rPr lang="en-US" sz="3600" dirty="0"/>
              <a:t>Family Educational Rights and Privacy Act (FERPA)</a:t>
            </a:r>
          </a:p>
          <a:p>
            <a:r>
              <a:rPr lang="en-US" sz="3600" dirty="0"/>
              <a:t>Health Insurance Portability and Accountability Act (HIPAA)</a:t>
            </a:r>
          </a:p>
          <a:p>
            <a:r>
              <a:rPr lang="en-US" sz="3600" dirty="0"/>
              <a:t>Motion Picture Association of America (MPAA)</a:t>
            </a:r>
          </a:p>
        </p:txBody>
      </p:sp>
    </p:spTree>
    <p:extLst>
      <p:ext uri="{BB962C8B-B14F-4D97-AF65-F5344CB8AC3E}">
        <p14:creationId xmlns:p14="http://schemas.microsoft.com/office/powerpoint/2010/main" val="84022888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03: AWS Global Infrastructure Security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31962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Global Infrastructure Security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10185399" cy="3139321"/>
          </a:xfrm>
        </p:spPr>
        <p:txBody>
          <a:bodyPr/>
          <a:lstStyle/>
          <a:p>
            <a:r>
              <a:rPr lang="en-US" sz="3600" dirty="0"/>
              <a:t>Physical and Environmental Security</a:t>
            </a:r>
          </a:p>
          <a:p>
            <a:pPr lvl="1"/>
            <a:r>
              <a:rPr lang="en-US" sz="2800" dirty="0"/>
              <a:t>Fire Detection and Suppression</a:t>
            </a:r>
          </a:p>
          <a:p>
            <a:pPr lvl="1"/>
            <a:r>
              <a:rPr lang="en-US" sz="2800" dirty="0"/>
              <a:t>Power</a:t>
            </a:r>
          </a:p>
          <a:p>
            <a:pPr lvl="1"/>
            <a:r>
              <a:rPr lang="en-US" sz="2800" dirty="0"/>
              <a:t>Climate and Temperature</a:t>
            </a:r>
          </a:p>
          <a:p>
            <a:pPr lvl="1"/>
            <a:r>
              <a:rPr lang="en-US" sz="2800" dirty="0"/>
              <a:t>Management</a:t>
            </a:r>
          </a:p>
          <a:p>
            <a:pPr lvl="1"/>
            <a:r>
              <a:rPr lang="en-US" sz="2800" dirty="0"/>
              <a:t>Storage Device Decommissioning</a:t>
            </a:r>
          </a:p>
        </p:txBody>
      </p:sp>
    </p:spTree>
    <p:extLst>
      <p:ext uri="{BB962C8B-B14F-4D97-AF65-F5344CB8AC3E}">
        <p14:creationId xmlns:p14="http://schemas.microsoft.com/office/powerpoint/2010/main" val="222309431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Global Infrastructure Security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10185399" cy="4321183"/>
          </a:xfrm>
        </p:spPr>
        <p:txBody>
          <a:bodyPr/>
          <a:lstStyle/>
          <a:p>
            <a:r>
              <a:rPr lang="en-US" sz="3600" dirty="0"/>
              <a:t>Business Continuity Management</a:t>
            </a:r>
          </a:p>
          <a:p>
            <a:pPr lvl="1"/>
            <a:r>
              <a:rPr lang="en-US" sz="2800" dirty="0"/>
              <a:t>Availability</a:t>
            </a:r>
          </a:p>
          <a:p>
            <a:pPr lvl="1"/>
            <a:r>
              <a:rPr lang="en-US" sz="2800" dirty="0"/>
              <a:t>Incident Response</a:t>
            </a:r>
          </a:p>
          <a:p>
            <a:pPr lvl="1"/>
            <a:r>
              <a:rPr lang="en-US" sz="2800" dirty="0"/>
              <a:t>Communication</a:t>
            </a:r>
          </a:p>
          <a:p>
            <a:r>
              <a:rPr lang="en-US" sz="3600" dirty="0"/>
              <a:t>Network Security</a:t>
            </a:r>
          </a:p>
          <a:p>
            <a:pPr lvl="1"/>
            <a:r>
              <a:rPr lang="en-US" sz="2800" dirty="0"/>
              <a:t>Secure Network Architecture</a:t>
            </a:r>
          </a:p>
          <a:p>
            <a:pPr lvl="1"/>
            <a:r>
              <a:rPr lang="en-US" sz="2800" dirty="0"/>
              <a:t>Secure Access Points</a:t>
            </a:r>
          </a:p>
          <a:p>
            <a:pPr lvl="1"/>
            <a:r>
              <a:rPr lang="en-US" sz="2800" dirty="0"/>
              <a:t>Transmission Protection</a:t>
            </a:r>
          </a:p>
        </p:txBody>
      </p:sp>
    </p:spTree>
    <p:extLst>
      <p:ext uri="{BB962C8B-B14F-4D97-AF65-F5344CB8AC3E}">
        <p14:creationId xmlns:p14="http://schemas.microsoft.com/office/powerpoint/2010/main" val="424484299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Global Infrastructure Security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10185399" cy="3139321"/>
          </a:xfrm>
        </p:spPr>
        <p:txBody>
          <a:bodyPr/>
          <a:lstStyle/>
          <a:p>
            <a:r>
              <a:rPr lang="en-US" sz="3600" dirty="0"/>
              <a:t>Network Monitoring and Protection</a:t>
            </a:r>
          </a:p>
          <a:p>
            <a:pPr lvl="1"/>
            <a:r>
              <a:rPr lang="en-US" sz="2800" dirty="0"/>
              <a:t>Distributed Denial of Service (DDoS)</a:t>
            </a:r>
          </a:p>
          <a:p>
            <a:pPr lvl="1"/>
            <a:r>
              <a:rPr lang="en-US" sz="2800" dirty="0"/>
              <a:t>Man in the Middle (MITM)</a:t>
            </a:r>
          </a:p>
          <a:p>
            <a:pPr lvl="1"/>
            <a:r>
              <a:rPr lang="en-US" sz="2800" dirty="0"/>
              <a:t>IP Spoofing</a:t>
            </a:r>
          </a:p>
          <a:p>
            <a:pPr lvl="1"/>
            <a:r>
              <a:rPr lang="en-US" sz="2800" dirty="0"/>
              <a:t>Port Scanning</a:t>
            </a:r>
          </a:p>
          <a:p>
            <a:pPr lvl="1"/>
            <a:r>
              <a:rPr lang="en-US" sz="2800" dirty="0"/>
              <a:t>Packet Sniffing by Other Tenants</a:t>
            </a:r>
          </a:p>
        </p:txBody>
      </p:sp>
    </p:spTree>
    <p:extLst>
      <p:ext uri="{BB962C8B-B14F-4D97-AF65-F5344CB8AC3E}">
        <p14:creationId xmlns:p14="http://schemas.microsoft.com/office/powerpoint/2010/main" val="352315478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04: AWS Account Security Features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842808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Account Security Features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016066" cy="3877985"/>
          </a:xfrm>
        </p:spPr>
        <p:txBody>
          <a:bodyPr/>
          <a:lstStyle/>
          <a:p>
            <a:r>
              <a:rPr lang="en-US" sz="3600" dirty="0"/>
              <a:t>AWS Credentials</a:t>
            </a:r>
          </a:p>
          <a:p>
            <a:r>
              <a:rPr lang="en-US" sz="3600" dirty="0"/>
              <a:t>Passwords</a:t>
            </a:r>
          </a:p>
          <a:p>
            <a:r>
              <a:rPr lang="en-US" sz="3600" dirty="0"/>
              <a:t>AWS Multi-Factor Authentication (AWS MFA)</a:t>
            </a:r>
          </a:p>
          <a:p>
            <a:r>
              <a:rPr lang="en-US" sz="3600" dirty="0"/>
              <a:t>Access Keys</a:t>
            </a:r>
          </a:p>
          <a:p>
            <a:r>
              <a:rPr lang="en-US" sz="3600" dirty="0"/>
              <a:t>Key pairs</a:t>
            </a:r>
          </a:p>
          <a:p>
            <a:r>
              <a:rPr lang="en-US" sz="3600" dirty="0"/>
              <a:t>AWS CloudTrail</a:t>
            </a:r>
          </a:p>
        </p:txBody>
      </p:sp>
    </p:spTree>
    <p:extLst>
      <p:ext uri="{BB962C8B-B14F-4D97-AF65-F5344CB8AC3E}">
        <p14:creationId xmlns:p14="http://schemas.microsoft.com/office/powerpoint/2010/main" val="117214628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05: AWS Cloud Service-Specific Security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114813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Service-Specific Security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016066" cy="3287054"/>
          </a:xfrm>
        </p:spPr>
        <p:txBody>
          <a:bodyPr/>
          <a:lstStyle/>
          <a:p>
            <a:r>
              <a:rPr lang="en-US" sz="3600" dirty="0"/>
              <a:t>Compute Services</a:t>
            </a:r>
          </a:p>
          <a:p>
            <a:pPr lvl="1"/>
            <a:r>
              <a:rPr lang="en-US" sz="2800" dirty="0"/>
              <a:t>Amazon Elastic Compute Cloud (Amazon EC2) Security</a:t>
            </a:r>
          </a:p>
          <a:p>
            <a:r>
              <a:rPr lang="en-US" sz="3600" dirty="0"/>
              <a:t>Networking</a:t>
            </a:r>
          </a:p>
          <a:p>
            <a:pPr lvl="1"/>
            <a:r>
              <a:rPr lang="en-US" sz="2800" dirty="0"/>
              <a:t>Elastic Load Balancing Security</a:t>
            </a:r>
          </a:p>
          <a:p>
            <a:pPr lvl="1"/>
            <a:r>
              <a:rPr lang="en-US" sz="2800" dirty="0"/>
              <a:t>Amazon Virtual Private Cloud (Amazon VPC) Security</a:t>
            </a:r>
          </a:p>
          <a:p>
            <a:pPr lvl="1"/>
            <a:r>
              <a:rPr lang="en-US" sz="2800" dirty="0"/>
              <a:t>Amazon CloudFront Security</a:t>
            </a:r>
          </a:p>
        </p:txBody>
      </p:sp>
    </p:spTree>
    <p:extLst>
      <p:ext uri="{BB962C8B-B14F-4D97-AF65-F5344CB8AC3E}">
        <p14:creationId xmlns:p14="http://schemas.microsoft.com/office/powerpoint/2010/main" val="123783104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Service-Specific Security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016066" cy="3656386"/>
          </a:xfrm>
        </p:spPr>
        <p:txBody>
          <a:bodyPr/>
          <a:lstStyle/>
          <a:p>
            <a:r>
              <a:rPr lang="en-US" sz="3600" dirty="0"/>
              <a:t>Storage</a:t>
            </a:r>
          </a:p>
          <a:p>
            <a:pPr lvl="1"/>
            <a:r>
              <a:rPr lang="en-US" sz="2800" dirty="0"/>
              <a:t>Amazon Simple Storage Service (Amazon S3) Security</a:t>
            </a:r>
          </a:p>
          <a:p>
            <a:pPr lvl="1"/>
            <a:r>
              <a:rPr lang="en-US" sz="2800" dirty="0"/>
              <a:t>Data Access</a:t>
            </a:r>
          </a:p>
          <a:p>
            <a:pPr lvl="1"/>
            <a:r>
              <a:rPr lang="en-US" sz="2800" dirty="0"/>
              <a:t>Data Transfer</a:t>
            </a:r>
          </a:p>
          <a:p>
            <a:pPr lvl="1"/>
            <a:r>
              <a:rPr lang="en-US" sz="2800" dirty="0"/>
              <a:t>Data Storage</a:t>
            </a:r>
          </a:p>
          <a:p>
            <a:pPr lvl="1"/>
            <a:r>
              <a:rPr lang="en-US" sz="2800" dirty="0"/>
              <a:t>Access Logs</a:t>
            </a:r>
          </a:p>
          <a:p>
            <a:pPr lvl="1"/>
            <a:r>
              <a:rPr lang="en-US" sz="2800" dirty="0"/>
              <a:t>Cross-Origin Resource Sharing (CORS)</a:t>
            </a:r>
          </a:p>
        </p:txBody>
      </p:sp>
    </p:spTree>
    <p:extLst>
      <p:ext uri="{BB962C8B-B14F-4D97-AF65-F5344CB8AC3E}">
        <p14:creationId xmlns:p14="http://schemas.microsoft.com/office/powerpoint/2010/main" val="280624193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Service-Specific Security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016066" cy="2622256"/>
          </a:xfrm>
        </p:spPr>
        <p:txBody>
          <a:bodyPr/>
          <a:lstStyle/>
          <a:p>
            <a:r>
              <a:rPr lang="en-US" sz="3600" dirty="0"/>
              <a:t>Amazon Glacier Security</a:t>
            </a:r>
          </a:p>
          <a:p>
            <a:pPr lvl="1"/>
            <a:r>
              <a:rPr lang="en-US" sz="2800" dirty="0"/>
              <a:t>Data Transfer</a:t>
            </a:r>
          </a:p>
          <a:p>
            <a:pPr lvl="1"/>
            <a:r>
              <a:rPr lang="en-US" sz="2800" dirty="0"/>
              <a:t>Data Retrieval</a:t>
            </a:r>
          </a:p>
          <a:p>
            <a:pPr lvl="1"/>
            <a:r>
              <a:rPr lang="en-US" sz="2800" dirty="0"/>
              <a:t>Data Storage</a:t>
            </a:r>
          </a:p>
          <a:p>
            <a:pPr lvl="1"/>
            <a:r>
              <a:rPr lang="en-US" sz="2800" dirty="0"/>
              <a:t>Data Access</a:t>
            </a:r>
          </a:p>
        </p:txBody>
      </p:sp>
    </p:spTree>
    <p:extLst>
      <p:ext uri="{BB962C8B-B14F-4D97-AF65-F5344CB8AC3E}">
        <p14:creationId xmlns:p14="http://schemas.microsoft.com/office/powerpoint/2010/main" val="213000957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Service-Specific Security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016066" cy="4321183"/>
          </a:xfrm>
        </p:spPr>
        <p:txBody>
          <a:bodyPr/>
          <a:lstStyle/>
          <a:p>
            <a:r>
              <a:rPr lang="en-US" sz="3600" dirty="0"/>
              <a:t>AWS Storage Gateway Security</a:t>
            </a:r>
          </a:p>
          <a:p>
            <a:pPr lvl="1"/>
            <a:r>
              <a:rPr lang="en-US" sz="2800" dirty="0"/>
              <a:t>Data Transfer</a:t>
            </a:r>
          </a:p>
          <a:p>
            <a:pPr lvl="1"/>
            <a:r>
              <a:rPr lang="en-US" sz="2800" dirty="0"/>
              <a:t>Data Storage</a:t>
            </a:r>
          </a:p>
          <a:p>
            <a:r>
              <a:rPr lang="en-US" sz="3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Database</a:t>
            </a:r>
            <a:endParaRPr lang="en-US" sz="44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r>
              <a:rPr lang="en-US" sz="2800" dirty="0"/>
              <a:t>Amazon DynamoDB Security</a:t>
            </a:r>
          </a:p>
          <a:p>
            <a:pPr lvl="1"/>
            <a:r>
              <a:rPr lang="en-US" sz="2800" dirty="0"/>
              <a:t>Amazon Relational Database Service (Amazon RDS) Security</a:t>
            </a:r>
          </a:p>
          <a:p>
            <a:pPr lvl="1"/>
            <a:r>
              <a:rPr lang="en-US" sz="2800" dirty="0"/>
              <a:t>Amazon Redshift Security</a:t>
            </a:r>
          </a:p>
          <a:p>
            <a:pPr lvl="1"/>
            <a:r>
              <a:rPr lang="en-US" sz="2800" dirty="0"/>
              <a:t>Amazon ElastiCache Security</a:t>
            </a:r>
          </a:p>
        </p:txBody>
      </p:sp>
    </p:spTree>
    <p:extLst>
      <p:ext uri="{BB962C8B-B14F-4D97-AF65-F5344CB8AC3E}">
        <p14:creationId xmlns:p14="http://schemas.microsoft.com/office/powerpoint/2010/main" val="384604151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Service-Specific Security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016066" cy="3287054"/>
          </a:xfrm>
        </p:spPr>
        <p:txBody>
          <a:bodyPr/>
          <a:lstStyle/>
          <a:p>
            <a:r>
              <a:rPr lang="en-US" sz="3600" dirty="0"/>
              <a:t>Application Services</a:t>
            </a:r>
          </a:p>
          <a:p>
            <a:pPr lvl="1"/>
            <a:r>
              <a:rPr lang="en-US" sz="2800" dirty="0"/>
              <a:t>Amazon Simple Queue Service (Amazon SQS) Security</a:t>
            </a:r>
          </a:p>
          <a:p>
            <a:pPr lvl="1"/>
            <a:r>
              <a:rPr lang="en-US" sz="2800" dirty="0"/>
              <a:t>Amazon Simple Notification Service (Amazon SNS) Security</a:t>
            </a:r>
          </a:p>
          <a:p>
            <a:pPr marL="228600" lvl="1"/>
            <a:r>
              <a:rPr lang="en-US" sz="3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Analytics Services</a:t>
            </a:r>
          </a:p>
          <a:p>
            <a:pPr lvl="1"/>
            <a:r>
              <a:rPr lang="en-US" sz="2800" dirty="0"/>
              <a:t>Amazon Elastic MapReduce (Amazon EMR) Security</a:t>
            </a:r>
          </a:p>
          <a:p>
            <a:pPr lvl="1"/>
            <a:r>
              <a:rPr lang="en-US" sz="2800" dirty="0"/>
              <a:t>Amazon Kinesis Security</a:t>
            </a:r>
          </a:p>
        </p:txBody>
      </p:sp>
    </p:spTree>
    <p:extLst>
      <p:ext uri="{BB962C8B-B14F-4D97-AF65-F5344CB8AC3E}">
        <p14:creationId xmlns:p14="http://schemas.microsoft.com/office/powerpoint/2010/main" val="221958328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Service-Specific Security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10016066" cy="3434786"/>
          </a:xfrm>
        </p:spPr>
        <p:txBody>
          <a:bodyPr/>
          <a:lstStyle/>
          <a:p>
            <a:r>
              <a:rPr lang="en-US" sz="3600" dirty="0"/>
              <a:t>Deployment and Management Services</a:t>
            </a:r>
          </a:p>
          <a:p>
            <a:pPr lvl="1"/>
            <a:r>
              <a:rPr lang="en-US" sz="2800" dirty="0"/>
              <a:t>AWS Identity and Access Management (IAM) Security</a:t>
            </a:r>
          </a:p>
          <a:p>
            <a:pPr marL="228600" lvl="1"/>
            <a:r>
              <a:rPr lang="en-US" sz="3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Mobile Services</a:t>
            </a:r>
          </a:p>
          <a:p>
            <a:pPr lvl="1"/>
            <a:r>
              <a:rPr lang="en-US" sz="2800" dirty="0"/>
              <a:t>Amazon Cognito Security</a:t>
            </a:r>
          </a:p>
          <a:p>
            <a:r>
              <a:rPr lang="en-US" sz="3600" dirty="0"/>
              <a:t>Applications</a:t>
            </a:r>
          </a:p>
          <a:p>
            <a:pPr lvl="1"/>
            <a:r>
              <a:rPr lang="en-US" sz="2800" dirty="0"/>
              <a:t>Amazon WorkSpaces Security</a:t>
            </a:r>
          </a:p>
        </p:txBody>
      </p:sp>
    </p:spTree>
    <p:extLst>
      <p:ext uri="{BB962C8B-B14F-4D97-AF65-F5344CB8AC3E}">
        <p14:creationId xmlns:p14="http://schemas.microsoft.com/office/powerpoint/2010/main" val="191529202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1107996"/>
          </a:xfrm>
        </p:spPr>
        <p:txBody>
          <a:bodyPr/>
          <a:lstStyle/>
          <a:p>
            <a:r>
              <a:rPr lang="en-US" dirty="0"/>
              <a:t>Lab Module 7</a:t>
            </a:r>
            <a:br>
              <a:rPr lang="en-US" dirty="0"/>
            </a:b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14400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HITE TEMPLATE">
  <a:themeElements>
    <a:clrScheme name="ST_Illustration_White_Blue">
      <a:dk1>
        <a:srgbClr val="1A1A1A"/>
      </a:dk1>
      <a:lt1>
        <a:srgbClr val="FFFFFF"/>
      </a:lt1>
      <a:dk2>
        <a:srgbClr val="0D0D0D"/>
      </a:dk2>
      <a:lt2>
        <a:srgbClr val="D2D2D2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Illustration_2018_Cloud_011.potx" id="{762B47AA-A827-4F63-8EDD-1F6B4767BB62}" vid="{53DB83EF-4F78-4F48-A301-01610C79C1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</Words>
  <Application>Microsoft Office PowerPoint</Application>
  <PresentationFormat>Panorámica</PresentationFormat>
  <Paragraphs>112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Arial</vt:lpstr>
      <vt:lpstr>Calibri</vt:lpstr>
      <vt:lpstr>Consolas</vt:lpstr>
      <vt:lpstr>Segoe UI</vt:lpstr>
      <vt:lpstr>Segoe UI Semibold</vt:lpstr>
      <vt:lpstr>Segoe UI Semilight</vt:lpstr>
      <vt:lpstr>Wingdings</vt:lpstr>
      <vt:lpstr>WHITE TEMPLATE</vt:lpstr>
      <vt:lpstr>Presentación de PowerPoint</vt:lpstr>
      <vt:lpstr>Module Overview</vt:lpstr>
      <vt:lpstr>Lesson 01: Shared Responsibility Model</vt:lpstr>
      <vt:lpstr>Shared Responsibility Model</vt:lpstr>
      <vt:lpstr>Lesson 02: AWS Compliance Program</vt:lpstr>
      <vt:lpstr>AWS Compliance Program</vt:lpstr>
      <vt:lpstr>AWS Compliance Program</vt:lpstr>
      <vt:lpstr>AWS Compliance Program</vt:lpstr>
      <vt:lpstr>AWS Compliance Program</vt:lpstr>
      <vt:lpstr>Lesson 03: AWS Global Infrastructure Security</vt:lpstr>
      <vt:lpstr>AWS Global Infrastructure Security</vt:lpstr>
      <vt:lpstr>AWS Global Infrastructure Security</vt:lpstr>
      <vt:lpstr>AWS Global Infrastructure Security</vt:lpstr>
      <vt:lpstr>Lesson 04: AWS Account Security Features</vt:lpstr>
      <vt:lpstr>AWS Account Security Features</vt:lpstr>
      <vt:lpstr>Lesson 05: AWS Cloud Service-Specific Security</vt:lpstr>
      <vt:lpstr>AWS Cloud Service-Specific Security</vt:lpstr>
      <vt:lpstr>AWS Cloud Service-Specific Security</vt:lpstr>
      <vt:lpstr>AWS Cloud Service-Specific Security</vt:lpstr>
      <vt:lpstr>AWS Cloud Service-Specific Security</vt:lpstr>
      <vt:lpstr>AWS Cloud Service-Specific Security</vt:lpstr>
      <vt:lpstr>AWS Cloud Service-Specific Security</vt:lpstr>
      <vt:lpstr>Lab Module 7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2019-10-14T12:29:36Z</dcterms:created>
  <dcterms:modified xsi:type="dcterms:W3CDTF">2021-09-26T07:58:50Z</dcterms:modified>
</cp:coreProperties>
</file>